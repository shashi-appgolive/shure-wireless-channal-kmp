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ebf339718e4ce2" /><Relationship Type="http://schemas.openxmlformats.org/officeDocument/2006/relationships/extended-properties" Target="/docProps/app.xml" Id="R5bc64ebe54e94f7e" /><Relationship Type="http://schemas.openxmlformats.org/officeDocument/2006/relationships/officeDocument" Target="/ppt/presentation.xml" Id="R00996b293e654e4d" /></Relationships>
</file>

<file path=ppt/presentation.xml><?xml version="1.0" encoding="utf-8"?>
<p:presentation xmlns:p="http://schemas.openxmlformats.org/presentationml/2006/main">
  <p:sldMasterIdLst>
    <p:sldMasterId xmlns:r="http://schemas.openxmlformats.org/officeDocument/2006/relationships" id="2147483648" r:id="R648beeaf2efd4719"/>
  </p:sldMasterIdLst>
  <p:notesMasterIdLst>
    <p:notesMasterId xmlns:r="http://schemas.openxmlformats.org/officeDocument/2006/relationships" r:id="R7d230f692bfd4548"/>
  </p:notesMasterIdLst>
  <p:sldIdLst>
    <p:sldId xmlns:r="http://schemas.openxmlformats.org/officeDocument/2006/relationships" id="256" r:id="Rab641fd4a4d742ba"/>
    <p:sldId xmlns:r="http://schemas.openxmlformats.org/officeDocument/2006/relationships" id="257" r:id="Ra7f2c31a0811433a"/>
    <p:sldId xmlns:r="http://schemas.openxmlformats.org/officeDocument/2006/relationships" id="258" r:id="R0e3a378f9ee749a6"/>
    <p:sldId xmlns:r="http://schemas.openxmlformats.org/officeDocument/2006/relationships" id="259" r:id="R67790237be3d41df"/>
    <p:sldId xmlns:r="http://schemas.openxmlformats.org/officeDocument/2006/relationships" id="260" r:id="R54b5516de27f4a4e"/>
    <p:sldId xmlns:r="http://schemas.openxmlformats.org/officeDocument/2006/relationships" id="261" r:id="Rc56d3705b2254cc2"/>
    <p:sldId xmlns:r="http://schemas.openxmlformats.org/officeDocument/2006/relationships" id="262" r:id="Re23bd60633ed41d9"/>
    <p:sldId xmlns:r="http://schemas.openxmlformats.org/officeDocument/2006/relationships" id="263" r:id="R2bf6eeea496741b3"/>
    <p:sldId xmlns:r="http://schemas.openxmlformats.org/officeDocument/2006/relationships" id="264" r:id="R09bf046514e84556"/>
    <p:sldId xmlns:r="http://schemas.openxmlformats.org/officeDocument/2006/relationships" id="265" r:id="Rb1fd54ec91fb493f"/>
    <p:sldId xmlns:r="http://schemas.openxmlformats.org/officeDocument/2006/relationships" id="266" r:id="R535e62231ed04d7b"/>
    <p:sldId xmlns:r="http://schemas.openxmlformats.org/officeDocument/2006/relationships" id="267" r:id="Rcfaad06b30ac4965"/>
    <p:sldId xmlns:r="http://schemas.openxmlformats.org/officeDocument/2006/relationships" id="268" r:id="R2b8b6d8085634288"/>
    <p:sldId xmlns:r="http://schemas.openxmlformats.org/officeDocument/2006/relationships" id="269" r:id="R5e0792810d9d49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d793e6b382429f" /><Relationship Type="http://schemas.openxmlformats.org/officeDocument/2006/relationships/slideMaster" Target="/ppt/slideMasters/slideMaster1.xml" Id="R648beeaf2efd4719" /><Relationship Type="http://schemas.openxmlformats.org/officeDocument/2006/relationships/notesMaster" Target="/ppt/notesMasters/notesMaster1.xml" Id="R7d230f692bfd4548" /><Relationship Type="http://schemas.openxmlformats.org/officeDocument/2006/relationships/presProps" Target="/ppt/presProps.xml" Id="Rb1a6c876bd984255" /><Relationship Type="http://schemas.openxmlformats.org/officeDocument/2006/relationships/tableStyles" Target="/ppt/tableStyles.xml" Id="R8c947a7450264124" /><Relationship Type="http://schemas.openxmlformats.org/officeDocument/2006/relationships/slide" Target="/ppt/slides/slide1.xml" Id="Rab641fd4a4d742ba" /><Relationship Type="http://schemas.openxmlformats.org/officeDocument/2006/relationships/slide" Target="/ppt/slides/slide2.xml" Id="Ra7f2c31a0811433a" /><Relationship Type="http://schemas.openxmlformats.org/officeDocument/2006/relationships/slide" Target="/ppt/slides/slide3.xml" Id="R0e3a378f9ee749a6" /><Relationship Type="http://schemas.openxmlformats.org/officeDocument/2006/relationships/slide" Target="/ppt/slides/slide4.xml" Id="R67790237be3d41df" /><Relationship Type="http://schemas.openxmlformats.org/officeDocument/2006/relationships/slide" Target="/ppt/slides/slide5.xml" Id="R54b5516de27f4a4e" /><Relationship Type="http://schemas.openxmlformats.org/officeDocument/2006/relationships/slide" Target="/ppt/slides/slide6.xml" Id="Rc56d3705b2254cc2" /><Relationship Type="http://schemas.openxmlformats.org/officeDocument/2006/relationships/slide" Target="/ppt/slides/slide7.xml" Id="Re23bd60633ed41d9" /><Relationship Type="http://schemas.openxmlformats.org/officeDocument/2006/relationships/slide" Target="/ppt/slides/slide8.xml" Id="R2bf6eeea496741b3" /><Relationship Type="http://schemas.openxmlformats.org/officeDocument/2006/relationships/slide" Target="/ppt/slides/slide9.xml" Id="R09bf046514e84556" /><Relationship Type="http://schemas.openxmlformats.org/officeDocument/2006/relationships/slide" Target="/ppt/slides/slide10.xml" Id="Rb1fd54ec91fb493f" /><Relationship Type="http://schemas.openxmlformats.org/officeDocument/2006/relationships/slide" Target="/ppt/slides/slide11.xml" Id="R535e62231ed04d7b" /><Relationship Type="http://schemas.openxmlformats.org/officeDocument/2006/relationships/slide" Target="/ppt/slides/slide12.xml" Id="Rcfaad06b30ac4965" /><Relationship Type="http://schemas.openxmlformats.org/officeDocument/2006/relationships/slide" Target="/ppt/slides/slide13.xml" Id="R2b8b6d8085634288" /><Relationship Type="http://schemas.openxmlformats.org/officeDocument/2006/relationships/slide" Target="/ppt/slides/slide14.xml" Id="R5e0792810d9d49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e5d77a2a354c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6762b28b214b3a" /><Relationship Type="http://schemas.openxmlformats.org/officeDocument/2006/relationships/notesMaster" Target="/ppt/notesMasters/notesMaster1.xml" Id="R24514d60c92a4c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fde8defab74855" /><Relationship Type="http://schemas.openxmlformats.org/officeDocument/2006/relationships/notesMaster" Target="/ppt/notesMasters/notesMaster1.xml" Id="R4a0e07baacd544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a6f37f90e04838" /><Relationship Type="http://schemas.openxmlformats.org/officeDocument/2006/relationships/notesMaster" Target="/ppt/notesMasters/notesMaster1.xml" Id="R8ce47beefd7746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5c8846bf484115" /><Relationship Type="http://schemas.openxmlformats.org/officeDocument/2006/relationships/notesMaster" Target="/ppt/notesMasters/notesMaster1.xml" Id="Rba2cb23771564f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f65a31170c4f2b" /><Relationship Type="http://schemas.openxmlformats.org/officeDocument/2006/relationships/notesMaster" Target="/ppt/notesMasters/notesMaster1.xml" Id="R9eb9ee476c1e48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b4ff4ce49a4d89" /><Relationship Type="http://schemas.openxmlformats.org/officeDocument/2006/relationships/notesMaster" Target="/ppt/notesMasters/notesMaster1.xml" Id="R29cbe5a8620b46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1164b9195d4a0e" /><Relationship Type="http://schemas.openxmlformats.org/officeDocument/2006/relationships/notesMaster" Target="/ppt/notesMasters/notesMaster1.xml" Id="R1afc1cbfd12e4b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7bace5a97a4f54" /><Relationship Type="http://schemas.openxmlformats.org/officeDocument/2006/relationships/notesMaster" Target="/ppt/notesMasters/notesMaster1.xml" Id="R7b5d361c449c43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634d8448d44578" /><Relationship Type="http://schemas.openxmlformats.org/officeDocument/2006/relationships/notesMaster" Target="/ppt/notesMasters/notesMaster1.xml" Id="Rced6111308f745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f69a2252624dd7" /><Relationship Type="http://schemas.openxmlformats.org/officeDocument/2006/relationships/notesMaster" Target="/ppt/notesMasters/notesMaster1.xml" Id="Rdde536b961af42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bda578e9ed4d12" /><Relationship Type="http://schemas.openxmlformats.org/officeDocument/2006/relationships/notesMaster" Target="/ppt/notesMasters/notesMaster1.xml" Id="R40983f392f0440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cdbdf27e9d47a1" /><Relationship Type="http://schemas.openxmlformats.org/officeDocument/2006/relationships/notesMaster" Target="/ppt/notesMasters/notesMaster1.xml" Id="Re9cfc52df2af40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bea82bb8ff44d5" /><Relationship Type="http://schemas.openxmlformats.org/officeDocument/2006/relationships/notesMaster" Target="/ppt/notesMasters/notesMaster1.xml" Id="R077916eced7848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b678e1247044741" /><Relationship Type="http://schemas.openxmlformats.org/officeDocument/2006/relationships/notesMaster" Target="/ppt/notesMasters/notesMaster1.xml" Id="Ref0077cb281240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Sony engineer Sergio Carrilho describes the Auto Play feature built with Kotlin Multiplatform, later integrated into Sony | Sound Connect in 2024. This supports an incremental feature-level story, not a claim that the complete Sound Connect app was rewritten. The case includes Compose Multiplatform as well as KMP, so it does not establish shared-core-only architecture. Sony consumer headphones differ from Shure professional device control and local server protocols. Use the analogy for audio companion software and adoption, not protocol parity or measured Shure ROI.</a:t>
            </a:r>
          </a:p>
          <a:p xmlns:a="http://schemas.openxmlformats.org/drawingml/2006/main">
            <a:r>
              <a:t>Primary practitioner source: https://sergiocarrilho.medium.com/six-years-zero-regrets-sonys-kotlin-multiplatform-success-story-1528087514d2</a:t>
            </a:r>
          </a:p>
          <a:p xmlns:a="http://schemas.openxmlformats.org/drawingml/2006/main">
            <a:r>
              <a:t>Sony engineering deck: https://speakerdeck.com/sony/sony-kmp-journey-kotlinconf2026</a:t>
            </a:r>
          </a:p>
          <a:p xmlns:a="http://schemas.openxmlformats.org/drawingml/2006/main">
            <a:r>
              <a:t>Philips distinction: https://kotlinlang.org/ describes HealthSuite mobile SDK in healthcare, not a verified Philips audio-app migration.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Survey denominator: surveyed cross-platform developers. Company-specific outcomes are not promises for Shure.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Target demo, subject to completion of real writes and device streams.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Six weeks is a discussion assumption, not a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Sony: https://sergiocarrilho.medium.com/six-years-zero-regrets-sonys-kotlin-multiplatform-success-story-1528087514d2</a:t>
            </a:r>
          </a:p>
          <a:p xmlns:a="http://schemas.openxmlformats.org/drawingml/2006/main">
            <a:r>
              <a:t>https://speakerdeck.com/sony/sony-kmp-journey-kotlinconf2026</a:t>
            </a:r>
          </a:p>
          <a:p xmlns:a="http://schemas.openxmlformats.org/drawingml/2006/main">
            <a:r>
              <a:t>Philips HealthSuite SDK: https://kotlinlang.org/</a:t>
            </a:r>
          </a:p>
          <a:p xmlns:a="http://schemas.openxmlformats.org/drawingml/2006/main">
            <a:r>
              <a:t>Verified 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ea1283b22749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55e5047e16451a" /><Relationship Type="http://schemas.openxmlformats.org/officeDocument/2006/relationships/slideLayout" Target="/ppt/slideLayouts/slideLayout1.xml" Id="Re80f8fe20f174b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0f8fe20f174b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c3c2a271ed4819" /><Relationship Type="http://schemas.openxmlformats.org/officeDocument/2006/relationships/image" Target="/ppt/media/image.png" Id="R16c18ce40e004798" /><Relationship Type="http://schemas.openxmlformats.org/officeDocument/2006/relationships/notesSlide" Target="/ppt/notesSlides/notesSlide1.xml" Id="R38c665fb5b0b4d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1b911afc9f4162" /><Relationship Type="http://schemas.openxmlformats.org/officeDocument/2006/relationships/notesSlide" Target="/ppt/notesSlides/notesSlide2.xml" Id="R3beaf79b1d8e4d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5e0c8eeef4428b" /><Relationship Type="http://schemas.openxmlformats.org/officeDocument/2006/relationships/notesSlide" Target="/ppt/notesSlides/notesSlide3.xml" Id="R337f83dabe2945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10f9036c6f4cfb" /><Relationship Type="http://schemas.openxmlformats.org/officeDocument/2006/relationships/notesSlide" Target="/ppt/notesSlides/notesSlide4.xml" Id="R4923adaec63849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9527c7d87e49da" /><Relationship Type="http://schemas.openxmlformats.org/officeDocument/2006/relationships/notesSlide" Target="/ppt/notesSlides/notesSlide5.xml" Id="R272b837d40c743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1a7b9021b64e4e" /><Relationship Type="http://schemas.openxmlformats.org/officeDocument/2006/relationships/notesSlide" Target="/ppt/notesSlides/notesSlide6.xml" Id="R13213c674a7e42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3dd3d477874d92" /><Relationship Type="http://schemas.openxmlformats.org/officeDocument/2006/relationships/notesSlide" Target="/ppt/notesSlides/notesSlide7.xml" Id="R0904fbcdf23148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5e5468f41c4a22" /><Relationship Type="http://schemas.openxmlformats.org/officeDocument/2006/relationships/notesSlide" Target="/ppt/notesSlides/notesSlide8.xml" Id="Ree4fb193d40743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ac392b82b4473b" /><Relationship Type="http://schemas.openxmlformats.org/officeDocument/2006/relationships/notesSlide" Target="/ppt/notesSlides/notesSlide9.xml" Id="R56841980955b4c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b19efd16974901" /><Relationship Type="http://schemas.openxmlformats.org/officeDocument/2006/relationships/notesSlide" Target="/ppt/notesSlides/notesSlide10.xml" Id="Ra5cf1c3caf1946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1008dd98b94f2c" /><Relationship Type="http://schemas.openxmlformats.org/officeDocument/2006/relationships/notesSlide" Target="/ppt/notesSlides/notesSlide11.xml" Id="R605228cc627d43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7b80546e4a244e9" /><Relationship Type="http://schemas.openxmlformats.org/officeDocument/2006/relationships/notesSlide" Target="/ppt/notesSlides/notesSlide12.xml" Id="R726a346e30ef46b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ebec2ce91684e87" /><Relationship Type="http://schemas.openxmlformats.org/officeDocument/2006/relationships/notesSlide" Target="/ppt/notesSlides/notesSlide13.xml" Id="Rf59267a6d1eb4f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9a5465225254b44" /><Relationship Type="http://schemas.openxmlformats.org/officeDocument/2006/relationships/notesSlide" Target="/ppt/notesSlides/notesSlide14.xml" Id="R611987f212ec49ea"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9CE0C8-6D96-47B9-A848-3A8BC402F1DC}"/>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9E890F7E-00EA-42F9-B9BE-708C4ECFE6CD}"/>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F5DFC277-6E21-45F4-801B-DBD85A70CA58}"/>
              </a:ext>
            </a:extLst>
          </p:cNvPr>
          <p:cNvSpPr>
            <a:spLocks xmlns:a="http://schemas.openxmlformats.org/drawingml/2006/main" noGrp="1"/>
          </p:cNvSpPr>
          <p:nvPr/>
        </p:nvSpPr>
        <p:spPr>
          <a:xfrm xmlns:a="http://schemas.openxmlformats.org/drawingml/2006/main">
            <a:off x="609600" y="523875"/>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2FF00"/>
                </a:solidFill>
                <a:latin typeface="Helvetica Neue"/>
                <a:ea typeface="Helvetica Neue"/>
                <a:cs typeface="Helvetica Neue"/>
              </a:defRPr>
            </a:pPr>
            <a:r>
              <a:rPr sz="2400" b="1">
                <a:solidFill>
                  <a:srgbClr val="B2FF00"/>
                </a:solidFill>
                <a:latin typeface="Helvetica Neue"/>
                <a:ea typeface="Helvetica Neue"/>
                <a:cs typeface="Helvetica Neue"/>
              </a:rPr>
              <a:t>SHURE</a:t>
            </a:r>
          </a:p>
        </p:txBody>
      </p:sp>
      <p:sp>
        <p:nvSpPr>
          <p:cNvPr id="4" name="">
            <a:extLst xmlns:a="http://schemas.openxmlformats.org/drawingml/2006/main">
              <a:ext uri="{FF2B5EF4-FFF2-40B4-BE49-F238E27FC236}">
                <a16:creationId xmlns:a16="http://schemas.microsoft.com/office/drawing/2014/main" id="{CFB3A16A-FE6E-409A-9B28-A78DC48CBD6D}"/>
              </a:ext>
            </a:extLst>
          </p:cNvPr>
          <p:cNvSpPr>
            <a:spLocks xmlns:a="http://schemas.openxmlformats.org/drawingml/2006/main" noGrp="1"/>
          </p:cNvSpPr>
          <p:nvPr/>
        </p:nvSpPr>
        <p:spPr>
          <a:xfrm xmlns:a="http://schemas.openxmlformats.org/drawingml/2006/main">
            <a:off x="609600" y="2047875"/>
            <a:ext cx="8096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6F6F2"/>
                </a:solidFill>
                <a:latin typeface="Helvetica Neue"/>
                <a:ea typeface="Helvetica Neue"/>
                <a:cs typeface="Helvetica Neue"/>
              </a:defRPr>
            </a:pPr>
            <a:r>
              <a:rPr sz="5400" b="1">
                <a:solidFill>
                  <a:srgbClr val="F6F6F2"/>
                </a:solidFill>
                <a:latin typeface="Helvetica Neue"/>
                <a:ea typeface="Helvetica Neue"/>
                <a:cs typeface="Helvetica Neue"/>
              </a:rPr>
              <a:t>One shared core.</a:t>
            </a:r>
          </a:p>
          <a:p xmlns:a="http://schemas.openxmlformats.org/drawingml/2006/main">
            <a:pPr>
              <a:defRPr sz="5400" b="1">
                <a:solidFill>
                  <a:srgbClr val="F6F6F2"/>
                </a:solidFill>
                <a:latin typeface="Helvetica Neue"/>
                <a:ea typeface="Helvetica Neue"/>
                <a:cs typeface="Helvetica Neue"/>
              </a:defRPr>
            </a:pPr>
            <a:r>
              <a:rPr sz="5400" b="1">
                <a:solidFill>
                  <a:srgbClr val="F6F6F2"/>
                </a:solidFill>
                <a:latin typeface="Helvetica Neue"/>
                <a:ea typeface="Helvetica Neue"/>
                <a:cs typeface="Helvetica Neue"/>
              </a:rPr>
              <a:t>Native flexibility.</a:t>
            </a:r>
          </a:p>
        </p:txBody>
      </p:sp>
      <p:sp>
        <p:nvSpPr>
          <p:cNvPr id="5" name="">
            <a:extLst xmlns:a="http://schemas.openxmlformats.org/drawingml/2006/main">
              <a:ext uri="{FF2B5EF4-FFF2-40B4-BE49-F238E27FC236}">
                <a16:creationId xmlns:a16="http://schemas.microsoft.com/office/drawing/2014/main" id="{A23FCFBD-B5FE-444B-9608-2BA0F6BF0BE7}"/>
              </a:ext>
            </a:extLst>
          </p:cNvPr>
          <p:cNvSpPr>
            <a:spLocks xmlns:a="http://schemas.openxmlformats.org/drawingml/2006/main" noGrp="1"/>
          </p:cNvSpPr>
          <p:nvPr/>
        </p:nvSpPr>
        <p:spPr>
          <a:xfrm xmlns:a="http://schemas.openxmlformats.org/drawingml/2006/main">
            <a:off x="609600" y="505777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2FF00"/>
                </a:solidFill>
                <a:latin typeface="Helvetica Neue"/>
                <a:ea typeface="Helvetica Neue"/>
                <a:cs typeface="Helvetica Neue"/>
              </a:defRPr>
            </a:pPr>
            <a:r>
              <a:rPr sz="2550" b="0">
                <a:solidFill>
                  <a:srgbClr val="B2FF00"/>
                </a:solidFill>
                <a:latin typeface="Helvetica Neue"/>
                <a:ea typeface="Helvetica Neue"/>
                <a:cs typeface="Helvetica Neue"/>
              </a:rPr>
              <a:t>Kotlin Multiplatform initiative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6c18ce40e004798"/>
          <a:stretch xmlns:a="http://schemas.openxmlformats.org/drawingml/2006/main"/>
        </p:blipFill>
        <p:spPr>
          <a:xfrm xmlns:a="http://schemas.openxmlformats.org/drawingml/2006/main">
            <a:off x="9020175" y="2276475"/>
            <a:ext cx="2333625" cy="2333625"/>
          </a:xfrm>
          <a:prstGeom xmlns:a="http://schemas.openxmlformats.org/drawingml/2006/main" prst="rect">
            <a:avLst/>
          </a:prstGeom>
        </p:spPr>
      </p:pic>
    </p:spTree>
    <p:extLst>
      <p:ext uri="{BB962C8B-B14F-4D97-AF65-F5344CB8AC3E}">
        <p14:creationId xmlns:p14="http://schemas.microsoft.com/office/powerpoint/2010/main" val="1295626526"/>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06C72D-974B-43DB-A176-9C3BE3A41453}"/>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Why now</a:t>
            </a:r>
          </a:p>
        </p:txBody>
      </p:sp>
      <p:sp>
        <p:nvSpPr>
          <p:cNvPr id="2" name="">
            <a:extLst xmlns:a="http://schemas.openxmlformats.org/drawingml/2006/main">
              <a:ext uri="{FF2B5EF4-FFF2-40B4-BE49-F238E27FC236}">
                <a16:creationId xmlns:a16="http://schemas.microsoft.com/office/drawing/2014/main" id="{34CC39AF-FCB3-447E-BFA2-5A8AE7949814}"/>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1A856345-F784-4CDE-9FAB-8F952BD9E781}"/>
              </a:ext>
            </a:extLst>
          </p:cNvPr>
          <p:cNvSpPr>
            <a:spLocks xmlns:a="http://schemas.openxmlformats.org/drawingml/2006/main" noGrp="1"/>
          </p:cNvSpPr>
          <p:nvPr/>
        </p:nvSpPr>
        <p:spPr>
          <a:xfrm xmlns:a="http://schemas.openxmlformats.org/drawingml/2006/main">
            <a:off x="609600" y="2133600"/>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B2FF00"/>
                </a:solidFill>
                <a:latin typeface="Helvetica Neue"/>
                <a:ea typeface="Helvetica Neue"/>
                <a:cs typeface="Helvetica Neue"/>
              </a:defRPr>
            </a:pPr>
            <a:r>
              <a:rPr sz="3900" b="1">
                <a:solidFill>
                  <a:srgbClr val="B2FF00"/>
                </a:solidFill>
                <a:latin typeface="Helvetica Neue"/>
                <a:ea typeface="Helvetica Neue"/>
                <a:cs typeface="Helvetica Neue"/>
              </a:rPr>
              <a:t>Device API</a:t>
            </a:r>
          </a:p>
        </p:txBody>
      </p:sp>
      <p:sp>
        <p:nvSpPr>
          <p:cNvPr id="4" name="">
            <a:extLst xmlns:a="http://schemas.openxmlformats.org/drawingml/2006/main">
              <a:ext uri="{FF2B5EF4-FFF2-40B4-BE49-F238E27FC236}">
                <a16:creationId xmlns:a16="http://schemas.microsoft.com/office/drawing/2014/main" id="{4FBF0F14-057F-4A90-9382-712CEB5003F0}"/>
              </a:ext>
            </a:extLst>
          </p:cNvPr>
          <p:cNvSpPr>
            <a:spLocks xmlns:a="http://schemas.openxmlformats.org/drawingml/2006/main" noGrp="1"/>
          </p:cNvSpPr>
          <p:nvPr/>
        </p:nvSpPr>
        <p:spPr>
          <a:xfrm xmlns:a="http://schemas.openxmlformats.org/drawingml/2006/main">
            <a:off x="4552950" y="2133600"/>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B2FF00"/>
                </a:solidFill>
                <a:latin typeface="Helvetica Neue"/>
                <a:ea typeface="Helvetica Neue"/>
                <a:cs typeface="Helvetica Neue"/>
              </a:defRPr>
            </a:pPr>
            <a:r>
              <a:rPr sz="3600" b="1">
                <a:solidFill>
                  <a:srgbClr val="B2FF00"/>
                </a:solidFill>
                <a:latin typeface="Helvetica Neue"/>
                <a:ea typeface="Helvetica Neue"/>
                <a:cs typeface="Helvetica Neue"/>
              </a:rPr>
              <a:t>Kotlin expertise</a:t>
            </a:r>
          </a:p>
        </p:txBody>
      </p:sp>
      <p:sp>
        <p:nvSpPr>
          <p:cNvPr id="5" name="">
            <a:extLst xmlns:a="http://schemas.openxmlformats.org/drawingml/2006/main">
              <a:ext uri="{FF2B5EF4-FFF2-40B4-BE49-F238E27FC236}">
                <a16:creationId xmlns:a16="http://schemas.microsoft.com/office/drawing/2014/main" id="{85CA2C95-7B09-4604-8AD9-13366AE651C1}"/>
              </a:ext>
            </a:extLst>
          </p:cNvPr>
          <p:cNvSpPr>
            <a:spLocks xmlns:a="http://schemas.openxmlformats.org/drawingml/2006/main" noGrp="1"/>
          </p:cNvSpPr>
          <p:nvPr/>
        </p:nvSpPr>
        <p:spPr>
          <a:xfrm xmlns:a="http://schemas.openxmlformats.org/drawingml/2006/main">
            <a:off x="8639175" y="213360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B2FF00"/>
                </a:solidFill>
                <a:latin typeface="Helvetica Neue"/>
                <a:ea typeface="Helvetica Neue"/>
                <a:cs typeface="Helvetica Neue"/>
              </a:defRPr>
            </a:pPr>
            <a:r>
              <a:rPr sz="3600" b="1">
                <a:solidFill>
                  <a:srgbClr val="B2FF00"/>
                </a:solidFill>
                <a:latin typeface="Helvetica Neue"/>
                <a:ea typeface="Helvetica Neue"/>
                <a:cs typeface="Helvetica Neue"/>
              </a:rPr>
              <a:t>Working PoC</a:t>
            </a:r>
          </a:p>
        </p:txBody>
      </p:sp>
      <p:sp>
        <p:nvSpPr>
          <p:cNvPr id="6" name="">
            <a:extLst xmlns:a="http://schemas.openxmlformats.org/drawingml/2006/main">
              <a:ext uri="{FF2B5EF4-FFF2-40B4-BE49-F238E27FC236}">
                <a16:creationId xmlns:a16="http://schemas.microsoft.com/office/drawing/2014/main" id="{24771103-4C98-4A1C-A8A9-65E4084313DC}"/>
              </a:ext>
            </a:extLst>
          </p:cNvPr>
          <p:cNvSpPr>
            <a:spLocks xmlns:a="http://schemas.openxmlformats.org/drawingml/2006/main" noGrp="1"/>
          </p:cNvSpPr>
          <p:nvPr/>
        </p:nvSpPr>
        <p:spPr>
          <a:xfrm xmlns:a="http://schemas.openxmlformats.org/drawingml/2006/main">
            <a:off x="609600" y="31527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0AC"/>
                </a:solidFill>
                <a:latin typeface="Helvetica Neue"/>
                <a:ea typeface="Helvetica Neue"/>
                <a:cs typeface="Helvetica Neue"/>
              </a:defRPr>
            </a:pPr>
            <a:r>
              <a:rPr sz="2175" b="0">
                <a:solidFill>
                  <a:srgbClr val="ACB0AC"/>
                </a:solidFill>
                <a:latin typeface="Helvetica Neue"/>
                <a:ea typeface="Helvetica Neue"/>
                <a:cs typeface="Helvetica Neue"/>
              </a:rPr>
              <a:t>Simpler integration</a:t>
            </a:r>
          </a:p>
        </p:txBody>
      </p:sp>
      <p:sp>
        <p:nvSpPr>
          <p:cNvPr id="7" name="">
            <a:extLst xmlns:a="http://schemas.openxmlformats.org/drawingml/2006/main">
              <a:ext uri="{FF2B5EF4-FFF2-40B4-BE49-F238E27FC236}">
                <a16:creationId xmlns:a16="http://schemas.microsoft.com/office/drawing/2014/main" id="{D828EADD-AB34-4114-AB70-F341473B2B60}"/>
              </a:ext>
            </a:extLst>
          </p:cNvPr>
          <p:cNvSpPr>
            <a:spLocks xmlns:a="http://schemas.openxmlformats.org/drawingml/2006/main" noGrp="1"/>
          </p:cNvSpPr>
          <p:nvPr/>
        </p:nvSpPr>
        <p:spPr>
          <a:xfrm xmlns:a="http://schemas.openxmlformats.org/drawingml/2006/main">
            <a:off x="4552950" y="315277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0AC"/>
                </a:solidFill>
                <a:latin typeface="Helvetica Neue"/>
                <a:ea typeface="Helvetica Neue"/>
                <a:cs typeface="Helvetica Neue"/>
              </a:defRPr>
            </a:pPr>
            <a:r>
              <a:rPr sz="2175" b="0">
                <a:solidFill>
                  <a:srgbClr val="ACB0AC"/>
                </a:solidFill>
                <a:latin typeface="Helvetica Neue"/>
                <a:ea typeface="Helvetica Neue"/>
                <a:cs typeface="Helvetica Neue"/>
              </a:rPr>
              <a:t>Familiar language</a:t>
            </a:r>
          </a:p>
        </p:txBody>
      </p:sp>
      <p:sp>
        <p:nvSpPr>
          <p:cNvPr id="8" name="">
            <a:extLst xmlns:a="http://schemas.openxmlformats.org/drawingml/2006/main">
              <a:ext uri="{FF2B5EF4-FFF2-40B4-BE49-F238E27FC236}">
                <a16:creationId xmlns:a16="http://schemas.microsoft.com/office/drawing/2014/main" id="{9A985054-0780-4C9D-9535-F2E5544099A3}"/>
              </a:ext>
            </a:extLst>
          </p:cNvPr>
          <p:cNvSpPr>
            <a:spLocks xmlns:a="http://schemas.openxmlformats.org/drawingml/2006/main" noGrp="1"/>
          </p:cNvSpPr>
          <p:nvPr/>
        </p:nvSpPr>
        <p:spPr>
          <a:xfrm xmlns:a="http://schemas.openxmlformats.org/drawingml/2006/main">
            <a:off x="8639175" y="315277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0AC"/>
                </a:solidFill>
                <a:latin typeface="Helvetica Neue"/>
                <a:ea typeface="Helvetica Neue"/>
                <a:cs typeface="Helvetica Neue"/>
              </a:defRPr>
            </a:pPr>
            <a:r>
              <a:rPr sz="2175" b="0">
                <a:solidFill>
                  <a:srgbClr val="ACB0AC"/>
                </a:solidFill>
                <a:latin typeface="Helvetica Neue"/>
                <a:ea typeface="Helvetica Neue"/>
                <a:cs typeface="Helvetica Neue"/>
              </a:rPr>
              <a:t>A foundation to test</a:t>
            </a:r>
          </a:p>
        </p:txBody>
      </p:sp>
      <p:sp>
        <p:nvSpPr>
          <p:cNvPr id="9" name="">
            <a:extLst xmlns:a="http://schemas.openxmlformats.org/drawingml/2006/main">
              <a:ext uri="{FF2B5EF4-FFF2-40B4-BE49-F238E27FC236}">
                <a16:creationId xmlns:a16="http://schemas.microsoft.com/office/drawing/2014/main" id="{50CC0C43-541D-4693-AA7C-D3CFA1AF93E7}"/>
              </a:ext>
            </a:extLst>
          </p:cNvPr>
          <p:cNvSpPr>
            <a:spLocks xmlns:a="http://schemas.openxmlformats.org/drawingml/2006/main" noGrp="1"/>
          </p:cNvSpPr>
          <p:nvPr/>
        </p:nvSpPr>
        <p:spPr>
          <a:xfrm xmlns:a="http://schemas.openxmlformats.org/drawingml/2006/main">
            <a:off x="609600" y="4267200"/>
            <a:ext cx="10972800" cy="1905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047407A-F841-49C9-86B2-E0836A570762}"/>
              </a:ext>
            </a:extLst>
          </p:cNvPr>
          <p:cNvSpPr>
            <a:spLocks xmlns:a="http://schemas.openxmlformats.org/drawingml/2006/main" noGrp="1"/>
          </p:cNvSpPr>
          <p:nvPr/>
        </p:nvSpPr>
        <p:spPr>
          <a:xfrm xmlns:a="http://schemas.openxmlformats.org/drawingml/2006/main">
            <a:off x="609600" y="48577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A practical moment to share device logic</a:t>
            </a:r>
          </a:p>
        </p:txBody>
      </p:sp>
    </p:spTree>
    <p:extLst>
      <p:ext uri="{BB962C8B-B14F-4D97-AF65-F5344CB8AC3E}">
        <p14:creationId xmlns:p14="http://schemas.microsoft.com/office/powerpoint/2010/main" val="1830921490"/>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DDEFC34-D0C4-4335-9CA1-53D15C4F6D5F}"/>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What KMP means for Shure</a:t>
            </a:r>
          </a:p>
        </p:txBody>
      </p:sp>
      <p:sp>
        <p:nvSpPr>
          <p:cNvPr id="2" name="">
            <a:extLst xmlns:a="http://schemas.openxmlformats.org/drawingml/2006/main">
              <a:ext uri="{FF2B5EF4-FFF2-40B4-BE49-F238E27FC236}">
                <a16:creationId xmlns:a16="http://schemas.microsoft.com/office/drawing/2014/main" id="{126DD6E3-19EF-465B-986D-9F49886DC19D}"/>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9B08957A-90DD-4C95-9AB3-B2CDBB80E998}"/>
              </a:ext>
            </a:extLst>
          </p:cNvPr>
          <p:cNvSpPr>
            <a:spLocks xmlns:a="http://schemas.openxmlformats.org/drawingml/2006/main" noGrp="1"/>
          </p:cNvSpPr>
          <p:nvPr/>
        </p:nvSpPr>
        <p:spPr>
          <a:xfrm xmlns:a="http://schemas.openxmlformats.org/drawingml/2006/main">
            <a:off x="609600" y="2143125"/>
            <a:ext cx="5048250" cy="8572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4" name="">
            <a:extLst xmlns:a="http://schemas.openxmlformats.org/drawingml/2006/main">
              <a:ext uri="{FF2B5EF4-FFF2-40B4-BE49-F238E27FC236}">
                <a16:creationId xmlns:a16="http://schemas.microsoft.com/office/drawing/2014/main" id="{5DC2F777-E250-4882-A109-0DF5B9785806}"/>
              </a:ext>
            </a:extLst>
          </p:cNvPr>
          <p:cNvSpPr>
            <a:spLocks xmlns:a="http://schemas.openxmlformats.org/drawingml/2006/main" noGrp="1"/>
          </p:cNvSpPr>
          <p:nvPr/>
        </p:nvSpPr>
        <p:spPr>
          <a:xfrm xmlns:a="http://schemas.openxmlformats.org/drawingml/2006/main">
            <a:off x="800100" y="235267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Android</a:t>
            </a:r>
          </a:p>
        </p:txBody>
      </p:sp>
      <p:sp>
        <p:nvSpPr>
          <p:cNvPr id="5" name="">
            <a:extLst xmlns:a="http://schemas.openxmlformats.org/drawingml/2006/main">
              <a:ext uri="{FF2B5EF4-FFF2-40B4-BE49-F238E27FC236}">
                <a16:creationId xmlns:a16="http://schemas.microsoft.com/office/drawing/2014/main" id="{BB21699C-EDAC-4810-A86C-01AB1DB67490}"/>
              </a:ext>
            </a:extLst>
          </p:cNvPr>
          <p:cNvSpPr>
            <a:spLocks xmlns:a="http://schemas.openxmlformats.org/drawingml/2006/main" noGrp="1"/>
          </p:cNvSpPr>
          <p:nvPr/>
        </p:nvSpPr>
        <p:spPr>
          <a:xfrm xmlns:a="http://schemas.openxmlformats.org/drawingml/2006/main">
            <a:off x="6534150" y="2143125"/>
            <a:ext cx="5048250" cy="8572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6" name="">
            <a:extLst xmlns:a="http://schemas.openxmlformats.org/drawingml/2006/main">
              <a:ext uri="{FF2B5EF4-FFF2-40B4-BE49-F238E27FC236}">
                <a16:creationId xmlns:a16="http://schemas.microsoft.com/office/drawing/2014/main" id="{2CBD987B-390D-413A-BCC7-345473EA2227}"/>
              </a:ext>
            </a:extLst>
          </p:cNvPr>
          <p:cNvSpPr>
            <a:spLocks xmlns:a="http://schemas.openxmlformats.org/drawingml/2006/main" noGrp="1"/>
          </p:cNvSpPr>
          <p:nvPr/>
        </p:nvSpPr>
        <p:spPr>
          <a:xfrm xmlns:a="http://schemas.openxmlformats.org/drawingml/2006/main">
            <a:off x="6724650" y="235267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iOS</a:t>
            </a:r>
          </a:p>
        </p:txBody>
      </p:sp>
      <p:sp>
        <p:nvSpPr>
          <p:cNvPr id="7" name="">
            <a:extLst xmlns:a="http://schemas.openxmlformats.org/drawingml/2006/main">
              <a:ext uri="{FF2B5EF4-FFF2-40B4-BE49-F238E27FC236}">
                <a16:creationId xmlns:a16="http://schemas.microsoft.com/office/drawing/2014/main" id="{D7981BDF-BEFD-42EE-B406-F309906191DB}"/>
              </a:ext>
            </a:extLst>
          </p:cNvPr>
          <p:cNvSpPr>
            <a:spLocks xmlns:a="http://schemas.openxmlformats.org/drawingml/2006/main" noGrp="1"/>
          </p:cNvSpPr>
          <p:nvPr/>
        </p:nvSpPr>
        <p:spPr>
          <a:xfrm xmlns:a="http://schemas.openxmlformats.org/drawingml/2006/main">
            <a:off x="3105150" y="3000375"/>
            <a:ext cx="19050" cy="47625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11D4BB6-C7F2-41E7-B944-99B3108F56C4}"/>
              </a:ext>
            </a:extLst>
          </p:cNvPr>
          <p:cNvSpPr>
            <a:spLocks xmlns:a="http://schemas.openxmlformats.org/drawingml/2006/main" noGrp="1"/>
          </p:cNvSpPr>
          <p:nvPr/>
        </p:nvSpPr>
        <p:spPr>
          <a:xfrm xmlns:a="http://schemas.openxmlformats.org/drawingml/2006/main">
            <a:off x="9048750" y="3000375"/>
            <a:ext cx="19050" cy="47625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5D56298-8FFE-470A-A214-391443016262}"/>
              </a:ext>
            </a:extLst>
          </p:cNvPr>
          <p:cNvSpPr>
            <a:spLocks xmlns:a="http://schemas.openxmlformats.org/drawingml/2006/main" noGrp="1"/>
          </p:cNvSpPr>
          <p:nvPr/>
        </p:nvSpPr>
        <p:spPr>
          <a:xfrm xmlns:a="http://schemas.openxmlformats.org/drawingml/2006/main">
            <a:off x="609600" y="3476625"/>
            <a:ext cx="10972800" cy="1047750"/>
          </a:xfrm>
          <a:prstGeom xmlns:a="http://schemas.openxmlformats.org/drawingml/2006/main" prst="rect">
            <a:avLst/>
          </a:prstGeom>
          <a:solidFill xmlns:a="http://schemas.openxmlformats.org/drawingml/2006/main">
            <a:srgbClr val="B2FF00"/>
          </a:solidFill>
          <a:ln xmlns:a="http://schemas.openxmlformats.org/drawingml/2006/main" w="9525">
            <a:solidFill>
              <a:srgbClr val="394239"/>
            </a:solidFill>
          </a:ln>
        </p:spPr>
      </p:sp>
      <p:sp>
        <p:nvSpPr>
          <p:cNvPr id="10" name="">
            <a:extLst xmlns:a="http://schemas.openxmlformats.org/drawingml/2006/main">
              <a:ext uri="{FF2B5EF4-FFF2-40B4-BE49-F238E27FC236}">
                <a16:creationId xmlns:a16="http://schemas.microsoft.com/office/drawing/2014/main" id="{B640EDB0-05A7-4ACC-92BA-FEF798132115}"/>
              </a:ext>
            </a:extLst>
          </p:cNvPr>
          <p:cNvSpPr>
            <a:spLocks xmlns:a="http://schemas.openxmlformats.org/drawingml/2006/main" noGrp="1"/>
          </p:cNvSpPr>
          <p:nvPr/>
        </p:nvSpPr>
        <p:spPr>
          <a:xfrm xmlns:a="http://schemas.openxmlformats.org/drawingml/2006/main">
            <a:off x="800100" y="3686175"/>
            <a:ext cx="10591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50505"/>
                </a:solidFill>
                <a:latin typeface="Helvetica Neue"/>
                <a:ea typeface="Helvetica Neue"/>
                <a:cs typeface="Helvetica Neue"/>
              </a:defRPr>
            </a:pPr>
            <a:r>
              <a:rPr sz="2400" b="1">
                <a:solidFill>
                  <a:srgbClr val="050505"/>
                </a:solidFill>
                <a:latin typeface="Helvetica Neue"/>
                <a:ea typeface="Helvetica Neue"/>
                <a:cs typeface="Helvetica Neue"/>
              </a:rPr>
              <a:t>Shared Kotlin core</a:t>
            </a:r>
          </a:p>
        </p:txBody>
      </p:sp>
      <p:sp>
        <p:nvSpPr>
          <p:cNvPr id="11" name="">
            <a:extLst xmlns:a="http://schemas.openxmlformats.org/drawingml/2006/main">
              <a:ext uri="{FF2B5EF4-FFF2-40B4-BE49-F238E27FC236}">
                <a16:creationId xmlns:a16="http://schemas.microsoft.com/office/drawing/2014/main" id="{C38BCF9B-B662-4DE6-94A4-50DAB132B50F}"/>
              </a:ext>
            </a:extLst>
          </p:cNvPr>
          <p:cNvSpPr>
            <a:spLocks xmlns:a="http://schemas.openxmlformats.org/drawingml/2006/main" noGrp="1"/>
          </p:cNvSpPr>
          <p:nvPr/>
        </p:nvSpPr>
        <p:spPr>
          <a:xfrm xmlns:a="http://schemas.openxmlformats.org/drawingml/2006/main">
            <a:off x="609600" y="50863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6F6F2"/>
                </a:solidFill>
                <a:latin typeface="Helvetica Neue"/>
                <a:ea typeface="Helvetica Neue"/>
                <a:cs typeface="Helvetica Neue"/>
              </a:defRPr>
            </a:pPr>
            <a:r>
              <a:rPr sz="2400" b="0">
                <a:solidFill>
                  <a:srgbClr val="F6F6F2"/>
                </a:solidFill>
                <a:latin typeface="Helvetica Neue"/>
                <a:ea typeface="Helvetica Neue"/>
                <a:cs typeface="Helvetica Neue"/>
              </a:rPr>
              <a:t>Device logic</a:t>
            </a:r>
          </a:p>
        </p:txBody>
      </p:sp>
      <p:sp>
        <p:nvSpPr>
          <p:cNvPr id="12" name="">
            <a:extLst xmlns:a="http://schemas.openxmlformats.org/drawingml/2006/main">
              <a:ext uri="{FF2B5EF4-FFF2-40B4-BE49-F238E27FC236}">
                <a16:creationId xmlns:a16="http://schemas.microsoft.com/office/drawing/2014/main" id="{0F4A7E2A-320F-4529-AA60-DE1158499E17}"/>
              </a:ext>
            </a:extLst>
          </p:cNvPr>
          <p:cNvSpPr>
            <a:spLocks xmlns:a="http://schemas.openxmlformats.org/drawingml/2006/main" noGrp="1"/>
          </p:cNvSpPr>
          <p:nvPr/>
        </p:nvSpPr>
        <p:spPr>
          <a:xfrm xmlns:a="http://schemas.openxmlformats.org/drawingml/2006/main">
            <a:off x="4362450" y="50863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6F6F2"/>
                </a:solidFill>
                <a:latin typeface="Helvetica Neue"/>
                <a:ea typeface="Helvetica Neue"/>
                <a:cs typeface="Helvetica Neue"/>
              </a:defRPr>
            </a:pPr>
            <a:r>
              <a:rPr sz="2400" b="0">
                <a:solidFill>
                  <a:srgbClr val="F6F6F2"/>
                </a:solidFill>
                <a:latin typeface="Helvetica Neue"/>
                <a:ea typeface="Helvetica Neue"/>
                <a:cs typeface="Helvetica Neue"/>
              </a:rPr>
              <a:t>API + streams</a:t>
            </a:r>
          </a:p>
        </p:txBody>
      </p:sp>
      <p:sp>
        <p:nvSpPr>
          <p:cNvPr id="13" name="">
            <a:extLst xmlns:a="http://schemas.openxmlformats.org/drawingml/2006/main">
              <a:ext uri="{FF2B5EF4-FFF2-40B4-BE49-F238E27FC236}">
                <a16:creationId xmlns:a16="http://schemas.microsoft.com/office/drawing/2014/main" id="{8BF282C6-ADC1-4D31-88CB-D297A4B5DACE}"/>
              </a:ext>
            </a:extLst>
          </p:cNvPr>
          <p:cNvSpPr>
            <a:spLocks xmlns:a="http://schemas.openxmlformats.org/drawingml/2006/main" noGrp="1"/>
          </p:cNvSpPr>
          <p:nvPr/>
        </p:nvSpPr>
        <p:spPr>
          <a:xfrm xmlns:a="http://schemas.openxmlformats.org/drawingml/2006/main">
            <a:off x="8477250" y="508635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6F6F2"/>
                </a:solidFill>
                <a:latin typeface="Helvetica Neue"/>
                <a:ea typeface="Helvetica Neue"/>
                <a:cs typeface="Helvetica Neue"/>
              </a:defRPr>
            </a:pPr>
            <a:r>
              <a:rPr sz="2400" b="0">
                <a:solidFill>
                  <a:srgbClr val="F6F6F2"/>
                </a:solidFill>
                <a:latin typeface="Helvetica Neue"/>
                <a:ea typeface="Helvetica Neue"/>
                <a:cs typeface="Helvetica Neue"/>
              </a:rPr>
              <a:t>Local state</a:t>
            </a:r>
          </a:p>
        </p:txBody>
      </p:sp>
      <p:sp>
        <p:nvSpPr>
          <p:cNvPr id="14" name="">
            <a:extLst xmlns:a="http://schemas.openxmlformats.org/drawingml/2006/main">
              <a:ext uri="{FF2B5EF4-FFF2-40B4-BE49-F238E27FC236}">
                <a16:creationId xmlns:a16="http://schemas.microsoft.com/office/drawing/2014/main" id="{B6E1324B-9663-44C5-8C2E-060B76EC3698}"/>
              </a:ext>
            </a:extLst>
          </p:cNvPr>
          <p:cNvSpPr>
            <a:spLocks xmlns:a="http://schemas.openxmlformats.org/drawingml/2006/main" noGrp="1"/>
          </p:cNvSpPr>
          <p:nvPr/>
        </p:nvSpPr>
        <p:spPr>
          <a:xfrm xmlns:a="http://schemas.openxmlformats.org/drawingml/2006/main">
            <a:off x="609600" y="586740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CB0AC"/>
                </a:solidFill>
                <a:latin typeface="Helvetica Neue"/>
                <a:ea typeface="Helvetica Neue"/>
                <a:cs typeface="Helvetica Neue"/>
              </a:defRPr>
            </a:pPr>
            <a:r>
              <a:rPr sz="1800" b="0">
                <a:solidFill>
                  <a:srgbClr val="ACB0AC"/>
                </a:solidFill>
                <a:latin typeface="Helvetica Neue"/>
                <a:ea typeface="Helvetica Neue"/>
                <a:cs typeface="Helvetica Neue"/>
              </a:rPr>
              <a:t>Native UI remains an option</a:t>
            </a:r>
          </a:p>
        </p:txBody>
      </p:sp>
    </p:spTree>
    <p:extLst>
      <p:ext uri="{BB962C8B-B14F-4D97-AF65-F5344CB8AC3E}">
        <p14:creationId xmlns:p14="http://schemas.microsoft.com/office/powerpoint/2010/main" val="1063635006"/>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93AF8A6-71FA-43FD-A776-5826467557D9}"/>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The device API reduces client coupling</a:t>
            </a:r>
          </a:p>
        </p:txBody>
      </p:sp>
      <p:sp>
        <p:nvSpPr>
          <p:cNvPr id="2" name="">
            <a:extLst xmlns:a="http://schemas.openxmlformats.org/drawingml/2006/main">
              <a:ext uri="{FF2B5EF4-FFF2-40B4-BE49-F238E27FC236}">
                <a16:creationId xmlns:a16="http://schemas.microsoft.com/office/drawing/2014/main" id="{F3E45CCF-E8BA-4053-B32F-47D662232975}"/>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6F529398-77DF-4140-B241-F6E7336AA2DB}"/>
              </a:ext>
            </a:extLst>
          </p:cNvPr>
          <p:cNvSpPr>
            <a:spLocks xmlns:a="http://schemas.openxmlformats.org/drawingml/2006/main" noGrp="1"/>
          </p:cNvSpPr>
          <p:nvPr/>
        </p:nvSpPr>
        <p:spPr>
          <a:xfrm xmlns:a="http://schemas.openxmlformats.org/drawingml/2006/main">
            <a:off x="609600" y="19907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CB0AC"/>
                </a:solidFill>
                <a:latin typeface="Helvetica Neue"/>
                <a:ea typeface="Helvetica Neue"/>
                <a:cs typeface="Helvetica Neue"/>
              </a:defRPr>
            </a:pPr>
            <a:r>
              <a:rPr sz="2100" b="0">
                <a:solidFill>
                  <a:srgbClr val="ACB0AC"/>
                </a:solidFill>
                <a:latin typeface="Helvetica Neue"/>
                <a:ea typeface="Helvetica Neue"/>
                <a:cs typeface="Helvetica Neue"/>
              </a:rPr>
              <a:t>Existing path</a:t>
            </a:r>
          </a:p>
        </p:txBody>
      </p:sp>
      <p:sp>
        <p:nvSpPr>
          <p:cNvPr id="4" name="">
            <a:extLst xmlns:a="http://schemas.openxmlformats.org/drawingml/2006/main">
              <a:ext uri="{FF2B5EF4-FFF2-40B4-BE49-F238E27FC236}">
                <a16:creationId xmlns:a16="http://schemas.microsoft.com/office/drawing/2014/main" id="{82DA66BB-363C-415A-A21A-BF0B2BCE6A31}"/>
              </a:ext>
            </a:extLst>
          </p:cNvPr>
          <p:cNvSpPr>
            <a:spLocks xmlns:a="http://schemas.openxmlformats.org/drawingml/2006/main" noGrp="1"/>
          </p:cNvSpPr>
          <p:nvPr/>
        </p:nvSpPr>
        <p:spPr>
          <a:xfrm xmlns:a="http://schemas.openxmlformats.org/drawingml/2006/main">
            <a:off x="609600" y="2628900"/>
            <a:ext cx="5143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F6F6F2"/>
                </a:solidFill>
                <a:latin typeface="Helvetica Neue"/>
                <a:ea typeface="Helvetica Neue"/>
                <a:cs typeface="Helvetica Neue"/>
              </a:defRPr>
            </a:pPr>
            <a:r>
              <a:rPr sz="4125" b="1">
                <a:solidFill>
                  <a:srgbClr val="F6F6F2"/>
                </a:solidFill>
                <a:latin typeface="Helvetica Neue"/>
                <a:ea typeface="Helvetica Neue"/>
                <a:cs typeface="Helvetica Neue"/>
              </a:rPr>
              <a:t>JNI / Apollo</a:t>
            </a:r>
          </a:p>
        </p:txBody>
      </p:sp>
      <p:sp>
        <p:nvSpPr>
          <p:cNvPr id="5" name="">
            <a:extLst xmlns:a="http://schemas.openxmlformats.org/drawingml/2006/main">
              <a:ext uri="{FF2B5EF4-FFF2-40B4-BE49-F238E27FC236}">
                <a16:creationId xmlns:a16="http://schemas.microsoft.com/office/drawing/2014/main" id="{BFE01B5F-CA7A-470D-BEA1-427CA33DD705}"/>
              </a:ext>
            </a:extLst>
          </p:cNvPr>
          <p:cNvSpPr>
            <a:spLocks xmlns:a="http://schemas.openxmlformats.org/drawingml/2006/main" noGrp="1"/>
          </p:cNvSpPr>
          <p:nvPr/>
        </p:nvSpPr>
        <p:spPr>
          <a:xfrm xmlns:a="http://schemas.openxmlformats.org/drawingml/2006/main">
            <a:off x="6619875" y="19907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FF00"/>
                </a:solidFill>
                <a:latin typeface="Helvetica Neue"/>
                <a:ea typeface="Helvetica Neue"/>
                <a:cs typeface="Helvetica Neue"/>
              </a:defRPr>
            </a:pPr>
            <a:r>
              <a:rPr sz="2100" b="0">
                <a:solidFill>
                  <a:srgbClr val="B2FF00"/>
                </a:solidFill>
                <a:latin typeface="Helvetica Neue"/>
                <a:ea typeface="Helvetica Neue"/>
                <a:cs typeface="Helvetica Neue"/>
              </a:rPr>
              <a:t>Target path</a:t>
            </a:r>
          </a:p>
        </p:txBody>
      </p:sp>
      <p:sp>
        <p:nvSpPr>
          <p:cNvPr id="6" name="">
            <a:extLst xmlns:a="http://schemas.openxmlformats.org/drawingml/2006/main">
              <a:ext uri="{FF2B5EF4-FFF2-40B4-BE49-F238E27FC236}">
                <a16:creationId xmlns:a16="http://schemas.microsoft.com/office/drawing/2014/main" id="{975E160D-0117-4769-9C36-5B93C8E48FE0}"/>
              </a:ext>
            </a:extLst>
          </p:cNvPr>
          <p:cNvSpPr>
            <a:spLocks xmlns:a="http://schemas.openxmlformats.org/drawingml/2006/main" noGrp="1"/>
          </p:cNvSpPr>
          <p:nvPr/>
        </p:nvSpPr>
        <p:spPr>
          <a:xfrm xmlns:a="http://schemas.openxmlformats.org/drawingml/2006/main">
            <a:off x="6619875" y="26289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B2FF00"/>
                </a:solidFill>
                <a:latin typeface="Helvetica Neue"/>
                <a:ea typeface="Helvetica Neue"/>
                <a:cs typeface="Helvetica Neue"/>
              </a:defRPr>
            </a:pPr>
            <a:r>
              <a:rPr sz="3675" b="1">
                <a:solidFill>
                  <a:srgbClr val="B2FF00"/>
                </a:solidFill>
                <a:latin typeface="Helvetica Neue"/>
                <a:ea typeface="Helvetica Neue"/>
                <a:cs typeface="Helvetica Neue"/>
              </a:rPr>
              <a:t>Local device server</a:t>
            </a:r>
          </a:p>
        </p:txBody>
      </p:sp>
      <p:sp>
        <p:nvSpPr>
          <p:cNvPr id="7" name="">
            <a:extLst xmlns:a="http://schemas.openxmlformats.org/drawingml/2006/main">
              <a:ext uri="{FF2B5EF4-FFF2-40B4-BE49-F238E27FC236}">
                <a16:creationId xmlns:a16="http://schemas.microsoft.com/office/drawing/2014/main" id="{A4555DB5-70E7-4359-BCFD-353AD041D2C5}"/>
              </a:ext>
            </a:extLst>
          </p:cNvPr>
          <p:cNvSpPr>
            <a:spLocks xmlns:a="http://schemas.openxmlformats.org/drawingml/2006/main" noGrp="1"/>
          </p:cNvSpPr>
          <p:nvPr/>
        </p:nvSpPr>
        <p:spPr>
          <a:xfrm xmlns:a="http://schemas.openxmlformats.org/drawingml/2006/main">
            <a:off x="609600" y="4448175"/>
            <a:ext cx="3381375" cy="8953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8" name="">
            <a:extLst xmlns:a="http://schemas.openxmlformats.org/drawingml/2006/main">
              <a:ext uri="{FF2B5EF4-FFF2-40B4-BE49-F238E27FC236}">
                <a16:creationId xmlns:a16="http://schemas.microsoft.com/office/drawing/2014/main" id="{631914A3-5F1C-4F19-94BA-5F497D80FFDD}"/>
              </a:ext>
            </a:extLst>
          </p:cNvPr>
          <p:cNvSpPr>
            <a:spLocks xmlns:a="http://schemas.openxmlformats.org/drawingml/2006/main" noGrp="1"/>
          </p:cNvSpPr>
          <p:nvPr/>
        </p:nvSpPr>
        <p:spPr>
          <a:xfrm xmlns:a="http://schemas.openxmlformats.org/drawingml/2006/main">
            <a:off x="800100" y="4657725"/>
            <a:ext cx="300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REST</a:t>
            </a:r>
          </a:p>
        </p:txBody>
      </p:sp>
      <p:sp>
        <p:nvSpPr>
          <p:cNvPr id="9" name="">
            <a:extLst xmlns:a="http://schemas.openxmlformats.org/drawingml/2006/main">
              <a:ext uri="{FF2B5EF4-FFF2-40B4-BE49-F238E27FC236}">
                <a16:creationId xmlns:a16="http://schemas.microsoft.com/office/drawing/2014/main" id="{B3026F85-E647-4FDF-BBF1-4A4419C24CFA}"/>
              </a:ext>
            </a:extLst>
          </p:cNvPr>
          <p:cNvSpPr>
            <a:spLocks xmlns:a="http://schemas.openxmlformats.org/drawingml/2006/main" noGrp="1"/>
          </p:cNvSpPr>
          <p:nvPr/>
        </p:nvSpPr>
        <p:spPr>
          <a:xfrm xmlns:a="http://schemas.openxmlformats.org/drawingml/2006/main">
            <a:off x="4400550" y="4448175"/>
            <a:ext cx="3381375" cy="8953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0" name="">
            <a:extLst xmlns:a="http://schemas.openxmlformats.org/drawingml/2006/main">
              <a:ext uri="{FF2B5EF4-FFF2-40B4-BE49-F238E27FC236}">
                <a16:creationId xmlns:a16="http://schemas.microsoft.com/office/drawing/2014/main" id="{66BEDC9C-D951-44F6-81A5-83D8681FB28D}"/>
              </a:ext>
            </a:extLst>
          </p:cNvPr>
          <p:cNvSpPr>
            <a:spLocks xmlns:a="http://schemas.openxmlformats.org/drawingml/2006/main" noGrp="1"/>
          </p:cNvSpPr>
          <p:nvPr/>
        </p:nvSpPr>
        <p:spPr>
          <a:xfrm xmlns:a="http://schemas.openxmlformats.org/drawingml/2006/main">
            <a:off x="4591050" y="4657725"/>
            <a:ext cx="300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GraphQL</a:t>
            </a:r>
          </a:p>
        </p:txBody>
      </p:sp>
      <p:sp>
        <p:nvSpPr>
          <p:cNvPr id="11" name="">
            <a:extLst xmlns:a="http://schemas.openxmlformats.org/drawingml/2006/main">
              <a:ext uri="{FF2B5EF4-FFF2-40B4-BE49-F238E27FC236}">
                <a16:creationId xmlns:a16="http://schemas.microsoft.com/office/drawing/2014/main" id="{2983BE78-1933-44C0-A12B-54DEEED885F2}"/>
              </a:ext>
            </a:extLst>
          </p:cNvPr>
          <p:cNvSpPr>
            <a:spLocks xmlns:a="http://schemas.openxmlformats.org/drawingml/2006/main" noGrp="1"/>
          </p:cNvSpPr>
          <p:nvPr/>
        </p:nvSpPr>
        <p:spPr>
          <a:xfrm xmlns:a="http://schemas.openxmlformats.org/drawingml/2006/main">
            <a:off x="8191500" y="4448175"/>
            <a:ext cx="3381375" cy="8953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2" name="">
            <a:extLst xmlns:a="http://schemas.openxmlformats.org/drawingml/2006/main">
              <a:ext uri="{FF2B5EF4-FFF2-40B4-BE49-F238E27FC236}">
                <a16:creationId xmlns:a16="http://schemas.microsoft.com/office/drawing/2014/main" id="{FAE6C641-3043-42F8-AB45-475C337E214B}"/>
              </a:ext>
            </a:extLst>
          </p:cNvPr>
          <p:cNvSpPr>
            <a:spLocks xmlns:a="http://schemas.openxmlformats.org/drawingml/2006/main" noGrp="1"/>
          </p:cNvSpPr>
          <p:nvPr/>
        </p:nvSpPr>
        <p:spPr>
          <a:xfrm xmlns:a="http://schemas.openxmlformats.org/drawingml/2006/main">
            <a:off x="8382000" y="4657725"/>
            <a:ext cx="300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Live events</a:t>
            </a:r>
          </a:p>
        </p:txBody>
      </p:sp>
      <p:sp>
        <p:nvSpPr>
          <p:cNvPr id="13" name="">
            <a:extLst xmlns:a="http://schemas.openxmlformats.org/drawingml/2006/main">
              <a:ext uri="{FF2B5EF4-FFF2-40B4-BE49-F238E27FC236}">
                <a16:creationId xmlns:a16="http://schemas.microsoft.com/office/drawing/2014/main" id="{EC3DBC33-AAB0-4F67-B0D0-375ACFF55C2E}"/>
              </a:ext>
            </a:extLst>
          </p:cNvPr>
          <p:cNvSpPr>
            <a:spLocks xmlns:a="http://schemas.openxmlformats.org/drawingml/2006/main" noGrp="1"/>
          </p:cNvSpPr>
          <p:nvPr/>
        </p:nvSpPr>
        <p:spPr>
          <a:xfrm xmlns:a="http://schemas.openxmlformats.org/drawingml/2006/main">
            <a:off x="609600" y="57626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The server change benefits either framework</a:t>
            </a:r>
          </a:p>
        </p:txBody>
      </p:sp>
    </p:spTree>
    <p:extLst>
      <p:ext uri="{BB962C8B-B14F-4D97-AF65-F5344CB8AC3E}">
        <p14:creationId xmlns:p14="http://schemas.microsoft.com/office/powerpoint/2010/main" val="1570839583"/>
      </p:ext>
    </p:extLst>
  </p:cSld>
</p:sld>
</file>

<file path=ppt/slides/slide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F76A2B-78FF-423E-BDE0-C6F9998F6BD4}"/>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Sony: a closer audio-device example</a:t>
            </a:r>
          </a:p>
        </p:txBody>
      </p:sp>
      <p:sp>
        <p:nvSpPr>
          <p:cNvPr id="2" name="">
            <a:extLst xmlns:a="http://schemas.openxmlformats.org/drawingml/2006/main">
              <a:ext uri="{FF2B5EF4-FFF2-40B4-BE49-F238E27FC236}">
                <a16:creationId xmlns:a16="http://schemas.microsoft.com/office/drawing/2014/main" id="{1C29491E-A650-4729-8FE7-2954BB3A5E47}"/>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370DDC08-23A7-4FCC-83D1-394DCFCB08DD}"/>
              </a:ext>
            </a:extLst>
          </p:cNvPr>
          <p:cNvSpPr>
            <a:spLocks xmlns:a="http://schemas.openxmlformats.org/drawingml/2006/main" noGrp="1"/>
          </p:cNvSpPr>
          <p:nvPr/>
        </p:nvSpPr>
        <p:spPr>
          <a:xfrm xmlns:a="http://schemas.openxmlformats.org/drawingml/2006/main">
            <a:off x="609600" y="2238375"/>
            <a:ext cx="438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B2FF00"/>
                </a:solidFill>
                <a:latin typeface="Helvetica Neue"/>
                <a:ea typeface="Helvetica Neue"/>
                <a:cs typeface="Helvetica Neue"/>
              </a:defRPr>
            </a:pPr>
            <a:r>
              <a:rPr sz="4950" b="1">
                <a:solidFill>
                  <a:srgbClr val="B2FF00"/>
                </a:solidFill>
                <a:latin typeface="Helvetica Neue"/>
                <a:ea typeface="Helvetica Neue"/>
                <a:cs typeface="Helvetica Neue"/>
              </a:rPr>
              <a:t>Auto Play</a:t>
            </a:r>
          </a:p>
        </p:txBody>
      </p:sp>
      <p:sp>
        <p:nvSpPr>
          <p:cNvPr id="4" name="">
            <a:extLst xmlns:a="http://schemas.openxmlformats.org/drawingml/2006/main">
              <a:ext uri="{FF2B5EF4-FFF2-40B4-BE49-F238E27FC236}">
                <a16:creationId xmlns:a16="http://schemas.microsoft.com/office/drawing/2014/main" id="{BAB6515F-BFD3-49B0-BAF4-A452DE680686}"/>
              </a:ext>
            </a:extLst>
          </p:cNvPr>
          <p:cNvSpPr>
            <a:spLocks xmlns:a="http://schemas.openxmlformats.org/drawingml/2006/main" noGrp="1"/>
          </p:cNvSpPr>
          <p:nvPr/>
        </p:nvSpPr>
        <p:spPr>
          <a:xfrm xmlns:a="http://schemas.openxmlformats.org/drawingml/2006/main">
            <a:off x="6838950" y="2124075"/>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6F6F2"/>
                </a:solidFill>
                <a:latin typeface="Helvetica Neue"/>
                <a:ea typeface="Helvetica Neue"/>
                <a:cs typeface="Helvetica Neue"/>
              </a:defRPr>
            </a:pPr>
            <a:r>
              <a:rPr sz="4800" b="1">
                <a:solidFill>
                  <a:srgbClr val="F6F6F2"/>
                </a:solidFill>
                <a:latin typeface="Helvetica Neue"/>
                <a:ea typeface="Helvetica Neue"/>
                <a:cs typeface="Helvetica Neue"/>
              </a:rPr>
              <a:t>Sony Sound</a:t>
            </a:r>
          </a:p>
          <a:p xmlns:a="http://schemas.openxmlformats.org/drawingml/2006/main">
            <a:pPr>
              <a:defRPr sz="4800" b="1">
                <a:solidFill>
                  <a:srgbClr val="F6F6F2"/>
                </a:solidFill>
                <a:latin typeface="Helvetica Neue"/>
                <a:ea typeface="Helvetica Neue"/>
                <a:cs typeface="Helvetica Neue"/>
              </a:defRPr>
            </a:pPr>
            <a:r>
              <a:rPr sz="4800" b="1">
                <a:solidFill>
                  <a:srgbClr val="F6F6F2"/>
                </a:solidFill>
                <a:latin typeface="Helvetica Neue"/>
                <a:ea typeface="Helvetica Neue"/>
                <a:cs typeface="Helvetica Neue"/>
              </a:rPr>
              <a:t>Connect</a:t>
            </a:r>
          </a:p>
        </p:txBody>
      </p:sp>
      <p:sp>
        <p:nvSpPr>
          <p:cNvPr id="5" name="">
            <a:extLst xmlns:a="http://schemas.openxmlformats.org/drawingml/2006/main">
              <a:ext uri="{FF2B5EF4-FFF2-40B4-BE49-F238E27FC236}">
                <a16:creationId xmlns:a16="http://schemas.microsoft.com/office/drawing/2014/main" id="{5349323A-3E91-42EC-A9F7-E7125527A5E1}"/>
              </a:ext>
            </a:extLst>
          </p:cNvPr>
          <p:cNvSpPr>
            <a:spLocks xmlns:a="http://schemas.openxmlformats.org/drawingml/2006/main" noGrp="1"/>
          </p:cNvSpPr>
          <p:nvPr/>
        </p:nvSpPr>
        <p:spPr>
          <a:xfrm xmlns:a="http://schemas.openxmlformats.org/drawingml/2006/main">
            <a:off x="4953000" y="2695575"/>
            <a:ext cx="1285875" cy="3810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CBABC3A-134A-40B6-B7D5-11799951C93A}"/>
              </a:ext>
            </a:extLst>
          </p:cNvPr>
          <p:cNvSpPr>
            <a:spLocks xmlns:a="http://schemas.openxmlformats.org/drawingml/2006/main" noGrp="1"/>
          </p:cNvSpPr>
          <p:nvPr/>
        </p:nvSpPr>
        <p:spPr>
          <a:xfrm xmlns:a="http://schemas.openxmlformats.org/drawingml/2006/main">
            <a:off x="609600" y="35242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ACB0AC"/>
                </a:solidFill>
                <a:latin typeface="Helvetica Neue"/>
                <a:ea typeface="Helvetica Neue"/>
                <a:cs typeface="Helvetica Neue"/>
              </a:defRPr>
            </a:pPr>
            <a:r>
              <a:rPr sz="2475" b="0">
                <a:solidFill>
                  <a:srgbClr val="ACB0AC"/>
                </a:solidFill>
                <a:latin typeface="Helvetica Neue"/>
                <a:ea typeface="Helvetica Neue"/>
                <a:cs typeface="Helvetica Neue"/>
              </a:rPr>
              <a:t>KMP feature</a:t>
            </a:r>
          </a:p>
        </p:txBody>
      </p:sp>
      <p:sp>
        <p:nvSpPr>
          <p:cNvPr id="7" name="">
            <a:extLst xmlns:a="http://schemas.openxmlformats.org/drawingml/2006/main">
              <a:ext uri="{FF2B5EF4-FFF2-40B4-BE49-F238E27FC236}">
                <a16:creationId xmlns:a16="http://schemas.microsoft.com/office/drawing/2014/main" id="{5AD56C91-4B90-4685-815B-ACF17F92F82A}"/>
              </a:ext>
            </a:extLst>
          </p:cNvPr>
          <p:cNvSpPr>
            <a:spLocks xmlns:a="http://schemas.openxmlformats.org/drawingml/2006/main" noGrp="1"/>
          </p:cNvSpPr>
          <p:nvPr/>
        </p:nvSpPr>
        <p:spPr>
          <a:xfrm xmlns:a="http://schemas.openxmlformats.org/drawingml/2006/main">
            <a:off x="6838950" y="39814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ACB0AC"/>
                </a:solidFill>
                <a:latin typeface="Helvetica Neue"/>
                <a:ea typeface="Helvetica Neue"/>
                <a:cs typeface="Helvetica Neue"/>
              </a:defRPr>
            </a:pPr>
            <a:r>
              <a:rPr sz="2475" b="0">
                <a:solidFill>
                  <a:srgbClr val="ACB0AC"/>
                </a:solidFill>
                <a:latin typeface="Helvetica Neue"/>
                <a:ea typeface="Helvetica Neue"/>
                <a:cs typeface="Helvetica Neue"/>
              </a:rPr>
              <a:t>Integrated in 2024</a:t>
            </a:r>
          </a:p>
        </p:txBody>
      </p:sp>
      <p:sp>
        <p:nvSpPr>
          <p:cNvPr id="8" name="">
            <a:extLst xmlns:a="http://schemas.openxmlformats.org/drawingml/2006/main">
              <a:ext uri="{FF2B5EF4-FFF2-40B4-BE49-F238E27FC236}">
                <a16:creationId xmlns:a16="http://schemas.microsoft.com/office/drawing/2014/main" id="{83734660-8DF6-47C6-B69E-013DA165F4FD}"/>
              </a:ext>
            </a:extLst>
          </p:cNvPr>
          <p:cNvSpPr>
            <a:spLocks xmlns:a="http://schemas.openxmlformats.org/drawingml/2006/main" noGrp="1"/>
          </p:cNvSpPr>
          <p:nvPr/>
        </p:nvSpPr>
        <p:spPr>
          <a:xfrm xmlns:a="http://schemas.openxmlformats.org/drawingml/2006/main">
            <a:off x="609600" y="5391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2FF00"/>
                </a:solidFill>
                <a:latin typeface="Helvetica Neue"/>
                <a:ea typeface="Helvetica Neue"/>
                <a:cs typeface="Helvetica Neue"/>
              </a:defRPr>
            </a:pPr>
            <a:r>
              <a:rPr sz="2850" b="1">
                <a:solidFill>
                  <a:srgbClr val="B2FF00"/>
                </a:solidFill>
                <a:latin typeface="Helvetica Neue"/>
                <a:ea typeface="Helvetica Neue"/>
                <a:cs typeface="Helvetica Neue"/>
              </a:rPr>
              <a:t>An audio companion app. Incremental adoption.</a:t>
            </a:r>
          </a:p>
        </p:txBody>
      </p:sp>
    </p:spTree>
    <p:extLst>
      <p:ext uri="{BB962C8B-B14F-4D97-AF65-F5344CB8AC3E}">
        <p14:creationId xmlns:p14="http://schemas.microsoft.com/office/powerpoint/2010/main" val="289531878"/>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CEF02D-02D1-49C1-A2E9-78AB5D44E3C9}"/>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Adoption evidence</a:t>
            </a:r>
          </a:p>
        </p:txBody>
      </p:sp>
      <p:sp>
        <p:nvSpPr>
          <p:cNvPr id="2" name="">
            <a:extLst xmlns:a="http://schemas.openxmlformats.org/drawingml/2006/main">
              <a:ext uri="{FF2B5EF4-FFF2-40B4-BE49-F238E27FC236}">
                <a16:creationId xmlns:a16="http://schemas.microsoft.com/office/drawing/2014/main" id="{34F0390B-B24E-4734-B828-7524312B799D}"/>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CAD9E1A3-9596-4D84-88CE-0AC5C223342D}"/>
              </a:ext>
            </a:extLst>
          </p:cNvPr>
          <p:cNvSpPr>
            <a:spLocks xmlns:a="http://schemas.openxmlformats.org/drawingml/2006/main" noGrp="1"/>
          </p:cNvSpPr>
          <p:nvPr/>
        </p:nvSpPr>
        <p:spPr>
          <a:xfrm xmlns:a="http://schemas.openxmlformats.org/drawingml/2006/main">
            <a:off x="609600" y="2171700"/>
            <a:ext cx="342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ACB0AC"/>
                </a:solidFill>
                <a:latin typeface="Helvetica Neue"/>
                <a:ea typeface="Helvetica Neue"/>
                <a:cs typeface="Helvetica Neue"/>
              </a:defRPr>
            </a:pPr>
            <a:r>
              <a:rPr sz="8700" b="1">
                <a:solidFill>
                  <a:srgbClr val="ACB0AC"/>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094E408E-CDFC-4E60-BF77-A522D723BACF}"/>
              </a:ext>
            </a:extLst>
          </p:cNvPr>
          <p:cNvSpPr>
            <a:spLocks xmlns:a="http://schemas.openxmlformats.org/drawingml/2006/main" noGrp="1"/>
          </p:cNvSpPr>
          <p:nvPr/>
        </p:nvSpPr>
        <p:spPr>
          <a:xfrm xmlns:a="http://schemas.openxmlformats.org/drawingml/2006/main">
            <a:off x="5010150" y="2171700"/>
            <a:ext cx="390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B2FF00"/>
                </a:solidFill>
                <a:latin typeface="Helvetica Neue"/>
                <a:ea typeface="Helvetica Neue"/>
                <a:cs typeface="Helvetica Neue"/>
              </a:defRPr>
            </a:pPr>
            <a:r>
              <a:rPr sz="8700" b="1">
                <a:solidFill>
                  <a:srgbClr val="B2FF00"/>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77CFEB59-471F-42CA-BB09-E858B5A26E7F}"/>
              </a:ext>
            </a:extLst>
          </p:cNvPr>
          <p:cNvSpPr>
            <a:spLocks xmlns:a="http://schemas.openxmlformats.org/drawingml/2006/main" noGrp="1"/>
          </p:cNvSpPr>
          <p:nvPr/>
        </p:nvSpPr>
        <p:spPr>
          <a:xfrm xmlns:a="http://schemas.openxmlformats.org/drawingml/2006/main">
            <a:off x="695325" y="38671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ACB0AC"/>
                </a:solidFill>
                <a:latin typeface="Helvetica Neue"/>
                <a:ea typeface="Helvetica Neue"/>
                <a:cs typeface="Helvetica Neue"/>
              </a:defRPr>
            </a:pPr>
            <a:r>
              <a:rPr sz="2625" b="0">
                <a:solidFill>
                  <a:srgbClr val="ACB0AC"/>
                </a:solidFill>
                <a:latin typeface="Helvetica Neue"/>
                <a:ea typeface="Helvetica Neue"/>
                <a:cs typeface="Helvetica Neue"/>
              </a:rPr>
              <a:t>2024</a:t>
            </a:r>
          </a:p>
        </p:txBody>
      </p:sp>
      <p:sp>
        <p:nvSpPr>
          <p:cNvPr id="6" name="">
            <a:extLst xmlns:a="http://schemas.openxmlformats.org/drawingml/2006/main">
              <a:ext uri="{FF2B5EF4-FFF2-40B4-BE49-F238E27FC236}">
                <a16:creationId xmlns:a16="http://schemas.microsoft.com/office/drawing/2014/main" id="{E876867B-7AAE-4F7B-A0E8-A962DDA29EB5}"/>
              </a:ext>
            </a:extLst>
          </p:cNvPr>
          <p:cNvSpPr>
            <a:spLocks xmlns:a="http://schemas.openxmlformats.org/drawingml/2006/main" noGrp="1"/>
          </p:cNvSpPr>
          <p:nvPr/>
        </p:nvSpPr>
        <p:spPr>
          <a:xfrm xmlns:a="http://schemas.openxmlformats.org/drawingml/2006/main">
            <a:off x="5095875" y="38671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6F6F2"/>
                </a:solidFill>
                <a:latin typeface="Helvetica Neue"/>
                <a:ea typeface="Helvetica Neue"/>
                <a:cs typeface="Helvetica Neue"/>
              </a:defRPr>
            </a:pPr>
            <a:r>
              <a:rPr sz="2625" b="0">
                <a:solidFill>
                  <a:srgbClr val="F6F6F2"/>
                </a:solidFill>
                <a:latin typeface="Helvetica Neue"/>
                <a:ea typeface="Helvetica Neue"/>
                <a:cs typeface="Helvetica Neue"/>
              </a:rPr>
              <a:t>2025</a:t>
            </a:r>
          </a:p>
        </p:txBody>
      </p:sp>
      <p:sp>
        <p:nvSpPr>
          <p:cNvPr id="7" name="">
            <a:extLst xmlns:a="http://schemas.openxmlformats.org/drawingml/2006/main">
              <a:ext uri="{FF2B5EF4-FFF2-40B4-BE49-F238E27FC236}">
                <a16:creationId xmlns:a16="http://schemas.microsoft.com/office/drawing/2014/main" id="{D66D1705-B6F2-4168-95BA-C4AC2F84DE48}"/>
              </a:ext>
            </a:extLst>
          </p:cNvPr>
          <p:cNvSpPr>
            <a:spLocks xmlns:a="http://schemas.openxmlformats.org/drawingml/2006/main" noGrp="1"/>
          </p:cNvSpPr>
          <p:nvPr/>
        </p:nvSpPr>
        <p:spPr>
          <a:xfrm xmlns:a="http://schemas.openxmlformats.org/drawingml/2006/main">
            <a:off x="609600" y="49434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F6F6F2"/>
                </a:solidFill>
                <a:latin typeface="Helvetica Neue"/>
                <a:ea typeface="Helvetica Neue"/>
                <a:cs typeface="Helvetica Neue"/>
              </a:defRPr>
            </a:pPr>
            <a:r>
              <a:rPr sz="2775" b="0">
                <a:solidFill>
                  <a:srgbClr val="F6F6F2"/>
                </a:solidFill>
                <a:latin typeface="Helvetica Neue"/>
                <a:ea typeface="Helvetica Neue"/>
                <a:cs typeface="Helvetica Neue"/>
              </a:rPr>
              <a:t>KMP usage among surveyed</a:t>
            </a:r>
          </a:p>
          <a:p xmlns:a="http://schemas.openxmlformats.org/drawingml/2006/main">
            <a:pPr>
              <a:defRPr sz="2775" b="0">
                <a:solidFill>
                  <a:srgbClr val="F6F6F2"/>
                </a:solidFill>
                <a:latin typeface="Helvetica Neue"/>
                <a:ea typeface="Helvetica Neue"/>
                <a:cs typeface="Helvetica Neue"/>
              </a:defRPr>
            </a:pPr>
            <a:r>
              <a:rPr sz="2775" b="0">
                <a:solidFill>
                  <a:srgbClr val="F6F6F2"/>
                </a:solidFill>
                <a:latin typeface="Helvetica Neue"/>
                <a:ea typeface="Helvetica Neue"/>
                <a:cs typeface="Helvetica Neue"/>
              </a:rPr>
              <a:t>cross-platform developers</a:t>
            </a:r>
          </a:p>
        </p:txBody>
      </p:sp>
      <p:sp>
        <p:nvSpPr>
          <p:cNvPr id="8" name="">
            <a:extLst xmlns:a="http://schemas.openxmlformats.org/drawingml/2006/main">
              <a:ext uri="{FF2B5EF4-FFF2-40B4-BE49-F238E27FC236}">
                <a16:creationId xmlns:a16="http://schemas.microsoft.com/office/drawing/2014/main" id="{232A9E62-21D6-41AB-9F42-0ACFE66A5F68}"/>
              </a:ext>
            </a:extLst>
          </p:cNvPr>
          <p:cNvSpPr>
            <a:spLocks xmlns:a="http://schemas.openxmlformats.org/drawingml/2006/main" noGrp="1"/>
          </p:cNvSpPr>
          <p:nvPr/>
        </p:nvSpPr>
        <p:spPr>
          <a:xfrm xmlns:a="http://schemas.openxmlformats.org/drawingml/2006/main">
            <a:off x="609600" y="599122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CB0AC"/>
                </a:solidFill>
                <a:latin typeface="Helvetica Neue"/>
                <a:ea typeface="Helvetica Neue"/>
                <a:cs typeface="Helvetica Neue"/>
              </a:defRPr>
            </a:pPr>
            <a:r>
              <a:rPr sz="1650" b="0">
                <a:solidFill>
                  <a:srgbClr val="ACB0AC"/>
                </a:solidFill>
                <a:latin typeface="Helvetica Neue"/>
                <a:ea typeface="Helvetica Neue"/>
                <a:cs typeface="Helvetica Neue"/>
              </a:rPr>
              <a:t>JetBrains Developer Ecosystem surveys</a:t>
            </a:r>
          </a:p>
        </p:txBody>
      </p:sp>
    </p:spTree>
    <p:extLst>
      <p:ext uri="{BB962C8B-B14F-4D97-AF65-F5344CB8AC3E}">
        <p14:creationId xmlns:p14="http://schemas.microsoft.com/office/powerpoint/2010/main" val="1028536546"/>
      </p:ext>
    </p:extLst>
  </p:cSld>
</p:sld>
</file>

<file path=ppt/slides/slide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753006-8CA0-403F-B5E2-F13E478EE089}"/>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Reuse follows the platform boundary</a:t>
            </a:r>
          </a:p>
        </p:txBody>
      </p:sp>
      <p:sp>
        <p:nvSpPr>
          <p:cNvPr id="2" name="">
            <a:extLst xmlns:a="http://schemas.openxmlformats.org/drawingml/2006/main">
              <a:ext uri="{FF2B5EF4-FFF2-40B4-BE49-F238E27FC236}">
                <a16:creationId xmlns:a16="http://schemas.microsoft.com/office/drawing/2014/main" id="{3A27AB09-BC5F-4931-9451-F38D8A69FBB8}"/>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629DA15B-7DBF-4D76-A344-450498F6EEBB}"/>
              </a:ext>
            </a:extLst>
          </p:cNvPr>
          <p:cNvSpPr>
            <a:spLocks xmlns:a="http://schemas.openxmlformats.org/drawingml/2006/main" noGrp="1"/>
          </p:cNvSpPr>
          <p:nvPr/>
        </p:nvSpPr>
        <p:spPr>
          <a:xfrm xmlns:a="http://schemas.openxmlformats.org/drawingml/2006/main">
            <a:off x="609600" y="211455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2FF00"/>
                </a:solidFill>
                <a:latin typeface="Helvetica Neue"/>
                <a:ea typeface="Helvetica Neue"/>
                <a:cs typeface="Helvetica Neue"/>
              </a:defRPr>
            </a:pPr>
            <a:r>
              <a:rPr sz="2550" b="1">
                <a:solidFill>
                  <a:srgbClr val="B2FF00"/>
                </a:solidFill>
                <a:latin typeface="Helvetica Neue"/>
                <a:ea typeface="Helvetica Neue"/>
                <a:cs typeface="Helvetica Neue"/>
              </a:rPr>
              <a:t>SHARE</a:t>
            </a:r>
          </a:p>
        </p:txBody>
      </p:sp>
      <p:sp>
        <p:nvSpPr>
          <p:cNvPr id="4" name="">
            <a:extLst xmlns:a="http://schemas.openxmlformats.org/drawingml/2006/main">
              <a:ext uri="{FF2B5EF4-FFF2-40B4-BE49-F238E27FC236}">
                <a16:creationId xmlns:a16="http://schemas.microsoft.com/office/drawing/2014/main" id="{F0B8E74C-7EE3-4792-9E93-1B26A45E3A86}"/>
              </a:ext>
            </a:extLst>
          </p:cNvPr>
          <p:cNvSpPr>
            <a:spLocks xmlns:a="http://schemas.openxmlformats.org/drawingml/2006/main" noGrp="1"/>
          </p:cNvSpPr>
          <p:nvPr/>
        </p:nvSpPr>
        <p:spPr>
          <a:xfrm xmlns:a="http://schemas.openxmlformats.org/drawingml/2006/main">
            <a:off x="609600" y="2924175"/>
            <a:ext cx="5715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Kotlin models</a:t>
            </a:r>
          </a:p>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Business rules</a:t>
            </a:r>
          </a:p>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Use cases</a:t>
            </a:r>
          </a:p>
        </p:txBody>
      </p:sp>
      <p:sp>
        <p:nvSpPr>
          <p:cNvPr id="5" name="">
            <a:extLst xmlns:a="http://schemas.openxmlformats.org/drawingml/2006/main">
              <a:ext uri="{FF2B5EF4-FFF2-40B4-BE49-F238E27FC236}">
                <a16:creationId xmlns:a16="http://schemas.microsoft.com/office/drawing/2014/main" id="{861EC991-E7D9-4773-9340-83BF5CC7CA72}"/>
              </a:ext>
            </a:extLst>
          </p:cNvPr>
          <p:cNvSpPr>
            <a:spLocks xmlns:a="http://schemas.openxmlformats.org/drawingml/2006/main" noGrp="1"/>
          </p:cNvSpPr>
          <p:nvPr/>
        </p:nvSpPr>
        <p:spPr>
          <a:xfrm xmlns:a="http://schemas.openxmlformats.org/drawingml/2006/main">
            <a:off x="7219950" y="2114550"/>
            <a:ext cx="433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2FF00"/>
                </a:solidFill>
                <a:latin typeface="Helvetica Neue"/>
                <a:ea typeface="Helvetica Neue"/>
                <a:cs typeface="Helvetica Neue"/>
              </a:defRPr>
            </a:pPr>
            <a:r>
              <a:rPr sz="2550" b="1">
                <a:solidFill>
                  <a:srgbClr val="B2FF00"/>
                </a:solidFill>
                <a:latin typeface="Helvetica Neue"/>
                <a:ea typeface="Helvetica Neue"/>
                <a:cs typeface="Helvetica Neue"/>
              </a:rPr>
              <a:t>KEEP NATIVE</a:t>
            </a:r>
          </a:p>
        </p:txBody>
      </p:sp>
      <p:sp>
        <p:nvSpPr>
          <p:cNvPr id="6" name="">
            <a:extLst xmlns:a="http://schemas.openxmlformats.org/drawingml/2006/main">
              <a:ext uri="{FF2B5EF4-FFF2-40B4-BE49-F238E27FC236}">
                <a16:creationId xmlns:a16="http://schemas.microsoft.com/office/drawing/2014/main" id="{894B08D1-4BE1-4D2A-9748-9A62D6B3F7BF}"/>
              </a:ext>
            </a:extLst>
          </p:cNvPr>
          <p:cNvSpPr>
            <a:spLocks xmlns:a="http://schemas.openxmlformats.org/drawingml/2006/main" noGrp="1"/>
          </p:cNvSpPr>
          <p:nvPr/>
        </p:nvSpPr>
        <p:spPr>
          <a:xfrm xmlns:a="http://schemas.openxmlformats.org/drawingml/2006/main">
            <a:off x="7219950" y="2924175"/>
            <a:ext cx="4333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Screens</a:t>
            </a:r>
          </a:p>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OS integrations</a:t>
            </a:r>
          </a:p>
        </p:txBody>
      </p:sp>
      <p:sp>
        <p:nvSpPr>
          <p:cNvPr id="7" name="">
            <a:extLst xmlns:a="http://schemas.openxmlformats.org/drawingml/2006/main">
              <a:ext uri="{FF2B5EF4-FFF2-40B4-BE49-F238E27FC236}">
                <a16:creationId xmlns:a16="http://schemas.microsoft.com/office/drawing/2014/main" id="{5D8A74C0-A642-4E36-A0C7-E0E6BE3A3073}"/>
              </a:ext>
            </a:extLst>
          </p:cNvPr>
          <p:cNvSpPr>
            <a:spLocks xmlns:a="http://schemas.openxmlformats.org/drawingml/2006/main" noGrp="1"/>
          </p:cNvSpPr>
          <p:nvPr/>
        </p:nvSpPr>
        <p:spPr>
          <a:xfrm xmlns:a="http://schemas.openxmlformats.org/drawingml/2006/main">
            <a:off x="609600" y="57340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CB0AC"/>
                </a:solidFill>
                <a:latin typeface="Helvetica Neue"/>
                <a:ea typeface="Helvetica Neue"/>
                <a:cs typeface="Helvetica Neue"/>
              </a:defRPr>
            </a:pPr>
            <a:r>
              <a:rPr sz="2100" b="0">
                <a:solidFill>
                  <a:srgbClr val="ACB0AC"/>
                </a:solidFill>
                <a:latin typeface="Helvetica Neue"/>
                <a:ea typeface="Helvetica Neue"/>
                <a:cs typeface="Helvetica Neue"/>
              </a:rPr>
              <a:t>Android-specific dependencies need adaptation</a:t>
            </a:r>
          </a:p>
        </p:txBody>
      </p:sp>
    </p:spTree>
    <p:extLst>
      <p:ext uri="{BB962C8B-B14F-4D97-AF65-F5344CB8AC3E}">
        <p14:creationId xmlns:p14="http://schemas.microsoft.com/office/powerpoint/2010/main" val="1444121331"/>
      </p:ext>
    </p:extLst>
  </p:cSld>
</p:sld>
</file>

<file path=ppt/slides/slide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FB9395-FF71-4353-A670-982C16590439}"/>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The choice depends on our starting point</a:t>
            </a:r>
          </a:p>
        </p:txBody>
      </p:sp>
      <p:sp>
        <p:nvSpPr>
          <p:cNvPr id="2" name="">
            <a:extLst xmlns:a="http://schemas.openxmlformats.org/drawingml/2006/main">
              <a:ext uri="{FF2B5EF4-FFF2-40B4-BE49-F238E27FC236}">
                <a16:creationId xmlns:a16="http://schemas.microsoft.com/office/drawing/2014/main" id="{9B749E15-0419-4B4B-8AB3-018085176E56}"/>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08</a:t>
            </a:r>
          </a:p>
        </p:txBody>
      </p:sp>
      <p:graphicFrame>
        <p:nvGraphicFramePr>
          <p:cNvPr id="7" name=""/>
          <p:cNvGraphicFramePr/>
          <p:nvPr/>
        </p:nvGraphicFramePr>
        <p:xfrm>
          <a:off xmlns:a="http://schemas.openxmlformats.org/drawingml/2006/main" x="609600" y="2114550"/>
          <a:ext xmlns:a="http://schemas.openxmlformats.org/drawingml/2006/main" cx="10972800" cy="2781300"/>
        </p:xfrm>
        <a:graphic xmlns:a="http://schemas.openxmlformats.org/drawingml/2006/main">
          <a:graphicData uri="http://schemas.openxmlformats.org/drawingml/2006/table">
            <a:tbl>
              <a:tblPr/>
              <a:tblGrid>
                <a:gridCol w="5486400"/>
                <a:gridCol w="5486400"/>
              </a:tblGrid>
              <a:tr h="695325">
                <a:tc>
                  <a:txBody>
                    <a:bodyPr>
                      <a:noAutofit/>
                    </a:bodyPr>
                    <a:lstStyle/>
                    <a:p>
                      <a:r>
                        <a:rPr sz="2400" b="1">
                          <a:solidFill>
                            <a:srgbClr val="050505"/>
                          </a:solidFill>
                          <a:latin typeface="Helvetica Neue"/>
                          <a:ea typeface="Helvetica Neue"/>
                          <a:cs typeface="Helvetica Neue"/>
                        </a:rPr>
                        <a:t>KMP</a:t>
                      </a:r>
                    </a:p>
                  </a:txBody>
                  <a:tcPr marL="91440" marR="91440" marT="45720" marB="45720">
                    <a:solidFill>
                      <a:srgbClr val="B2FF00"/>
                    </a:solidFill>
                  </a:tcPr>
                </a:tc>
                <a:tc>
                  <a:txBody>
                    <a:bodyPr>
                      <a:noAutofit/>
                    </a:bodyPr>
                    <a:lstStyle/>
                    <a:p>
                      <a:r>
                        <a:rPr sz="2400" b="1">
                          <a:solidFill>
                            <a:srgbClr val="050505"/>
                          </a:solidFill>
                          <a:latin typeface="Helvetica Neue"/>
                          <a:ea typeface="Helvetica Neue"/>
                          <a:cs typeface="Helvetica Neue"/>
                        </a:rPr>
                        <a:t>React Native</a:t>
                      </a:r>
                    </a:p>
                  </a:txBody>
                  <a:tcPr marL="91440" marR="91440" marT="45720" marB="45720">
                    <a:solidFill>
                      <a:srgbClr val="B2FF00"/>
                    </a:solidFill>
                  </a:tcPr>
                </a:tc>
              </a:tr>
              <a:tr h="695325">
                <a:tc>
                  <a:txBody>
                    <a:bodyPr>
                      <a:noAutofit/>
                    </a:bodyPr>
                    <a:lstStyle/>
                    <a:p>
                      <a:r>
                        <a:rPr sz="2400" b="0">
                          <a:solidFill>
                            <a:srgbClr val="F6F6F2"/>
                          </a:solidFill>
                          <a:latin typeface="Helvetica Neue"/>
                          <a:ea typeface="Helvetica Neue"/>
                          <a:cs typeface="Helvetica Neue"/>
                        </a:rPr>
                        <a:t>Kotlin shared core</a:t>
                      </a:r>
                    </a:p>
                  </a:txBody>
                  <a:tcPr marL="91440" marR="91440" marT="45720" marB="45720">
                    <a:solidFill>
                      <a:srgbClr val="050505"/>
                    </a:solidFill>
                  </a:tcPr>
                </a:tc>
                <a:tc>
                  <a:txBody>
                    <a:bodyPr>
                      <a:noAutofit/>
                    </a:bodyPr>
                    <a:lstStyle/>
                    <a:p>
                      <a:r>
                        <a:rPr sz="2400" b="0">
                          <a:solidFill>
                            <a:srgbClr val="F6F6F2"/>
                          </a:solidFill>
                          <a:latin typeface="Helvetica Neue"/>
                          <a:ea typeface="Helvetica Neue"/>
                          <a:cs typeface="Helvetica Neue"/>
                        </a:rPr>
                        <a:t>React / TypeScript stack</a:t>
                      </a:r>
                    </a:p>
                  </a:txBody>
                  <a:tcPr marL="91440" marR="91440" marT="45720" marB="45720">
                    <a:solidFill>
                      <a:srgbClr val="050505"/>
                    </a:solidFill>
                  </a:tcPr>
                </a:tc>
              </a:tr>
              <a:tr h="695325">
                <a:tc>
                  <a:txBody>
                    <a:bodyPr>
                      <a:noAutofit/>
                    </a:bodyPr>
                    <a:lstStyle/>
                    <a:p>
                      <a:r>
                        <a:rPr sz="2400" b="0">
                          <a:solidFill>
                            <a:srgbClr val="F6F6F2"/>
                          </a:solidFill>
                          <a:latin typeface="Helvetica Neue"/>
                          <a:ea typeface="Helvetica Neue"/>
                          <a:cs typeface="Helvetica Neue"/>
                        </a:rPr>
                        <a:t>Native screens can stay</a:t>
                      </a:r>
                    </a:p>
                  </a:txBody>
                  <a:tcPr marL="91440" marR="91440" marT="45720" marB="45720">
                    <a:solidFill>
                      <a:srgbClr val="050505"/>
                    </a:solidFill>
                  </a:tcPr>
                </a:tc>
                <a:tc>
                  <a:txBody>
                    <a:bodyPr>
                      <a:noAutofit/>
                    </a:bodyPr>
                    <a:lstStyle/>
                    <a:p>
                      <a:r>
                        <a:rPr sz="2400" b="0">
                          <a:solidFill>
                            <a:srgbClr val="F6F6F2"/>
                          </a:solidFill>
                          <a:latin typeface="Helvetica Neue"/>
                          <a:ea typeface="Helvetica Neue"/>
                          <a:cs typeface="Helvetica Neue"/>
                        </a:rPr>
                        <a:t>Shared React Native screens</a:t>
                      </a:r>
                    </a:p>
                  </a:txBody>
                  <a:tcPr marL="91440" marR="91440" marT="45720" marB="45720">
                    <a:solidFill>
                      <a:srgbClr val="050505"/>
                    </a:solidFill>
                  </a:tcPr>
                </a:tc>
              </a:tr>
              <a:tr h="695325">
                <a:tc>
                  <a:txBody>
                    <a:bodyPr>
                      <a:noAutofit/>
                    </a:bodyPr>
                    <a:lstStyle/>
                    <a:p>
                      <a:r>
                        <a:rPr sz="2400" b="0">
                          <a:solidFill>
                            <a:srgbClr val="F6F6F2"/>
                          </a:solidFill>
                          <a:latin typeface="Helvetica Neue"/>
                          <a:ea typeface="Helvetica Neue"/>
                          <a:cs typeface="Helvetica Neue"/>
                        </a:rPr>
                        <a:t>Builds on our Kotlin skills</a:t>
                      </a:r>
                    </a:p>
                  </a:txBody>
                  <a:tcPr marL="91440" marR="91440" marT="45720" marB="45720">
                    <a:solidFill>
                      <a:srgbClr val="050505"/>
                    </a:solidFill>
                  </a:tcPr>
                </a:tc>
                <a:tc>
                  <a:txBody>
                    <a:bodyPr>
                      <a:noAutofit/>
                    </a:bodyPr>
                    <a:lstStyle/>
                    <a:p>
                      <a:r>
                        <a:rPr sz="2400" b="0">
                          <a:solidFill>
                            <a:srgbClr val="F6F6F2"/>
                          </a:solidFill>
                          <a:latin typeface="Helvetica Neue"/>
                          <a:ea typeface="Helvetica Neue"/>
                          <a:cs typeface="Helvetica Neue"/>
                        </a:rPr>
                        <a:t>Fits a React-led UI strategy</a:t>
                      </a:r>
                    </a:p>
                  </a:txBody>
                  <a:tcPr marL="91440" marR="91440" marT="45720" marB="45720">
                    <a:solidFill>
                      <a:srgbClr val="050505"/>
                    </a:solidFill>
                  </a:tcPr>
                </a:tc>
              </a:tr>
            </a:tbl>
          </a:graphicData>
        </a:graphic>
      </p:graphicFrame>
      <p:sp>
        <p:nvSpPr>
          <p:cNvPr id="4" name="">
            <a:extLst xmlns:a="http://schemas.openxmlformats.org/drawingml/2006/main">
              <a:ext uri="{FF2B5EF4-FFF2-40B4-BE49-F238E27FC236}">
                <a16:creationId xmlns:a16="http://schemas.microsoft.com/office/drawing/2014/main" id="{03DA74C9-545F-4D5F-B3EB-9A051B85C1CE}"/>
              </a:ext>
            </a:extLst>
          </p:cNvPr>
          <p:cNvSpPr>
            <a:spLocks xmlns:a="http://schemas.openxmlformats.org/drawingml/2006/main" noGrp="1"/>
          </p:cNvSpPr>
          <p:nvPr/>
        </p:nvSpPr>
        <p:spPr>
          <a:xfrm xmlns:a="http://schemas.openxmlformats.org/drawingml/2006/main">
            <a:off x="609600" y="5438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B2FF00"/>
                </a:solidFill>
                <a:latin typeface="Helvetica Neue"/>
                <a:ea typeface="Helvetica Neue"/>
                <a:cs typeface="Helvetica Neue"/>
              </a:defRPr>
            </a:pPr>
            <a:r>
              <a:rPr sz="2625" b="1">
                <a:solidFill>
                  <a:srgbClr val="B2FF00"/>
                </a:solidFill>
                <a:latin typeface="Helvetica Neue"/>
                <a:ea typeface="Helvetica Neue"/>
                <a:cs typeface="Helvetica Neue"/>
              </a:rPr>
              <a:t>Both support device APIs and native integrations</a:t>
            </a:r>
          </a:p>
        </p:txBody>
      </p:sp>
    </p:spTree>
    <p:extLst>
      <p:ext uri="{BB962C8B-B14F-4D97-AF65-F5344CB8AC3E}">
        <p14:creationId xmlns:p14="http://schemas.microsoft.com/office/powerpoint/2010/main" val="1576917868"/>
      </p:ext>
    </p:extLst>
  </p:cSld>
</p:sld>
</file>

<file path=ppt/slides/slide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57CE862-EB0F-4DAD-953C-3613022076DA}"/>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The PoC foundation</a:t>
            </a:r>
          </a:p>
        </p:txBody>
      </p:sp>
      <p:sp>
        <p:nvSpPr>
          <p:cNvPr id="2" name="">
            <a:extLst xmlns:a="http://schemas.openxmlformats.org/drawingml/2006/main">
              <a:ext uri="{FF2B5EF4-FFF2-40B4-BE49-F238E27FC236}">
                <a16:creationId xmlns:a16="http://schemas.microsoft.com/office/drawing/2014/main" id="{424C7D5C-1708-41D9-968D-A08E8FB44D37}"/>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BE701C9F-87AF-4032-B639-4BEC02C3695F}"/>
              </a:ext>
            </a:extLst>
          </p:cNvPr>
          <p:cNvSpPr>
            <a:spLocks xmlns:a="http://schemas.openxmlformats.org/drawingml/2006/main" noGrp="1"/>
          </p:cNvSpPr>
          <p:nvPr/>
        </p:nvSpPr>
        <p:spPr>
          <a:xfrm xmlns:a="http://schemas.openxmlformats.org/drawingml/2006/main">
            <a:off x="609600" y="2076450"/>
            <a:ext cx="10972800" cy="64770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4" name="">
            <a:extLst xmlns:a="http://schemas.openxmlformats.org/drawingml/2006/main">
              <a:ext uri="{FF2B5EF4-FFF2-40B4-BE49-F238E27FC236}">
                <a16:creationId xmlns:a16="http://schemas.microsoft.com/office/drawing/2014/main" id="{4DC4E56A-7287-4D89-BC38-1A7FA3F4B09D}"/>
              </a:ext>
            </a:extLst>
          </p:cNvPr>
          <p:cNvSpPr>
            <a:spLocks xmlns:a="http://schemas.openxmlformats.org/drawingml/2006/main" noGrp="1"/>
          </p:cNvSpPr>
          <p:nvPr/>
        </p:nvSpPr>
        <p:spPr>
          <a:xfrm xmlns:a="http://schemas.openxmlformats.org/drawingml/2006/main">
            <a:off x="800100" y="2286000"/>
            <a:ext cx="10591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Presentation</a:t>
            </a:r>
          </a:p>
        </p:txBody>
      </p:sp>
      <p:sp>
        <p:nvSpPr>
          <p:cNvPr id="5" name="">
            <a:extLst xmlns:a="http://schemas.openxmlformats.org/drawingml/2006/main">
              <a:ext uri="{FF2B5EF4-FFF2-40B4-BE49-F238E27FC236}">
                <a16:creationId xmlns:a16="http://schemas.microsoft.com/office/drawing/2014/main" id="{6C44F10F-97F3-49AF-8B42-A38BCD77D431}"/>
              </a:ext>
            </a:extLst>
          </p:cNvPr>
          <p:cNvSpPr>
            <a:spLocks xmlns:a="http://schemas.openxmlformats.org/drawingml/2006/main" noGrp="1"/>
          </p:cNvSpPr>
          <p:nvPr/>
        </p:nvSpPr>
        <p:spPr>
          <a:xfrm xmlns:a="http://schemas.openxmlformats.org/drawingml/2006/main">
            <a:off x="609600" y="2933700"/>
            <a:ext cx="10972800" cy="647700"/>
          </a:xfrm>
          <a:prstGeom xmlns:a="http://schemas.openxmlformats.org/drawingml/2006/main" prst="rect">
            <a:avLst/>
          </a:prstGeom>
          <a:solidFill xmlns:a="http://schemas.openxmlformats.org/drawingml/2006/main">
            <a:srgbClr val="B2FF00"/>
          </a:solidFill>
          <a:ln xmlns:a="http://schemas.openxmlformats.org/drawingml/2006/main" w="9525">
            <a:solidFill>
              <a:srgbClr val="394239"/>
            </a:solidFill>
          </a:ln>
        </p:spPr>
      </p:sp>
      <p:sp>
        <p:nvSpPr>
          <p:cNvPr id="6" name="">
            <a:extLst xmlns:a="http://schemas.openxmlformats.org/drawingml/2006/main">
              <a:ext uri="{FF2B5EF4-FFF2-40B4-BE49-F238E27FC236}">
                <a16:creationId xmlns:a16="http://schemas.microsoft.com/office/drawing/2014/main" id="{A12024AB-7DA5-42FD-81CF-D054DB79FF92}"/>
              </a:ext>
            </a:extLst>
          </p:cNvPr>
          <p:cNvSpPr>
            <a:spLocks xmlns:a="http://schemas.openxmlformats.org/drawingml/2006/main" noGrp="1"/>
          </p:cNvSpPr>
          <p:nvPr/>
        </p:nvSpPr>
        <p:spPr>
          <a:xfrm xmlns:a="http://schemas.openxmlformats.org/drawingml/2006/main">
            <a:off x="800100" y="3143250"/>
            <a:ext cx="10591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50505"/>
                </a:solidFill>
                <a:latin typeface="Helvetica Neue"/>
                <a:ea typeface="Helvetica Neue"/>
                <a:cs typeface="Helvetica Neue"/>
              </a:defRPr>
            </a:pPr>
            <a:r>
              <a:rPr sz="2400" b="1">
                <a:solidFill>
                  <a:srgbClr val="050505"/>
                </a:solidFill>
                <a:latin typeface="Helvetica Neue"/>
                <a:ea typeface="Helvetica Neue"/>
                <a:cs typeface="Helvetica Neue"/>
              </a:rPr>
              <a:t>Use cases</a:t>
            </a:r>
          </a:p>
        </p:txBody>
      </p:sp>
      <p:sp>
        <p:nvSpPr>
          <p:cNvPr id="7" name="">
            <a:extLst xmlns:a="http://schemas.openxmlformats.org/drawingml/2006/main">
              <a:ext uri="{FF2B5EF4-FFF2-40B4-BE49-F238E27FC236}">
                <a16:creationId xmlns:a16="http://schemas.microsoft.com/office/drawing/2014/main" id="{7FDC0BA2-C112-4D6A-B976-3EB546E833BD}"/>
              </a:ext>
            </a:extLst>
          </p:cNvPr>
          <p:cNvSpPr>
            <a:spLocks xmlns:a="http://schemas.openxmlformats.org/drawingml/2006/main" noGrp="1"/>
          </p:cNvSpPr>
          <p:nvPr/>
        </p:nvSpPr>
        <p:spPr>
          <a:xfrm xmlns:a="http://schemas.openxmlformats.org/drawingml/2006/main">
            <a:off x="609600" y="3790950"/>
            <a:ext cx="10972800" cy="64770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8" name="">
            <a:extLst xmlns:a="http://schemas.openxmlformats.org/drawingml/2006/main">
              <a:ext uri="{FF2B5EF4-FFF2-40B4-BE49-F238E27FC236}">
                <a16:creationId xmlns:a16="http://schemas.microsoft.com/office/drawing/2014/main" id="{AA914263-ABB3-4BE5-AFE1-7C33EFC44279}"/>
              </a:ext>
            </a:extLst>
          </p:cNvPr>
          <p:cNvSpPr>
            <a:spLocks xmlns:a="http://schemas.openxmlformats.org/drawingml/2006/main" noGrp="1"/>
          </p:cNvSpPr>
          <p:nvPr/>
        </p:nvSpPr>
        <p:spPr>
          <a:xfrm xmlns:a="http://schemas.openxmlformats.org/drawingml/2006/main">
            <a:off x="800100" y="4000500"/>
            <a:ext cx="10591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Repositories</a:t>
            </a:r>
          </a:p>
        </p:txBody>
      </p:sp>
      <p:sp>
        <p:nvSpPr>
          <p:cNvPr id="9" name="">
            <a:extLst xmlns:a="http://schemas.openxmlformats.org/drawingml/2006/main">
              <a:ext uri="{FF2B5EF4-FFF2-40B4-BE49-F238E27FC236}">
                <a16:creationId xmlns:a16="http://schemas.microsoft.com/office/drawing/2014/main" id="{FE42AE1B-43F7-4165-B18C-9E12025BFB10}"/>
              </a:ext>
            </a:extLst>
          </p:cNvPr>
          <p:cNvSpPr>
            <a:spLocks xmlns:a="http://schemas.openxmlformats.org/drawingml/2006/main" noGrp="1"/>
          </p:cNvSpPr>
          <p:nvPr/>
        </p:nvSpPr>
        <p:spPr>
          <a:xfrm xmlns:a="http://schemas.openxmlformats.org/drawingml/2006/main">
            <a:off x="609600" y="4810125"/>
            <a:ext cx="5238750" cy="7429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0" name="">
            <a:extLst xmlns:a="http://schemas.openxmlformats.org/drawingml/2006/main">
              <a:ext uri="{FF2B5EF4-FFF2-40B4-BE49-F238E27FC236}">
                <a16:creationId xmlns:a16="http://schemas.microsoft.com/office/drawing/2014/main" id="{8D574632-CF33-45AC-86CB-53373170CD38}"/>
              </a:ext>
            </a:extLst>
          </p:cNvPr>
          <p:cNvSpPr>
            <a:spLocks xmlns:a="http://schemas.openxmlformats.org/drawingml/2006/main" noGrp="1"/>
          </p:cNvSpPr>
          <p:nvPr/>
        </p:nvSpPr>
        <p:spPr>
          <a:xfrm xmlns:a="http://schemas.openxmlformats.org/drawingml/2006/main">
            <a:off x="800100" y="50196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Ktor APIs / streams</a:t>
            </a:r>
          </a:p>
        </p:txBody>
      </p:sp>
      <p:sp>
        <p:nvSpPr>
          <p:cNvPr id="11" name="">
            <a:extLst xmlns:a="http://schemas.openxmlformats.org/drawingml/2006/main">
              <a:ext uri="{FF2B5EF4-FFF2-40B4-BE49-F238E27FC236}">
                <a16:creationId xmlns:a16="http://schemas.microsoft.com/office/drawing/2014/main" id="{AA28348A-F116-41F7-8427-988022A21984}"/>
              </a:ext>
            </a:extLst>
          </p:cNvPr>
          <p:cNvSpPr>
            <a:spLocks xmlns:a="http://schemas.openxmlformats.org/drawingml/2006/main" noGrp="1"/>
          </p:cNvSpPr>
          <p:nvPr/>
        </p:nvSpPr>
        <p:spPr>
          <a:xfrm xmlns:a="http://schemas.openxmlformats.org/drawingml/2006/main">
            <a:off x="6343650" y="4810125"/>
            <a:ext cx="5238750" cy="7429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2" name="">
            <a:extLst xmlns:a="http://schemas.openxmlformats.org/drawingml/2006/main">
              <a:ext uri="{FF2B5EF4-FFF2-40B4-BE49-F238E27FC236}">
                <a16:creationId xmlns:a16="http://schemas.microsoft.com/office/drawing/2014/main" id="{6F98D3BD-DA45-4EAA-9B3C-ECBAABEE1E09}"/>
              </a:ext>
            </a:extLst>
          </p:cNvPr>
          <p:cNvSpPr>
            <a:spLocks xmlns:a="http://schemas.openxmlformats.org/drawingml/2006/main" noGrp="1"/>
          </p:cNvSpPr>
          <p:nvPr/>
        </p:nvSpPr>
        <p:spPr>
          <a:xfrm xmlns:a="http://schemas.openxmlformats.org/drawingml/2006/main">
            <a:off x="6534150" y="50196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Room / DataStore</a:t>
            </a:r>
          </a:p>
        </p:txBody>
      </p:sp>
      <p:sp>
        <p:nvSpPr>
          <p:cNvPr id="13" name="">
            <a:extLst xmlns:a="http://schemas.openxmlformats.org/drawingml/2006/main">
              <a:ext uri="{FF2B5EF4-FFF2-40B4-BE49-F238E27FC236}">
                <a16:creationId xmlns:a16="http://schemas.microsoft.com/office/drawing/2014/main" id="{6DAB3F28-B3CC-4064-BB26-B4C028562DBE}"/>
              </a:ext>
            </a:extLst>
          </p:cNvPr>
          <p:cNvSpPr>
            <a:spLocks xmlns:a="http://schemas.openxmlformats.org/drawingml/2006/main" noGrp="1"/>
          </p:cNvSpPr>
          <p:nvPr/>
        </p:nvSpPr>
        <p:spPr>
          <a:xfrm xmlns:a="http://schemas.openxmlformats.org/drawingml/2006/main">
            <a:off x="609600" y="5924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CB0AC"/>
                </a:solidFill>
                <a:latin typeface="Helvetica Neue"/>
                <a:ea typeface="Helvetica Neue"/>
                <a:cs typeface="Helvetica Neue"/>
              </a:defRPr>
            </a:pPr>
            <a:r>
              <a:rPr sz="1950" b="0">
                <a:solidFill>
                  <a:srgbClr val="ACB0AC"/>
                </a:solidFill>
                <a:latin typeface="Helvetica Neue"/>
                <a:ea typeface="Helvetica Neue"/>
                <a:cs typeface="Helvetica Neue"/>
              </a:rPr>
              <a:t>Koin wires the shared core</a:t>
            </a:r>
          </a:p>
        </p:txBody>
      </p:sp>
    </p:spTree>
    <p:extLst>
      <p:ext uri="{BB962C8B-B14F-4D97-AF65-F5344CB8AC3E}">
        <p14:creationId xmlns:p14="http://schemas.microsoft.com/office/powerpoint/2010/main" val="954150501"/>
      </p:ext>
    </p:extLst>
  </p:cSld>
</p:sld>
</file>

<file path=ppt/slides/slide1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2FA4EB7-2EBC-45B9-9958-C5D9F4C940C1}"/>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The demonstration</a:t>
            </a:r>
          </a:p>
        </p:txBody>
      </p:sp>
      <p:sp>
        <p:nvSpPr>
          <p:cNvPr id="2" name="">
            <a:extLst xmlns:a="http://schemas.openxmlformats.org/drawingml/2006/main">
              <a:ext uri="{FF2B5EF4-FFF2-40B4-BE49-F238E27FC236}">
                <a16:creationId xmlns:a16="http://schemas.microsoft.com/office/drawing/2014/main" id="{1E684A27-52E4-45BC-8213-8D86662FA95E}"/>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68061C81-973D-4EEE-9071-B69172A136AC}"/>
              </a:ext>
            </a:extLst>
          </p:cNvPr>
          <p:cNvSpPr>
            <a:spLocks xmlns:a="http://schemas.openxmlformats.org/drawingml/2006/main" noGrp="1"/>
          </p:cNvSpPr>
          <p:nvPr/>
        </p:nvSpPr>
        <p:spPr>
          <a:xfrm xmlns:a="http://schemas.openxmlformats.org/drawingml/2006/main">
            <a:off x="609600" y="2076450"/>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B2FF00"/>
                </a:solidFill>
                <a:latin typeface="Helvetica Neue"/>
                <a:ea typeface="Helvetica Neue"/>
                <a:cs typeface="Helvetica Neue"/>
              </a:defRPr>
            </a:pPr>
            <a:r>
              <a:rPr sz="4725" b="1">
                <a:solidFill>
                  <a:srgbClr val="B2FF00"/>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654CBA71-26C0-46DE-92DD-0B082105492F}"/>
              </a:ext>
            </a:extLst>
          </p:cNvPr>
          <p:cNvSpPr>
            <a:spLocks xmlns:a="http://schemas.openxmlformats.org/drawingml/2006/main" noGrp="1"/>
          </p:cNvSpPr>
          <p:nvPr/>
        </p:nvSpPr>
        <p:spPr>
          <a:xfrm xmlns:a="http://schemas.openxmlformats.org/drawingml/2006/main">
            <a:off x="609600" y="31242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6F6F2"/>
                </a:solidFill>
                <a:latin typeface="Helvetica Neue"/>
                <a:ea typeface="Helvetica Neue"/>
                <a:cs typeface="Helvetica Neue"/>
              </a:defRPr>
            </a:pPr>
            <a:r>
              <a:rPr sz="3225" b="1">
                <a:solidFill>
                  <a:srgbClr val="F6F6F2"/>
                </a:solidFill>
                <a:latin typeface="Helvetica Neue"/>
                <a:ea typeface="Helvetica Neue"/>
                <a:cs typeface="Helvetica Neue"/>
              </a:rPr>
              <a:t>Discover</a:t>
            </a:r>
          </a:p>
        </p:txBody>
      </p:sp>
      <p:sp>
        <p:nvSpPr>
          <p:cNvPr id="5" name="">
            <a:extLst xmlns:a="http://schemas.openxmlformats.org/drawingml/2006/main">
              <a:ext uri="{FF2B5EF4-FFF2-40B4-BE49-F238E27FC236}">
                <a16:creationId xmlns:a16="http://schemas.microsoft.com/office/drawing/2014/main" id="{32FA4398-A054-4C7D-9CC0-52B9246FCD3D}"/>
              </a:ext>
            </a:extLst>
          </p:cNvPr>
          <p:cNvSpPr>
            <a:spLocks xmlns:a="http://schemas.openxmlformats.org/drawingml/2006/main" noGrp="1"/>
          </p:cNvSpPr>
          <p:nvPr/>
        </p:nvSpPr>
        <p:spPr>
          <a:xfrm xmlns:a="http://schemas.openxmlformats.org/drawingml/2006/main">
            <a:off x="3409950" y="2076450"/>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B2FF00"/>
                </a:solidFill>
                <a:latin typeface="Helvetica Neue"/>
                <a:ea typeface="Helvetica Neue"/>
                <a:cs typeface="Helvetica Neue"/>
              </a:defRPr>
            </a:pPr>
            <a:r>
              <a:rPr sz="4725" b="1">
                <a:solidFill>
                  <a:srgbClr val="B2FF00"/>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1CC0984F-61A9-40F4-97C3-50564A0DE416}"/>
              </a:ext>
            </a:extLst>
          </p:cNvPr>
          <p:cNvSpPr>
            <a:spLocks xmlns:a="http://schemas.openxmlformats.org/drawingml/2006/main" noGrp="1"/>
          </p:cNvSpPr>
          <p:nvPr/>
        </p:nvSpPr>
        <p:spPr>
          <a:xfrm xmlns:a="http://schemas.openxmlformats.org/drawingml/2006/main">
            <a:off x="3409950" y="31242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6F6F2"/>
                </a:solidFill>
                <a:latin typeface="Helvetica Neue"/>
                <a:ea typeface="Helvetica Neue"/>
                <a:cs typeface="Helvetica Neue"/>
              </a:defRPr>
            </a:pPr>
            <a:r>
              <a:rPr sz="3225" b="1">
                <a:solidFill>
                  <a:srgbClr val="F6F6F2"/>
                </a:solidFill>
                <a:latin typeface="Helvetica Neue"/>
                <a:ea typeface="Helvetica Neue"/>
                <a:cs typeface="Helvetica Neue"/>
              </a:rPr>
              <a:t>Read</a:t>
            </a:r>
          </a:p>
        </p:txBody>
      </p:sp>
      <p:sp>
        <p:nvSpPr>
          <p:cNvPr id="7" name="">
            <a:extLst xmlns:a="http://schemas.openxmlformats.org/drawingml/2006/main">
              <a:ext uri="{FF2B5EF4-FFF2-40B4-BE49-F238E27FC236}">
                <a16:creationId xmlns:a16="http://schemas.microsoft.com/office/drawing/2014/main" id="{420FB371-77B0-4694-9F07-B3DA2D83ABD5}"/>
              </a:ext>
            </a:extLst>
          </p:cNvPr>
          <p:cNvSpPr>
            <a:spLocks xmlns:a="http://schemas.openxmlformats.org/drawingml/2006/main" noGrp="1"/>
          </p:cNvSpPr>
          <p:nvPr/>
        </p:nvSpPr>
        <p:spPr>
          <a:xfrm xmlns:a="http://schemas.openxmlformats.org/drawingml/2006/main">
            <a:off x="6210300" y="2076450"/>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B2FF00"/>
                </a:solidFill>
                <a:latin typeface="Helvetica Neue"/>
                <a:ea typeface="Helvetica Neue"/>
                <a:cs typeface="Helvetica Neue"/>
              </a:defRPr>
            </a:pPr>
            <a:r>
              <a:rPr sz="4725" b="1">
                <a:solidFill>
                  <a:srgbClr val="B2FF00"/>
                </a:solidFill>
                <a:latin typeface="Helvetica Neue"/>
                <a:ea typeface="Helvetica Neue"/>
                <a:cs typeface="Helvetica Neue"/>
              </a:rPr>
              <a:t>03</a:t>
            </a:r>
          </a:p>
        </p:txBody>
      </p:sp>
      <p:sp>
        <p:nvSpPr>
          <p:cNvPr id="8" name="">
            <a:extLst xmlns:a="http://schemas.openxmlformats.org/drawingml/2006/main">
              <a:ext uri="{FF2B5EF4-FFF2-40B4-BE49-F238E27FC236}">
                <a16:creationId xmlns:a16="http://schemas.microsoft.com/office/drawing/2014/main" id="{132EF5B2-B068-4E5F-9163-141FFF2600CF}"/>
              </a:ext>
            </a:extLst>
          </p:cNvPr>
          <p:cNvSpPr>
            <a:spLocks xmlns:a="http://schemas.openxmlformats.org/drawingml/2006/main" noGrp="1"/>
          </p:cNvSpPr>
          <p:nvPr/>
        </p:nvSpPr>
        <p:spPr>
          <a:xfrm xmlns:a="http://schemas.openxmlformats.org/drawingml/2006/main">
            <a:off x="6210300" y="31242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6F6F2"/>
                </a:solidFill>
                <a:latin typeface="Helvetica Neue"/>
                <a:ea typeface="Helvetica Neue"/>
                <a:cs typeface="Helvetica Neue"/>
              </a:defRPr>
            </a:pPr>
            <a:r>
              <a:rPr sz="3225" b="1">
                <a:solidFill>
                  <a:srgbClr val="F6F6F2"/>
                </a:solidFill>
                <a:latin typeface="Helvetica Neue"/>
                <a:ea typeface="Helvetica Neue"/>
                <a:cs typeface="Helvetica Neue"/>
              </a:rPr>
              <a:t>Write</a:t>
            </a:r>
          </a:p>
        </p:txBody>
      </p:sp>
      <p:sp>
        <p:nvSpPr>
          <p:cNvPr id="9" name="">
            <a:extLst xmlns:a="http://schemas.openxmlformats.org/drawingml/2006/main">
              <a:ext uri="{FF2B5EF4-FFF2-40B4-BE49-F238E27FC236}">
                <a16:creationId xmlns:a16="http://schemas.microsoft.com/office/drawing/2014/main" id="{957A6EAC-D2C2-42B2-B680-068BE164A828}"/>
              </a:ext>
            </a:extLst>
          </p:cNvPr>
          <p:cNvSpPr>
            <a:spLocks xmlns:a="http://schemas.openxmlformats.org/drawingml/2006/main" noGrp="1"/>
          </p:cNvSpPr>
          <p:nvPr/>
        </p:nvSpPr>
        <p:spPr>
          <a:xfrm xmlns:a="http://schemas.openxmlformats.org/drawingml/2006/main">
            <a:off x="9010650" y="2076450"/>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B2FF00"/>
                </a:solidFill>
                <a:latin typeface="Helvetica Neue"/>
                <a:ea typeface="Helvetica Neue"/>
                <a:cs typeface="Helvetica Neue"/>
              </a:defRPr>
            </a:pPr>
            <a:r>
              <a:rPr sz="4725" b="1">
                <a:solidFill>
                  <a:srgbClr val="B2FF00"/>
                </a:solidFill>
                <a:latin typeface="Helvetica Neue"/>
                <a:ea typeface="Helvetica Neue"/>
                <a:cs typeface="Helvetica Neue"/>
              </a:rPr>
              <a:t>04</a:t>
            </a:r>
          </a:p>
        </p:txBody>
      </p:sp>
      <p:sp>
        <p:nvSpPr>
          <p:cNvPr id="10" name="">
            <a:extLst xmlns:a="http://schemas.openxmlformats.org/drawingml/2006/main">
              <a:ext uri="{FF2B5EF4-FFF2-40B4-BE49-F238E27FC236}">
                <a16:creationId xmlns:a16="http://schemas.microsoft.com/office/drawing/2014/main" id="{24031D2A-AB8C-4F90-8B5C-4F67A90D5B3F}"/>
              </a:ext>
            </a:extLst>
          </p:cNvPr>
          <p:cNvSpPr>
            <a:spLocks xmlns:a="http://schemas.openxmlformats.org/drawingml/2006/main" noGrp="1"/>
          </p:cNvSpPr>
          <p:nvPr/>
        </p:nvSpPr>
        <p:spPr>
          <a:xfrm xmlns:a="http://schemas.openxmlformats.org/drawingml/2006/main">
            <a:off x="9010650" y="31242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6F6F2"/>
                </a:solidFill>
                <a:latin typeface="Helvetica Neue"/>
                <a:ea typeface="Helvetica Neue"/>
                <a:cs typeface="Helvetica Neue"/>
              </a:defRPr>
            </a:pPr>
            <a:r>
              <a:rPr sz="3225" b="1">
                <a:solidFill>
                  <a:srgbClr val="F6F6F2"/>
                </a:solidFill>
                <a:latin typeface="Helvetica Neue"/>
                <a:ea typeface="Helvetica Neue"/>
                <a:cs typeface="Helvetica Neue"/>
              </a:rPr>
              <a:t>Stream</a:t>
            </a:r>
          </a:p>
        </p:txBody>
      </p:sp>
      <p:sp>
        <p:nvSpPr>
          <p:cNvPr id="11" name="">
            <a:extLst xmlns:a="http://schemas.openxmlformats.org/drawingml/2006/main">
              <a:ext uri="{FF2B5EF4-FFF2-40B4-BE49-F238E27FC236}">
                <a16:creationId xmlns:a16="http://schemas.microsoft.com/office/drawing/2014/main" id="{B74C5224-7E06-49B3-9B4E-8D5C3CD678A0}"/>
              </a:ext>
            </a:extLst>
          </p:cNvPr>
          <p:cNvSpPr>
            <a:spLocks xmlns:a="http://schemas.openxmlformats.org/drawingml/2006/main" noGrp="1"/>
          </p:cNvSpPr>
          <p:nvPr/>
        </p:nvSpPr>
        <p:spPr>
          <a:xfrm xmlns:a="http://schemas.openxmlformats.org/drawingml/2006/main">
            <a:off x="609600" y="46958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6F6F2"/>
                </a:solidFill>
                <a:latin typeface="Helvetica Neue"/>
                <a:ea typeface="Helvetica Neue"/>
                <a:cs typeface="Helvetica Neue"/>
              </a:defRPr>
            </a:pPr>
            <a:r>
              <a:rPr sz="3900" b="1">
                <a:solidFill>
                  <a:srgbClr val="F6F6F2"/>
                </a:solidFill>
                <a:latin typeface="Helvetica Neue"/>
                <a:ea typeface="Helvetica Neue"/>
                <a:cs typeface="Helvetica Neue"/>
              </a:rPr>
              <a:t>One device. Android and iOS.</a:t>
            </a:r>
          </a:p>
        </p:txBody>
      </p:sp>
      <p:sp>
        <p:nvSpPr>
          <p:cNvPr id="12" name="">
            <a:extLst xmlns:a="http://schemas.openxmlformats.org/drawingml/2006/main">
              <a:ext uri="{FF2B5EF4-FFF2-40B4-BE49-F238E27FC236}">
                <a16:creationId xmlns:a16="http://schemas.microsoft.com/office/drawing/2014/main" id="{1674E074-0F81-413D-9E4B-651B083D6B8A}"/>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CB0AC"/>
                </a:solidFill>
                <a:latin typeface="Helvetica Neue"/>
                <a:ea typeface="Helvetica Neue"/>
                <a:cs typeface="Helvetica Neue"/>
              </a:defRPr>
            </a:pPr>
            <a:r>
              <a:rPr sz="1950" b="0">
                <a:solidFill>
                  <a:srgbClr val="ACB0AC"/>
                </a:solidFill>
                <a:latin typeface="Helvetica Neue"/>
                <a:ea typeface="Helvetica Neue"/>
                <a:cs typeface="Helvetica Neue"/>
              </a:rPr>
              <a:t>Target demo: real writes and streams still need integration</a:t>
            </a:r>
          </a:p>
        </p:txBody>
      </p:sp>
    </p:spTree>
    <p:extLst>
      <p:ext uri="{BB962C8B-B14F-4D97-AF65-F5344CB8AC3E}">
        <p14:creationId xmlns:p14="http://schemas.microsoft.com/office/powerpoint/2010/main" val="681632154"/>
      </p:ext>
    </p:extLst>
  </p:cSld>
</p:sld>
</file>

<file path=ppt/slides/slide1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68F4B9-6D37-494B-92DF-568F9C25433F}"/>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What success looks like</a:t>
            </a:r>
          </a:p>
        </p:txBody>
      </p:sp>
      <p:sp>
        <p:nvSpPr>
          <p:cNvPr id="2" name="">
            <a:extLst xmlns:a="http://schemas.openxmlformats.org/drawingml/2006/main">
              <a:ext uri="{FF2B5EF4-FFF2-40B4-BE49-F238E27FC236}">
                <a16:creationId xmlns:a16="http://schemas.microsoft.com/office/drawing/2014/main" id="{6A1ECEE0-B024-4265-8D4A-105235F8F1A8}"/>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731E8AD4-B2F8-47F9-A3BC-1DEB0FB70599}"/>
              </a:ext>
            </a:extLst>
          </p:cNvPr>
          <p:cNvSpPr>
            <a:spLocks xmlns:a="http://schemas.openxmlformats.org/drawingml/2006/main" noGrp="1"/>
          </p:cNvSpPr>
          <p:nvPr/>
        </p:nvSpPr>
        <p:spPr>
          <a:xfrm xmlns:a="http://schemas.openxmlformats.org/drawingml/2006/main">
            <a:off x="609600" y="21050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B2FF00"/>
                </a:solidFill>
                <a:latin typeface="Helvetica Neue"/>
                <a:ea typeface="Helvetica Neue"/>
                <a:cs typeface="Helvetica Neue"/>
              </a:defRPr>
            </a:pPr>
            <a:r>
              <a:rPr sz="4350" b="1">
                <a:solidFill>
                  <a:srgbClr val="B2FF00"/>
                </a:solidFill>
                <a:latin typeface="Helvetica Neue"/>
                <a:ea typeface="Helvetica Neue"/>
                <a:cs typeface="Helvetica Neue"/>
              </a:rPr>
              <a:t>Less duplicated logic</a:t>
            </a:r>
          </a:p>
        </p:txBody>
      </p:sp>
      <p:sp>
        <p:nvSpPr>
          <p:cNvPr id="4" name="">
            <a:extLst xmlns:a="http://schemas.openxmlformats.org/drawingml/2006/main">
              <a:ext uri="{FF2B5EF4-FFF2-40B4-BE49-F238E27FC236}">
                <a16:creationId xmlns:a16="http://schemas.microsoft.com/office/drawing/2014/main" id="{AF4D0510-E03D-4C8B-94AE-78598067816A}"/>
              </a:ext>
            </a:extLst>
          </p:cNvPr>
          <p:cNvSpPr>
            <a:spLocks xmlns:a="http://schemas.openxmlformats.org/drawingml/2006/main" noGrp="1"/>
          </p:cNvSpPr>
          <p:nvPr/>
        </p:nvSpPr>
        <p:spPr>
          <a:xfrm xmlns:a="http://schemas.openxmlformats.org/drawingml/2006/main">
            <a:off x="609600" y="33242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6F6F2"/>
                </a:solidFill>
                <a:latin typeface="Helvetica Neue"/>
                <a:ea typeface="Helvetica Neue"/>
                <a:cs typeface="Helvetica Neue"/>
              </a:defRPr>
            </a:pPr>
            <a:r>
              <a:rPr sz="4350" b="1">
                <a:solidFill>
                  <a:srgbClr val="F6F6F2"/>
                </a:solidFill>
                <a:latin typeface="Helvetica Neue"/>
                <a:ea typeface="Helvetica Neue"/>
                <a:cs typeface="Helvetica Neue"/>
              </a:rPr>
              <a:t>Consistent device behavior</a:t>
            </a:r>
          </a:p>
        </p:txBody>
      </p:sp>
      <p:sp>
        <p:nvSpPr>
          <p:cNvPr id="5" name="">
            <a:extLst xmlns:a="http://schemas.openxmlformats.org/drawingml/2006/main">
              <a:ext uri="{FF2B5EF4-FFF2-40B4-BE49-F238E27FC236}">
                <a16:creationId xmlns:a16="http://schemas.microsoft.com/office/drawing/2014/main" id="{57DC0AC2-1667-4F63-92BC-67E6ADA8225C}"/>
              </a:ext>
            </a:extLst>
          </p:cNvPr>
          <p:cNvSpPr>
            <a:spLocks xmlns:a="http://schemas.openxmlformats.org/drawingml/2006/main" noGrp="1"/>
          </p:cNvSpPr>
          <p:nvPr/>
        </p:nvSpPr>
        <p:spPr>
          <a:xfrm xmlns:a="http://schemas.openxmlformats.org/drawingml/2006/main">
            <a:off x="609600" y="45434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6F6F2"/>
                </a:solidFill>
                <a:latin typeface="Helvetica Neue"/>
                <a:ea typeface="Helvetica Neue"/>
                <a:cs typeface="Helvetica Neue"/>
              </a:defRPr>
            </a:pPr>
            <a:r>
              <a:rPr sz="4350" b="1">
                <a:solidFill>
                  <a:srgbClr val="F6F6F2"/>
                </a:solidFill>
                <a:latin typeface="Helvetica Neue"/>
                <a:ea typeface="Helvetica Neue"/>
                <a:cs typeface="Helvetica Neue"/>
              </a:rPr>
              <a:t>Native capability preserved</a:t>
            </a:r>
          </a:p>
        </p:txBody>
      </p:sp>
      <p:sp>
        <p:nvSpPr>
          <p:cNvPr id="6" name="">
            <a:extLst xmlns:a="http://schemas.openxmlformats.org/drawingml/2006/main">
              <a:ext uri="{FF2B5EF4-FFF2-40B4-BE49-F238E27FC236}">
                <a16:creationId xmlns:a16="http://schemas.microsoft.com/office/drawing/2014/main" id="{99538890-2729-4D2F-AA60-447A9CF869CB}"/>
              </a:ext>
            </a:extLst>
          </p:cNvPr>
          <p:cNvSpPr>
            <a:spLocks xmlns:a="http://schemas.openxmlformats.org/drawingml/2006/main" noGrp="1"/>
          </p:cNvSpPr>
          <p:nvPr/>
        </p:nvSpPr>
        <p:spPr>
          <a:xfrm xmlns:a="http://schemas.openxmlformats.org/drawingml/2006/main">
            <a:off x="609600" y="5838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Pilot measures effort, parity and stream reliability</a:t>
            </a:r>
          </a:p>
        </p:txBody>
      </p:sp>
    </p:spTree>
    <p:extLst>
      <p:ext uri="{BB962C8B-B14F-4D97-AF65-F5344CB8AC3E}">
        <p14:creationId xmlns:p14="http://schemas.microsoft.com/office/powerpoint/2010/main" val="1881896383"/>
      </p:ext>
    </p:extLst>
  </p:cSld>
</p:sld>
</file>

<file path=ppt/slides/slide12.xml><?xml version="1.0" encoding="utf-8"?>
<p:sld xmlns:p="http://schemas.openxmlformats.org/presentationml/2006/main">
  <p:cSld>
    <p:bg>
      <p:bgPr>
        <a:solidFill xmlns:a="http://schemas.openxmlformats.org/drawingml/2006/main">
          <a:srgbClr val="B2FF0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DA5374-C736-427F-8900-2409773E267C}"/>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50505"/>
                </a:solidFill>
                <a:latin typeface="Helvetica Neue"/>
                <a:ea typeface="Helvetica Neue"/>
                <a:cs typeface="Helvetica Neue"/>
              </a:defRPr>
            </a:pPr>
            <a:r>
              <a:rPr sz="3600" b="1">
                <a:solidFill>
                  <a:srgbClr val="050505"/>
                </a:solidFill>
                <a:latin typeface="Helvetica Neue"/>
                <a:ea typeface="Helvetica Neue"/>
                <a:cs typeface="Helvetica Neue"/>
              </a:rPr>
              <a:t>The proposal</a:t>
            </a:r>
          </a:p>
        </p:txBody>
      </p:sp>
      <p:sp>
        <p:nvSpPr>
          <p:cNvPr id="2" name="">
            <a:extLst xmlns:a="http://schemas.openxmlformats.org/drawingml/2006/main">
              <a:ext uri="{FF2B5EF4-FFF2-40B4-BE49-F238E27FC236}">
                <a16:creationId xmlns:a16="http://schemas.microsoft.com/office/drawing/2014/main" id="{8451DA2F-BEE5-4C79-BE19-D65ED891CF5B}"/>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050505"/>
                </a:solidFill>
                <a:latin typeface="Helvetica Neue"/>
                <a:ea typeface="Helvetica Neue"/>
                <a:cs typeface="Helvetica Neue"/>
              </a:defRPr>
            </a:pPr>
            <a:r>
              <a:rPr sz="1350" b="0">
                <a:solidFill>
                  <a:srgbClr val="050505"/>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C0170406-8CC1-4BBD-9D56-674BEB57C160}"/>
              </a:ext>
            </a:extLst>
          </p:cNvPr>
          <p:cNvSpPr>
            <a:spLocks xmlns:a="http://schemas.openxmlformats.org/drawingml/2006/main" noGrp="1"/>
          </p:cNvSpPr>
          <p:nvPr/>
        </p:nvSpPr>
        <p:spPr>
          <a:xfrm xmlns:a="http://schemas.openxmlformats.org/drawingml/2006/main">
            <a:off x="609600" y="2057400"/>
            <a:ext cx="109728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050505"/>
                </a:solidFill>
                <a:latin typeface="Helvetica Neue"/>
                <a:ea typeface="Helvetica Neue"/>
                <a:cs typeface="Helvetica Neue"/>
              </a:defRPr>
            </a:pPr>
            <a:r>
              <a:rPr sz="5850" b="1">
                <a:solidFill>
                  <a:srgbClr val="050505"/>
                </a:solidFill>
                <a:latin typeface="Helvetica Neue"/>
                <a:ea typeface="Helvetica Neue"/>
                <a:cs typeface="Helvetica Neue"/>
              </a:rPr>
              <a:t>One workflow.</a:t>
            </a:r>
          </a:p>
          <a:p xmlns:a="http://schemas.openxmlformats.org/drawingml/2006/main">
            <a:pPr>
              <a:defRPr sz="5850" b="1">
                <a:solidFill>
                  <a:srgbClr val="050505"/>
                </a:solidFill>
                <a:latin typeface="Helvetica Neue"/>
                <a:ea typeface="Helvetica Neue"/>
                <a:cs typeface="Helvetica Neue"/>
              </a:defRPr>
            </a:pPr>
            <a:r>
              <a:rPr sz="5850" b="1">
                <a:solidFill>
                  <a:srgbClr val="050505"/>
                </a:solidFill>
                <a:latin typeface="Helvetica Neue"/>
                <a:ea typeface="Helvetica Neue"/>
                <a:cs typeface="Helvetica Neue"/>
              </a:rPr>
              <a:t>Two platforms.</a:t>
            </a:r>
          </a:p>
        </p:txBody>
      </p:sp>
      <p:sp>
        <p:nvSpPr>
          <p:cNvPr id="4" name="">
            <a:extLst xmlns:a="http://schemas.openxmlformats.org/drawingml/2006/main">
              <a:ext uri="{FF2B5EF4-FFF2-40B4-BE49-F238E27FC236}">
                <a16:creationId xmlns:a16="http://schemas.microsoft.com/office/drawing/2014/main" id="{D746ABDA-FD2A-4D92-96C5-8A45190EE10D}"/>
              </a:ext>
            </a:extLst>
          </p:cNvPr>
          <p:cNvSpPr>
            <a:spLocks xmlns:a="http://schemas.openxmlformats.org/drawingml/2006/main" noGrp="1"/>
          </p:cNvSpPr>
          <p:nvPr/>
        </p:nvSpPr>
        <p:spPr>
          <a:xfrm xmlns:a="http://schemas.openxmlformats.org/drawingml/2006/main">
            <a:off x="609600" y="46482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50505"/>
                </a:solidFill>
                <a:latin typeface="Helvetica Neue"/>
                <a:ea typeface="Helvetica Neue"/>
                <a:cs typeface="Helvetica Neue"/>
              </a:defRPr>
            </a:pPr>
            <a:r>
              <a:rPr sz="3450" b="1">
                <a:solidFill>
                  <a:srgbClr val="050505"/>
                </a:solidFill>
                <a:latin typeface="Helvetica Neue"/>
                <a:ea typeface="Helvetica Neue"/>
                <a:cs typeface="Helvetica Neue"/>
              </a:rPr>
              <a:t>6-week pilot proposed</a:t>
            </a:r>
          </a:p>
        </p:txBody>
      </p:sp>
      <p:sp>
        <p:nvSpPr>
          <p:cNvPr id="5" name="">
            <a:extLst xmlns:a="http://schemas.openxmlformats.org/drawingml/2006/main">
              <a:ext uri="{FF2B5EF4-FFF2-40B4-BE49-F238E27FC236}">
                <a16:creationId xmlns:a16="http://schemas.microsoft.com/office/drawing/2014/main" id="{EBDAC6BF-1FFA-4F5A-8E99-02DC2DBA10B1}"/>
              </a:ext>
            </a:extLst>
          </p:cNvPr>
          <p:cNvSpPr>
            <a:spLocks xmlns:a="http://schemas.openxmlformats.org/drawingml/2006/main" noGrp="1"/>
          </p:cNvSpPr>
          <p:nvPr/>
        </p:nvSpPr>
        <p:spPr>
          <a:xfrm xmlns:a="http://schemas.openxmlformats.org/drawingml/2006/main">
            <a:off x="609600" y="57245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50505"/>
                </a:solidFill>
                <a:latin typeface="Helvetica Neue"/>
                <a:ea typeface="Helvetica Neue"/>
                <a:cs typeface="Helvetica Neue"/>
              </a:defRPr>
            </a:pPr>
            <a:r>
              <a:rPr sz="2400" b="0">
                <a:solidFill>
                  <a:srgbClr val="050505"/>
                </a:solidFill>
                <a:latin typeface="Helvetica Neue"/>
                <a:ea typeface="Helvetica Neue"/>
                <a:cs typeface="Helvetica Neue"/>
              </a:rPr>
              <a:t>Review the evidence before expanding</a:t>
            </a:r>
          </a:p>
        </p:txBody>
      </p:sp>
    </p:spTree>
    <p:extLst>
      <p:ext uri="{BB962C8B-B14F-4D97-AF65-F5344CB8AC3E}">
        <p14:creationId xmlns:p14="http://schemas.microsoft.com/office/powerpoint/2010/main" val="1232683555"/>
      </p:ext>
    </p:extLst>
  </p:cSld>
</p:sld>
</file>

<file path=ppt/slides/slide1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1C4428-78C3-41F9-841C-0708C9B534C1}"/>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Appendix: PoC readiness</a:t>
            </a:r>
          </a:p>
        </p:txBody>
      </p:sp>
      <p:sp>
        <p:nvSpPr>
          <p:cNvPr id="2" name="">
            <a:extLst xmlns:a="http://schemas.openxmlformats.org/drawingml/2006/main">
              <a:ext uri="{FF2B5EF4-FFF2-40B4-BE49-F238E27FC236}">
                <a16:creationId xmlns:a16="http://schemas.microsoft.com/office/drawing/2014/main" id="{A7D8CC3B-DE2A-4BFF-AEA1-19BB1D619A19}"/>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13</a:t>
            </a:r>
          </a:p>
        </p:txBody>
      </p:sp>
      <p:graphicFrame>
        <p:nvGraphicFramePr>
          <p:cNvPr id="7" name=""/>
          <p:cNvGraphicFramePr/>
          <p:nvPr/>
        </p:nvGraphicFramePr>
        <p:xfrm>
          <a:off xmlns:a="http://schemas.openxmlformats.org/drawingml/2006/main" x="609600" y="2028825"/>
          <a:ext xmlns:a="http://schemas.openxmlformats.org/drawingml/2006/main" cx="10972800" cy="3343275"/>
        </p:xfrm>
        <a:graphic xmlns:a="http://schemas.openxmlformats.org/drawingml/2006/main">
          <a:graphicData uri="http://schemas.openxmlformats.org/drawingml/2006/table">
            <a:tbl>
              <a:tblPr/>
              <a:tblGrid>
                <a:gridCol w="4572000"/>
                <a:gridCol w="6400800"/>
              </a:tblGrid>
              <a:tr h="668655">
                <a:tc>
                  <a:txBody>
                    <a:bodyPr>
                      <a:noAutofit/>
                    </a:bodyPr>
                    <a:lstStyle/>
                    <a:p>
                      <a:r>
                        <a:rPr sz="2100" b="1">
                          <a:solidFill>
                            <a:srgbClr val="050505"/>
                          </a:solidFill>
                          <a:latin typeface="Helvetica Neue"/>
                          <a:ea typeface="Helvetica Neue"/>
                          <a:cs typeface="Helvetica Neue"/>
                        </a:rPr>
                        <a:t>In source</a:t>
                      </a:r>
                    </a:p>
                  </a:txBody>
                  <a:tcPr marL="91440" marR="91440" marT="45720" marB="45720">
                    <a:solidFill>
                      <a:srgbClr val="B2FF00"/>
                    </a:solidFill>
                  </a:tcPr>
                </a:tc>
                <a:tc>
                  <a:txBody>
                    <a:bodyPr>
                      <a:noAutofit/>
                    </a:bodyPr>
                    <a:lstStyle/>
                    <a:p>
                      <a:r>
                        <a:rPr sz="2100" b="1">
                          <a:solidFill>
                            <a:srgbClr val="050505"/>
                          </a:solidFill>
                          <a:latin typeface="Helvetica Neue"/>
                          <a:ea typeface="Helvetica Neue"/>
                          <a:cs typeface="Helvetica Neue"/>
                        </a:rPr>
                        <a:t>Before the live demo</a:t>
                      </a:r>
                    </a:p>
                  </a:txBody>
                  <a:tcPr marL="91440" marR="91440" marT="45720" marB="45720">
                    <a:solidFill>
                      <a:srgbClr val="B2FF00"/>
                    </a:solidFill>
                  </a:tcPr>
                </a:tc>
              </a:tr>
              <a:tr h="668655">
                <a:tc>
                  <a:txBody>
                    <a:bodyPr>
                      <a:noAutofit/>
                    </a:bodyPr>
                    <a:lstStyle/>
                    <a:p>
                      <a:r>
                        <a:rPr sz="2100" b="0">
                          <a:solidFill>
                            <a:srgbClr val="F6F6F2"/>
                          </a:solidFill>
                          <a:latin typeface="Helvetica Neue"/>
                          <a:ea typeface="Helvetica Neue"/>
                          <a:cs typeface="Helvetica Neue"/>
                        </a:rPr>
                        <a:t>GraphQL discovery path</a:t>
                      </a:r>
                    </a:p>
                  </a:txBody>
                  <a:tcPr marL="91440" marR="91440" marT="45720" marB="45720">
                    <a:solidFill>
                      <a:srgbClr val="050505"/>
                    </a:solidFill>
                  </a:tcPr>
                </a:tc>
                <a:tc>
                  <a:txBody>
                    <a:bodyPr>
                      <a:noAutofit/>
                    </a:bodyPr>
                    <a:lstStyle/>
                    <a:p>
                      <a:r>
                        <a:rPr sz="2100" b="0">
                          <a:solidFill>
                            <a:srgbClr val="F6F6F2"/>
                          </a:solidFill>
                          <a:latin typeface="Helvetica Neue"/>
                          <a:ea typeface="Helvetica Neue"/>
                          <a:cs typeface="Helvetica Neue"/>
                        </a:rPr>
                        <a:t>Validate query and operation name</a:t>
                      </a:r>
                    </a:p>
                  </a:txBody>
                  <a:tcPr marL="91440" marR="91440" marT="45720" marB="45720">
                    <a:solidFill>
                      <a:srgbClr val="050505"/>
                    </a:solidFill>
                  </a:tcPr>
                </a:tc>
              </a:tr>
              <a:tr h="668655">
                <a:tc>
                  <a:txBody>
                    <a:bodyPr>
                      <a:noAutofit/>
                    </a:bodyPr>
                    <a:lstStyle/>
                    <a:p>
                      <a:r>
                        <a:rPr sz="2100" b="0">
                          <a:solidFill>
                            <a:srgbClr val="F6F6F2"/>
                          </a:solidFill>
                          <a:latin typeface="Helvetica Neue"/>
                          <a:ea typeface="Helvetica Neue"/>
                          <a:cs typeface="Helvetica Neue"/>
                        </a:rPr>
                        <a:t>GET / PUT client foundation</a:t>
                      </a:r>
                    </a:p>
                  </a:txBody>
                  <a:tcPr marL="91440" marR="91440" marT="45720" marB="45720">
                    <a:solidFill>
                      <a:srgbClr val="050505"/>
                    </a:solidFill>
                  </a:tcPr>
                </a:tc>
                <a:tc>
                  <a:txBody>
                    <a:bodyPr>
                      <a:noAutofit/>
                    </a:bodyPr>
                    <a:lstStyle/>
                    <a:p>
                      <a:r>
                        <a:rPr sz="2100" b="0">
                          <a:solidFill>
                            <a:srgbClr val="F6F6F2"/>
                          </a:solidFill>
                          <a:latin typeface="Helvetica Neue"/>
                          <a:ea typeface="Helvetica Neue"/>
                          <a:cs typeface="Helvetica Neue"/>
                        </a:rPr>
                        <a:t>Implement real channel operations</a:t>
                      </a:r>
                    </a:p>
                  </a:txBody>
                  <a:tcPr marL="91440" marR="91440" marT="45720" marB="45720">
                    <a:solidFill>
                      <a:srgbClr val="050505"/>
                    </a:solidFill>
                  </a:tcPr>
                </a:tc>
              </a:tr>
              <a:tr h="668655">
                <a:tc>
                  <a:txBody>
                    <a:bodyPr>
                      <a:noAutofit/>
                    </a:bodyPr>
                    <a:lstStyle/>
                    <a:p>
                      <a:r>
                        <a:rPr sz="2100" b="0">
                          <a:solidFill>
                            <a:srgbClr val="F6F6F2"/>
                          </a:solidFill>
                          <a:latin typeface="Helvetica Neue"/>
                          <a:ea typeface="Helvetica Neue"/>
                          <a:cs typeface="Helvetica Neue"/>
                        </a:rPr>
                        <a:t>WebSocket foundation</a:t>
                      </a:r>
                    </a:p>
                  </a:txBody>
                  <a:tcPr marL="91440" marR="91440" marT="45720" marB="45720">
                    <a:solidFill>
                      <a:srgbClr val="050505"/>
                    </a:solidFill>
                  </a:tcPr>
                </a:tc>
                <a:tc>
                  <a:txBody>
                    <a:bodyPr>
                      <a:noAutofit/>
                    </a:bodyPr>
                    <a:lstStyle/>
                    <a:p>
                      <a:r>
                        <a:rPr sz="2100" b="0">
                          <a:solidFill>
                            <a:srgbClr val="F6F6F2"/>
                          </a:solidFill>
                          <a:latin typeface="Helvetica Neue"/>
                          <a:ea typeface="Helvetica Neue"/>
                          <a:cs typeface="Helvetica Neue"/>
                        </a:rPr>
                        <a:t>Wire the real device event source</a:t>
                      </a:r>
                    </a:p>
                  </a:txBody>
                  <a:tcPr marL="91440" marR="91440" marT="45720" marB="45720">
                    <a:solidFill>
                      <a:srgbClr val="050505"/>
                    </a:solidFill>
                  </a:tcPr>
                </a:tc>
              </a:tr>
              <a:tr h="668655">
                <a:tc>
                  <a:txBody>
                    <a:bodyPr>
                      <a:noAutofit/>
                    </a:bodyPr>
                    <a:lstStyle/>
                    <a:p>
                      <a:r>
                        <a:rPr sz="2100" b="0">
                          <a:solidFill>
                            <a:srgbClr val="F6F6F2"/>
                          </a:solidFill>
                          <a:latin typeface="Helvetica Neue"/>
                          <a:ea typeface="Helvetica Neue"/>
                          <a:cs typeface="Helvetica Neue"/>
                        </a:rPr>
                        <a:t>Persistence and logs</a:t>
                      </a:r>
                    </a:p>
                  </a:txBody>
                  <a:tcPr marL="91440" marR="91440" marT="45720" marB="45720">
                    <a:solidFill>
                      <a:srgbClr val="050505"/>
                    </a:solidFill>
                  </a:tcPr>
                </a:tc>
                <a:tc>
                  <a:txBody>
                    <a:bodyPr>
                      <a:noAutofit/>
                    </a:bodyPr>
                    <a:lstStyle/>
                    <a:p>
                      <a:r>
                        <a:rPr sz="2100" b="0">
                          <a:solidFill>
                            <a:srgbClr val="F6F6F2"/>
                          </a:solidFill>
                          <a:latin typeface="Helvetica Neue"/>
                          <a:ea typeface="Helvetica Neue"/>
                          <a:cs typeface="Helvetica Neue"/>
                        </a:rPr>
                        <a:t>Verify Android / iOS behavior</a:t>
                      </a:r>
                    </a:p>
                  </a:txBody>
                  <a:tcPr marL="91440" marR="91440" marT="45720" marB="45720">
                    <a:solidFill>
                      <a:srgbClr val="050505"/>
                    </a:solidFill>
                  </a:tcPr>
                </a:tc>
              </a:tr>
            </a:tbl>
          </a:graphicData>
        </a:graphic>
      </p:graphicFrame>
      <p:sp>
        <p:nvSpPr>
          <p:cNvPr id="4" name="">
            <a:extLst xmlns:a="http://schemas.openxmlformats.org/drawingml/2006/main">
              <a:ext uri="{FF2B5EF4-FFF2-40B4-BE49-F238E27FC236}">
                <a16:creationId xmlns:a16="http://schemas.microsoft.com/office/drawing/2014/main" id="{08F9D887-1565-4392-9A4C-C60BA7468D72}"/>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Current device events use a demo source</a:t>
            </a:r>
          </a:p>
        </p:txBody>
      </p:sp>
    </p:spTree>
    <p:extLst>
      <p:ext uri="{BB962C8B-B14F-4D97-AF65-F5344CB8AC3E}">
        <p14:creationId xmlns:p14="http://schemas.microsoft.com/office/powerpoint/2010/main" val="592403763"/>
      </p:ext>
    </p:extLst>
  </p:cSld>
</p:sld>
</file>

<file path=ppt/slides/slide1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5180A37-57D3-423D-9C8F-C1BBC16E975F}"/>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Appendix: evidence and boundaries</a:t>
            </a:r>
          </a:p>
        </p:txBody>
      </p:sp>
      <p:sp>
        <p:nvSpPr>
          <p:cNvPr id="2" name="">
            <a:extLst xmlns:a="http://schemas.openxmlformats.org/drawingml/2006/main">
              <a:ext uri="{FF2B5EF4-FFF2-40B4-BE49-F238E27FC236}">
                <a16:creationId xmlns:a16="http://schemas.microsoft.com/office/drawing/2014/main" id="{AF83BEE3-B17F-48A1-A09C-AAC83860BA1C}"/>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12D2788D-405A-4FA7-A5FB-5EB3AF085546}"/>
              </a:ext>
            </a:extLst>
          </p:cNvPr>
          <p:cNvSpPr>
            <a:spLocks xmlns:a="http://schemas.openxmlformats.org/drawingml/2006/main" noGrp="1"/>
          </p:cNvSpPr>
          <p:nvPr/>
        </p:nvSpPr>
        <p:spPr>
          <a:xfrm xmlns:a="http://schemas.openxmlformats.org/drawingml/2006/main">
            <a:off x="609600" y="21240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B2FF00"/>
                </a:solidFill>
                <a:latin typeface="Helvetica Neue"/>
                <a:ea typeface="Helvetica Neue"/>
                <a:cs typeface="Helvetica Neue"/>
              </a:defRPr>
            </a:pPr>
            <a:r>
              <a:rPr sz="2775" b="1">
                <a:solidFill>
                  <a:srgbClr val="B2FF00"/>
                </a:solidFill>
                <a:latin typeface="Helvetica Neue"/>
                <a:ea typeface="Helvetica Neue"/>
                <a:cs typeface="Helvetica Neue"/>
              </a:rPr>
              <a:t>Sony</a:t>
            </a:r>
          </a:p>
        </p:txBody>
      </p:sp>
      <p:sp>
        <p:nvSpPr>
          <p:cNvPr id="4" name="">
            <a:extLst xmlns:a="http://schemas.openxmlformats.org/drawingml/2006/main">
              <a:ext uri="{FF2B5EF4-FFF2-40B4-BE49-F238E27FC236}">
                <a16:creationId xmlns:a16="http://schemas.microsoft.com/office/drawing/2014/main" id="{2CAED7F0-2D75-42B6-AE69-BA13D5DD26F9}"/>
              </a:ext>
            </a:extLst>
          </p:cNvPr>
          <p:cNvSpPr>
            <a:spLocks xmlns:a="http://schemas.openxmlformats.org/drawingml/2006/main" noGrp="1"/>
          </p:cNvSpPr>
          <p:nvPr/>
        </p:nvSpPr>
        <p:spPr>
          <a:xfrm xmlns:a="http://schemas.openxmlformats.org/drawingml/2006/main">
            <a:off x="3781425" y="212407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6F2"/>
                </a:solidFill>
                <a:latin typeface="Helvetica Neue"/>
                <a:ea typeface="Helvetica Neue"/>
                <a:cs typeface="Helvetica Neue"/>
              </a:defRPr>
            </a:pPr>
            <a:r>
              <a:rPr sz="2550" b="0">
                <a:solidFill>
                  <a:srgbClr val="F6F6F2"/>
                </a:solidFill>
                <a:latin typeface="Helvetica Neue"/>
                <a:ea typeface="Helvetica Neue"/>
                <a:cs typeface="Helvetica Neue"/>
              </a:rPr>
              <a:t>Auto Play feature in Sound Connect</a:t>
            </a:r>
          </a:p>
        </p:txBody>
      </p:sp>
      <p:sp>
        <p:nvSpPr>
          <p:cNvPr id="5" name="">
            <a:extLst xmlns:a="http://schemas.openxmlformats.org/drawingml/2006/main">
              <a:ext uri="{FF2B5EF4-FFF2-40B4-BE49-F238E27FC236}">
                <a16:creationId xmlns:a16="http://schemas.microsoft.com/office/drawing/2014/main" id="{5F67719D-8F32-4FB5-9C5B-D6A32FE4D116}"/>
              </a:ext>
            </a:extLst>
          </p:cNvPr>
          <p:cNvSpPr>
            <a:spLocks xmlns:a="http://schemas.openxmlformats.org/drawingml/2006/main" noGrp="1"/>
          </p:cNvSpPr>
          <p:nvPr/>
        </p:nvSpPr>
        <p:spPr>
          <a:xfrm xmlns:a="http://schemas.openxmlformats.org/drawingml/2006/main">
            <a:off x="609600" y="31337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B2FF00"/>
                </a:solidFill>
                <a:latin typeface="Helvetica Neue"/>
                <a:ea typeface="Helvetica Neue"/>
                <a:cs typeface="Helvetica Neue"/>
              </a:defRPr>
            </a:pPr>
            <a:r>
              <a:rPr sz="2775" b="1">
                <a:solidFill>
                  <a:srgbClr val="B2FF00"/>
                </a:solidFill>
                <a:latin typeface="Helvetica Neue"/>
                <a:ea typeface="Helvetica Neue"/>
                <a:cs typeface="Helvetica Neue"/>
              </a:rPr>
              <a:t>Philips</a:t>
            </a:r>
          </a:p>
        </p:txBody>
      </p:sp>
      <p:sp>
        <p:nvSpPr>
          <p:cNvPr id="6" name="">
            <a:extLst xmlns:a="http://schemas.openxmlformats.org/drawingml/2006/main">
              <a:ext uri="{FF2B5EF4-FFF2-40B4-BE49-F238E27FC236}">
                <a16:creationId xmlns:a16="http://schemas.microsoft.com/office/drawing/2014/main" id="{24FDD4BF-7D05-41F8-96A1-EF66214BDF9E}"/>
              </a:ext>
            </a:extLst>
          </p:cNvPr>
          <p:cNvSpPr>
            <a:spLocks xmlns:a="http://schemas.openxmlformats.org/drawingml/2006/main" noGrp="1"/>
          </p:cNvSpPr>
          <p:nvPr/>
        </p:nvSpPr>
        <p:spPr>
          <a:xfrm xmlns:a="http://schemas.openxmlformats.org/drawingml/2006/main">
            <a:off x="3781425" y="313372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6F2"/>
                </a:solidFill>
                <a:latin typeface="Helvetica Neue"/>
                <a:ea typeface="Helvetica Neue"/>
                <a:cs typeface="Helvetica Neue"/>
              </a:defRPr>
            </a:pPr>
            <a:r>
              <a:rPr sz="2550" b="0">
                <a:solidFill>
                  <a:srgbClr val="F6F6F2"/>
                </a:solidFill>
                <a:latin typeface="Helvetica Neue"/>
                <a:ea typeface="Helvetica Neue"/>
                <a:cs typeface="Helvetica Neue"/>
              </a:rPr>
              <a:t>HealthSuite SDK, healthcare</a:t>
            </a:r>
          </a:p>
        </p:txBody>
      </p:sp>
      <p:sp>
        <p:nvSpPr>
          <p:cNvPr id="7" name="">
            <a:extLst xmlns:a="http://schemas.openxmlformats.org/drawingml/2006/main">
              <a:ext uri="{FF2B5EF4-FFF2-40B4-BE49-F238E27FC236}">
                <a16:creationId xmlns:a16="http://schemas.microsoft.com/office/drawing/2014/main" id="{0F350804-5E0B-44B5-9A64-7DF551A4F9D6}"/>
              </a:ext>
            </a:extLst>
          </p:cNvPr>
          <p:cNvSpPr>
            <a:spLocks xmlns:a="http://schemas.openxmlformats.org/drawingml/2006/main" noGrp="1"/>
          </p:cNvSpPr>
          <p:nvPr/>
        </p:nvSpPr>
        <p:spPr>
          <a:xfrm xmlns:a="http://schemas.openxmlformats.org/drawingml/2006/main">
            <a:off x="609600" y="41433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B2FF00"/>
                </a:solidFill>
                <a:latin typeface="Helvetica Neue"/>
                <a:ea typeface="Helvetica Neue"/>
                <a:cs typeface="Helvetica Neue"/>
              </a:defRPr>
            </a:pPr>
            <a:r>
              <a:rPr sz="2775" b="1">
                <a:solidFill>
                  <a:srgbClr val="B2FF00"/>
                </a:solidFill>
                <a:latin typeface="Helvetica Neue"/>
                <a:ea typeface="Helvetica Neue"/>
                <a:cs typeface="Helvetica Neue"/>
              </a:rPr>
              <a:t>JetBrains</a:t>
            </a:r>
          </a:p>
        </p:txBody>
      </p:sp>
      <p:sp>
        <p:nvSpPr>
          <p:cNvPr id="8" name="">
            <a:extLst xmlns:a="http://schemas.openxmlformats.org/drawingml/2006/main">
              <a:ext uri="{FF2B5EF4-FFF2-40B4-BE49-F238E27FC236}">
                <a16:creationId xmlns:a16="http://schemas.microsoft.com/office/drawing/2014/main" id="{E5C2BEE0-6223-4FB3-AEDD-5F1494FA574E}"/>
              </a:ext>
            </a:extLst>
          </p:cNvPr>
          <p:cNvSpPr>
            <a:spLocks xmlns:a="http://schemas.openxmlformats.org/drawingml/2006/main" noGrp="1"/>
          </p:cNvSpPr>
          <p:nvPr/>
        </p:nvSpPr>
        <p:spPr>
          <a:xfrm xmlns:a="http://schemas.openxmlformats.org/drawingml/2006/main">
            <a:off x="3781425" y="414337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6F2"/>
                </a:solidFill>
                <a:latin typeface="Helvetica Neue"/>
                <a:ea typeface="Helvetica Neue"/>
                <a:cs typeface="Helvetica Neue"/>
              </a:defRPr>
            </a:pPr>
            <a:r>
              <a:rPr sz="2550" b="0">
                <a:solidFill>
                  <a:srgbClr val="F6F6F2"/>
                </a:solidFill>
                <a:latin typeface="Helvetica Neue"/>
                <a:ea typeface="Helvetica Neue"/>
                <a:cs typeface="Helvetica Neue"/>
              </a:rPr>
              <a:t>Survey evidence, not Shure ROI</a:t>
            </a:r>
          </a:p>
        </p:txBody>
      </p:sp>
      <p:sp>
        <p:nvSpPr>
          <p:cNvPr id="9" name="">
            <a:extLst xmlns:a="http://schemas.openxmlformats.org/drawingml/2006/main">
              <a:ext uri="{FF2B5EF4-FFF2-40B4-BE49-F238E27FC236}">
                <a16:creationId xmlns:a16="http://schemas.microsoft.com/office/drawing/2014/main" id="{A3C88CA5-261F-44DA-B199-51463F07CA2C}"/>
              </a:ext>
            </a:extLst>
          </p:cNvPr>
          <p:cNvSpPr>
            <a:spLocks xmlns:a="http://schemas.openxmlformats.org/drawingml/2006/main" noGrp="1"/>
          </p:cNvSpPr>
          <p:nvPr/>
        </p:nvSpPr>
        <p:spPr>
          <a:xfrm xmlns:a="http://schemas.openxmlformats.org/drawingml/2006/main">
            <a:off x="609600" y="5772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0AC"/>
                </a:solidFill>
                <a:latin typeface="Helvetica Neue"/>
                <a:ea typeface="Helvetica Neue"/>
                <a:cs typeface="Helvetica Neue"/>
              </a:defRPr>
            </a:pPr>
            <a:r>
              <a:rPr sz="2175" b="0">
                <a:solidFill>
                  <a:srgbClr val="ACB0AC"/>
                </a:solidFill>
                <a:latin typeface="Helvetica Neue"/>
                <a:ea typeface="Helvetica Neue"/>
                <a:cs typeface="Helvetica Neue"/>
              </a:rPr>
              <a:t>Sources and technical detail are in speaker notes</a:t>
            </a:r>
          </a:p>
        </p:txBody>
      </p:sp>
    </p:spTree>
    <p:extLst>
      <p:ext uri="{BB962C8B-B14F-4D97-AF65-F5344CB8AC3E}">
        <p14:creationId xmlns:p14="http://schemas.microsoft.com/office/powerpoint/2010/main" val="5128225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2026-10-05T13:08:34.6440000Z</dcterms:created>
  <dcterms:modified xsi:type="dcterms:W3CDTF">2026-10-05T13:08:34.6440000Z</dcterms:modified>
</coreProperties>
</file>