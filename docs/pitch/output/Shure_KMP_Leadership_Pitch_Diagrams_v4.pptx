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c6cc7295ce49d0" /><Relationship Type="http://schemas.openxmlformats.org/officeDocument/2006/relationships/extended-properties" Target="/docProps/app.xml" Id="R5b29df2fe76247e3" /><Relationship Type="http://schemas.openxmlformats.org/officeDocument/2006/relationships/officeDocument" Target="/ppt/presentation.xml" Id="R38d6f57a2a4b4531" /></Relationships>
</file>

<file path=ppt/presentation.xml><?xml version="1.0" encoding="utf-8"?>
<p:presentation xmlns:p="http://schemas.openxmlformats.org/presentationml/2006/main">
  <p:sldMasterIdLst>
    <p:sldMasterId xmlns:r="http://schemas.openxmlformats.org/officeDocument/2006/relationships" id="2147483648" r:id="R71db7eb92a5d4e08"/>
  </p:sldMasterIdLst>
  <p:notesMasterIdLst>
    <p:notesMasterId xmlns:r="http://schemas.openxmlformats.org/officeDocument/2006/relationships" r:id="R49f2e315d6ab4f60"/>
  </p:notesMasterIdLst>
  <p:sldIdLst>
    <p:sldId xmlns:r="http://schemas.openxmlformats.org/officeDocument/2006/relationships" id="256" r:id="Rd30bbccf0a0f41d2"/>
    <p:sldId xmlns:r="http://schemas.openxmlformats.org/officeDocument/2006/relationships" id="257" r:id="R00bf3dc78a074cba"/>
    <p:sldId xmlns:r="http://schemas.openxmlformats.org/officeDocument/2006/relationships" id="258" r:id="Rb5d3ae5ae5d745ec"/>
    <p:sldId xmlns:r="http://schemas.openxmlformats.org/officeDocument/2006/relationships" id="259" r:id="R709872c95d1b4b98"/>
    <p:sldId xmlns:r="http://schemas.openxmlformats.org/officeDocument/2006/relationships" id="260" r:id="R9b08229cdaed4e88"/>
    <p:sldId xmlns:r="http://schemas.openxmlformats.org/officeDocument/2006/relationships" id="261" r:id="R24b8de10ba004ba5"/>
    <p:sldId xmlns:r="http://schemas.openxmlformats.org/officeDocument/2006/relationships" id="262" r:id="Rc7a79a76848b4607"/>
    <p:sldId xmlns:r="http://schemas.openxmlformats.org/officeDocument/2006/relationships" id="263" r:id="R0ac1b4610224486f"/>
    <p:sldId xmlns:r="http://schemas.openxmlformats.org/officeDocument/2006/relationships" id="264" r:id="Rc5eebf66655449ec"/>
    <p:sldId xmlns:r="http://schemas.openxmlformats.org/officeDocument/2006/relationships" id="265" r:id="Rcd3d20e8ed334fa6"/>
    <p:sldId xmlns:r="http://schemas.openxmlformats.org/officeDocument/2006/relationships" id="266" r:id="Re953016ab1f54d83"/>
    <p:sldId xmlns:r="http://schemas.openxmlformats.org/officeDocument/2006/relationships" id="267" r:id="R2e45a49a0ddd4ca8"/>
    <p:sldId xmlns:r="http://schemas.openxmlformats.org/officeDocument/2006/relationships" id="268" r:id="Rf302f33c37c64be7"/>
    <p:sldId xmlns:r="http://schemas.openxmlformats.org/officeDocument/2006/relationships" id="269" r:id="R8ce4c42720e14a3d"/>
    <p:sldId xmlns:r="http://schemas.openxmlformats.org/officeDocument/2006/relationships" id="270" r:id="R0141dd788d72461d"/>
    <p:sldId xmlns:r="http://schemas.openxmlformats.org/officeDocument/2006/relationships" id="271" r:id="Rb247519f14e4499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d4533e39e44f43" /><Relationship Type="http://schemas.openxmlformats.org/officeDocument/2006/relationships/slideMaster" Target="/ppt/slideMasters/slideMaster1.xml" Id="R71db7eb92a5d4e08" /><Relationship Type="http://schemas.openxmlformats.org/officeDocument/2006/relationships/notesMaster" Target="/ppt/notesMasters/notesMaster1.xml" Id="R49f2e315d6ab4f60" /><Relationship Type="http://schemas.openxmlformats.org/officeDocument/2006/relationships/presProps" Target="/ppt/presProps.xml" Id="R11ed711a54e1419d" /><Relationship Type="http://schemas.openxmlformats.org/officeDocument/2006/relationships/tableStyles" Target="/ppt/tableStyles.xml" Id="R01775daf8f8847c8" /><Relationship Type="http://schemas.openxmlformats.org/officeDocument/2006/relationships/slide" Target="/ppt/slides/slide1.xml" Id="Rd30bbccf0a0f41d2" /><Relationship Type="http://schemas.openxmlformats.org/officeDocument/2006/relationships/slide" Target="/ppt/slides/slide2.xml" Id="R00bf3dc78a074cba" /><Relationship Type="http://schemas.openxmlformats.org/officeDocument/2006/relationships/slide" Target="/ppt/slides/slide3.xml" Id="Rb5d3ae5ae5d745ec" /><Relationship Type="http://schemas.openxmlformats.org/officeDocument/2006/relationships/slide" Target="/ppt/slides/slide4.xml" Id="R709872c95d1b4b98" /><Relationship Type="http://schemas.openxmlformats.org/officeDocument/2006/relationships/slide" Target="/ppt/slides/slide5.xml" Id="R9b08229cdaed4e88" /><Relationship Type="http://schemas.openxmlformats.org/officeDocument/2006/relationships/slide" Target="/ppt/slides/slide6.xml" Id="R24b8de10ba004ba5" /><Relationship Type="http://schemas.openxmlformats.org/officeDocument/2006/relationships/slide" Target="/ppt/slides/slide7.xml" Id="Rc7a79a76848b4607" /><Relationship Type="http://schemas.openxmlformats.org/officeDocument/2006/relationships/slide" Target="/ppt/slides/slide8.xml" Id="R0ac1b4610224486f" /><Relationship Type="http://schemas.openxmlformats.org/officeDocument/2006/relationships/slide" Target="/ppt/slides/slide9.xml" Id="Rc5eebf66655449ec" /><Relationship Type="http://schemas.openxmlformats.org/officeDocument/2006/relationships/slide" Target="/ppt/slides/slide10.xml" Id="Rcd3d20e8ed334fa6" /><Relationship Type="http://schemas.openxmlformats.org/officeDocument/2006/relationships/slide" Target="/ppt/slides/slide11.xml" Id="Re953016ab1f54d83" /><Relationship Type="http://schemas.openxmlformats.org/officeDocument/2006/relationships/slide" Target="/ppt/slides/slide12.xml" Id="R2e45a49a0ddd4ca8" /><Relationship Type="http://schemas.openxmlformats.org/officeDocument/2006/relationships/slide" Target="/ppt/slides/slide13.xml" Id="Rf302f33c37c64be7" /><Relationship Type="http://schemas.openxmlformats.org/officeDocument/2006/relationships/slide" Target="/ppt/slides/slide14.xml" Id="R8ce4c42720e14a3d" /><Relationship Type="http://schemas.openxmlformats.org/officeDocument/2006/relationships/slide" Target="/ppt/slides/slide15.xml" Id="R0141dd788d72461d" /><Relationship Type="http://schemas.openxmlformats.org/officeDocument/2006/relationships/slide" Target="/ppt/slides/slide16.xml" Id="Rb247519f14e449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41104d22ac4b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3137714fb3d4335" /><Relationship Type="http://schemas.openxmlformats.org/officeDocument/2006/relationships/notesMaster" Target="/ppt/notesMasters/notesMaster1.xml" Id="Ra506f4f832194c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485edc14854b98" /><Relationship Type="http://schemas.openxmlformats.org/officeDocument/2006/relationships/notesMaster" Target="/ppt/notesMasters/notesMaster1.xml" Id="R7d4c206d66a0402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c6b1e8229f4eaa" /><Relationship Type="http://schemas.openxmlformats.org/officeDocument/2006/relationships/notesMaster" Target="/ppt/notesMasters/notesMaster1.xml" Id="Ra266e2c5ab584c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5215154b62f418b" /><Relationship Type="http://schemas.openxmlformats.org/officeDocument/2006/relationships/notesMaster" Target="/ppt/notesMasters/notesMaster1.xml" Id="R2fe879a85df94c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3f908e88214f37" /><Relationship Type="http://schemas.openxmlformats.org/officeDocument/2006/relationships/notesMaster" Target="/ppt/notesMasters/notesMaster1.xml" Id="R4edf7866089149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321e024c3b4e6c" /><Relationship Type="http://schemas.openxmlformats.org/officeDocument/2006/relationships/notesMaster" Target="/ppt/notesMasters/notesMaster1.xml" Id="Re46f378f1b0a4d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2a3b3e0bdf423a" /><Relationship Type="http://schemas.openxmlformats.org/officeDocument/2006/relationships/notesMaster" Target="/ppt/notesMasters/notesMaster1.xml" Id="R5a959a78ce8744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728688f585434b" /><Relationship Type="http://schemas.openxmlformats.org/officeDocument/2006/relationships/notesMaster" Target="/ppt/notesMasters/notesMaster1.xml" Id="Rb8dfd11a2e994e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60b823da29844b5" /><Relationship Type="http://schemas.openxmlformats.org/officeDocument/2006/relationships/notesMaster" Target="/ppt/notesMasters/notesMaster1.xml" Id="Rf073c40555bf4f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996206b1c234b91" /><Relationship Type="http://schemas.openxmlformats.org/officeDocument/2006/relationships/notesMaster" Target="/ppt/notesMasters/notesMaster1.xml" Id="Rfdad63ba68cb4c1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50d60295a34424" /><Relationship Type="http://schemas.openxmlformats.org/officeDocument/2006/relationships/notesMaster" Target="/ppt/notesMasters/notesMaster1.xml" Id="R91cd71cc05b243b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8bf774b51f4cff" /><Relationship Type="http://schemas.openxmlformats.org/officeDocument/2006/relationships/notesMaster" Target="/ppt/notesMasters/notesMaster1.xml" Id="R544e207f635d433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6b586d551d1474e" /><Relationship Type="http://schemas.openxmlformats.org/officeDocument/2006/relationships/notesMaster" Target="/ppt/notesMasters/notesMaster1.xml" Id="R11672d9d4c9444c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80e1bc422eb42e8" /><Relationship Type="http://schemas.openxmlformats.org/officeDocument/2006/relationships/notesMaster" Target="/ppt/notesMasters/notesMaster1.xml" Id="R7744844923ac46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cced1a82b6043c7" /><Relationship Type="http://schemas.openxmlformats.org/officeDocument/2006/relationships/notesMaster" Target="/ppt/notesMasters/notesMaster1.xml" Id="R68941610f9bf4ac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030331736b45b1" /><Relationship Type="http://schemas.openxmlformats.org/officeDocument/2006/relationships/notesMaster" Target="/ppt/notesMasters/notesMaster1.xml" Id="Rc2a0d23075ab41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propose a bounded KMP pilot. The core argument is continuity with Shure’s existing native apps and Kotlin expertise. This deck recommends shared logic first. Shared Compose UI remains a separate decision.</a:t>
            </a:r>
          </a:p>
          <a:p xmlns:a="http://schemas.openxmlformats.org/drawingml/2006/main">
            <a:r>
              <a:t>Internal proposal, 5 October 2026.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device-server architecture and team Kotlin expertise come from the user’s supplied context, not an independent audit of the legacy app. Validate the exact legacy JNI/Apollo scope with the native team. Google support is externally documented.</a:t>
            </a:r>
          </a:p>
          <a:p xmlns:a="http://schemas.openxmlformats.org/drawingml/2006/main">
            <a:r>
              <a:t>Source: https://developer.android.com/kotlin/multiplatform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Kotlin Multiplatform shares Kotlin code across targets. The Android target runs on the JVM/ART and iOS uses Kotlin/Native, including its own runtime and memory management. KMP does not automatically convert Android SDK code or Swift into common Kotlin. Native UI can remain. Compose Multiplatform is an optional UI strategy.</a:t>
            </a:r>
          </a:p>
          <a:p xmlns:a="http://schemas.openxmlformats.org/drawingml/2006/main">
            <a:r>
              <a:t>Sources: https://developer.android.com/kotlin/multiplatform</a:t>
            </a:r>
          </a:p>
          <a:p xmlns:a="http://schemas.openxmlformats.org/drawingml/2006/main">
            <a:r>
              <a:t>https://kotlinlang.org/docs/multiplatform/multiplatform-share-on-platforms.html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direction: the new device-hosted local server replaces the prior JNI/Apollo integration path for the target workflows. Apollo is optional in either architecture and GraphQL does not require it. The server change benefits both KMP and React Native. KMP’s separate advantage is reuse of Kotlin logic and continuity with the existing apps. Validate API coverage, versioning, server availability and streaming protocol before claiming full legacy parity.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Sony engineer Sergio Carrilho describes the Auto Play feature built with Kotlin Multiplatform, later integrated into Sony | Sound Connect in 2024. This supports an incremental feature-level story, not a claim that the complete Sound Connect app was rewritten. The case includes Compose Multiplatform as well as KMP, so it does not establish shared-core-only architecture. Sony consumer headphones differ from Shure professional device control and local server protocols. Use the analogy for audio companion software and adoption, not protocol parity or measured Shure ROI.</a:t>
            </a:r>
          </a:p>
          <a:p xmlns:a="http://schemas.openxmlformats.org/drawingml/2006/main">
            <a:r>
              <a:t>Primary practitioner source: https://sergiocarrilho.medium.com/six-years-zero-regrets-sonys-kotlin-multiplatform-success-story-1528087514d2</a:t>
            </a:r>
          </a:p>
          <a:p xmlns:a="http://schemas.openxmlformats.org/drawingml/2006/main">
            <a:r>
              <a:t>Sony engineering deck: https://speakerdeck.com/sony/sony-kmp-journey-kotlinconf2026</a:t>
            </a:r>
          </a:p>
          <a:p xmlns:a="http://schemas.openxmlformats.org/drawingml/2006/main">
            <a:r>
              <a:t>Philips distinction: https://kotlinlang.org/ describes HealthSuite mobile SDK in healthcare, not a verified Philips audio-app migration.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JetBrains State of Kotlin 2026 reports KMP use among surveyed cross-platform developers at 7% in 2024 and 18% in 2025. This is a survey measure, not a share of all apps or companies. Google officially supports sharing business logic between Android and iOS. Company examples are publisher-reported deployments with different scopes, not proof of Shure ROI.</a:t>
            </a:r>
          </a:p>
          <a:p xmlns:a="http://schemas.openxmlformats.org/drawingml/2006/main">
            <a:r>
              <a:t>Sources: https://kotlinlang.org/state-of-kotlin-2026/</a:t>
            </a:r>
          </a:p>
          <a:p xmlns:a="http://schemas.openxmlformats.org/drawingml/2006/main">
            <a:r>
              <a:t>https://android-developers.googleblog.com/2024/05/android-support-for-kotlin-multiplatform-to-share-business-logic-across-mobile-web-server-desktop.html</a:t>
            </a:r>
          </a:p>
          <a:p xmlns:a="http://schemas.openxmlformats.org/drawingml/2006/main">
            <a:r>
              <a:t>https://kotlinlang.org/docs/multiplatform/use-cases-examples.html</a:t>
            </a:r>
          </a:p>
          <a:p xmlns:a="http://schemas.openxmlformats.org/drawingml/2006/main">
            <a:r>
              <a:t>Survey denominator: surveyed cross-platform developers. Company-specific outcomes are not promises for Shure.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examples, not claims that every company converted every app. Sony: Auto Play in Sound Connect, https://sergiocarrilho.medium.com/six-years-zero-regrets-sonys-kotlin-multiplatform-success-story-1528087514d2. Google Docs: shared business logic, https://android-developers.googleblog.com/2024/05/android-support-for-kotlin-multiplatform-to-share-business-logic-across-mobile-web-server-desktop.html. Philips: HealthSuite mobile SDK, https://kotlinlang.org/. Forbes and McDonald’s: mobile app logic. Cash App: documented fintech adoption. Source index: https://kotlinlang.org/docs/multiplatform/use-cases-examples.html. Verified 5 October 2026. Adoption scopes differ, and these examples do not establish Shure ROI.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Compatible Kotlin logic can move to commonMain. Android-specific code remains in androidMain or changes to multiplatform dependencies and interfaces. Swift and Objective-C functionality remains in the iOS application or platform adapters, rather than automatically becoming shared Kotlin. Platform-specific APIs can be exposed through interfaces or expect/actual.</a:t>
            </a:r>
          </a:p>
          <a:p xmlns:a="http://schemas.openxmlformats.org/drawingml/2006/main">
            <a:r>
              <a:t>Sources: https://kotlinlang.org/docs/multiplatform/multiplatform-integrate-in-existing-app.html</a:t>
            </a:r>
          </a:p>
          <a:p xmlns:a="http://schemas.openxmlformats.org/drawingml/2006/main">
            <a:r>
              <a:t>https://kotlinlang.org/docs/multiplatform/multiplatform-share-on-platforms.html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comparison is a project-specific assessment, not a benchmark. React Native supports incremental adoption and native modules. Its New Architecture uses JSI and removes the old asynchronous bridge, so do not frame the comparison using obsolete bridge claims. Both can consume the local API and implement streaming. KMP also has runtime and interoperability considerations.</a:t>
            </a:r>
          </a:p>
          <a:p xmlns:a="http://schemas.openxmlformats.org/drawingml/2006/main">
            <a:r>
              <a:t>Sources: https://reactnative.dev/docs/integration-with-existing-apps</a:t>
            </a:r>
          </a:p>
          <a:p xmlns:a="http://schemas.openxmlformats.org/drawingml/2006/main">
            <a:r>
              <a:t>https://reactnative.dev/blog/2024/10/23/the-new-architecture-is-here</a:t>
            </a:r>
          </a:p>
          <a:p xmlns:a="http://schemas.openxmlformats.org/drawingml/2006/main">
            <a:r>
              <a:t>https://kotlinlang.org/docs/multiplatform/multiplatform-integrate-in-existing-app.html</a:t>
            </a:r>
          </a:p>
          <a:p xmlns:a="http://schemas.openxmlformats.org/drawingml/2006/main">
            <a:r>
              <a:t>https://developer.android.com/kotlin/multiplatform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5 October 2026. Existing modules include core/common, core/network, core/database and core/datastore. Device flow uses DeviceViewModel, use cases and repository interfaces. Koin binds the dependencies. Native UI integration is a proposed next step. The current demo has shared Compose UI. The web device store is in memory, rather than Room.</a:t>
            </a:r>
          </a:p>
          <a:p xmlns:a="http://schemas.openxmlformats.org/drawingml/2006/main">
            <a:r>
              <a:t>Repository evidence: shared/src/commonMain/kotlin/com/shure/wireless/channels/devices/di/StoredDevicesModule.kt; core/network/src/commonMain; core/database/src/commonMain; core/datastore/src/commonMain.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Compatible Kotlin logic can move to commonMain. Android-specific code remains in androidMain or changes to multiplatform dependencies and interfaces. Swift and Objective-C functionality remains in the iOS application or platform adapters, rather than automatically becoming shared Kotlin. Platform-specific APIs can be exposed through interfaces or expect/actual.</a:t>
            </a:r>
          </a:p>
          <a:p xmlns:a="http://schemas.openxmlformats.org/drawingml/2006/main">
            <a:r>
              <a:t>Sources: https://kotlinlang.org/docs/multiplatform/multiplatform-integrate-in-existing-app.html</a:t>
            </a:r>
          </a:p>
          <a:p xmlns:a="http://schemas.openxmlformats.org/drawingml/2006/main">
            <a:r>
              <a:t>https://kotlinlang.org/docs/multiplatform/multiplatform-share-on-platforms.html</a:t>
            </a:r>
          </a:p>
          <a:p xmlns:a="http://schemas.openxmlformats.org/drawingml/2006/main">
            <a:r>
              <a:t>Proposed migration sequence. Keep current app screens, extract compatible Kotlin use cases and repository contracts, then consume the shared core from both applications. Native OS implementations remain at platform boundaries. No migration duration follows from this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target demonstration sequence, not a statement that every step works today. Use a real test device and server. Capture a short backup recording. Confirm the discovery query/operationName, endpoint, channel write contract and stream protocol. For Android emulator host testing, 10.0.2.2 addresses the host loopback. For a physical device, use the reachable device-server address. Do not expose secrets in leadership logs.</a:t>
            </a:r>
          </a:p>
          <a:p xmlns:a="http://schemas.openxmlformats.org/drawingml/2006/main">
            <a:r>
              <a:t>Target demo, subject to completion of real writes and device streams.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benefits are hypotheses for the Shure pilot. No cost savings, defect reductions or delivery gains have been measured. Compare a bounded workflow against an agreed native baseline using engineering hours and the same acceptance tests. Avoid comparing different feature complexity. Include platform integration and testing effort.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planning assumption: six weeks, subject to staffing and API availability. Week 1 establishes contracts and baseline. Weeks 2–3 implement real discovery/read/write/stream behavior. Weeks 4–5 integrate Android and iOS native screens and test recovery. Week 6 compares results against the baseline. Suggested owners: one Kotlin/shared-core engineer, one iOS engineer, QA support and a device/server contact. Leadership should approve scope and staffing, with a review gate rather than a full migration commitment.</a:t>
            </a:r>
          </a:p>
          <a:p xmlns:a="http://schemas.openxmlformats.org/drawingml/2006/main">
            <a:r>
              <a:t>Six weeks is a discussion assumption, not a commitment.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inspection only. No Gradle tasks or live device validation were run for this presentation. Discovery operationName currently differs from the named query, and lastSeenAtEpochMillis is a placeholder. Resolve these before live demo. Device events currently delegate to DemoDeviceOperationsRepository. Generic PUT support exists in NetworkApiClient, but there is no demonstrated real channel-write use case in the inspected device path. WebSocket infrastructure exists, but GraphQL subscriptions require protocol-specific integration.</a:t>
            </a:r>
          </a:p>
          <a:p xmlns:a="http://schemas.openxmlformats.org/drawingml/2006/main">
            <a:r>
              <a:t>Evidence: GraphQlDeviceOperationsRepository.kt; DiscoverDevicesGraphQlModels.kt; NetworkApiClient.kt; WebSocketClient.kt; StoredDevicesModule.kt.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5 October 2026. Adoption figures are JetBrains survey results and company case studies, not independent Shure measurements. PoC statements reflect source inspection rather than execution. User supplied the local server direction, native integration context and team expertise. Full citations are included in the relevant slide notes.</a:t>
            </a:r>
          </a:p>
          <a:p xmlns:a="http://schemas.openxmlformats.org/drawingml/2006/main">
            <a:r>
              <a:t>https://kotlinlang.org/state-of-kotlin-2026/</a:t>
            </a:r>
          </a:p>
          <a:p xmlns:a="http://schemas.openxmlformats.org/drawingml/2006/main">
            <a:r>
              <a:t>https://kotlinlang.org/docs/multiplatform/use-cases-examples.html</a:t>
            </a:r>
          </a:p>
          <a:p xmlns:a="http://schemas.openxmlformats.org/drawingml/2006/main">
            <a:r>
              <a:t>https://android-developers.googleblog.com/2024/05/android-support-for-kotlin-multiplatform-to-share-business-logic-across-mobile-web-server-desktop.html</a:t>
            </a:r>
          </a:p>
          <a:p xmlns:a="http://schemas.openxmlformats.org/drawingml/2006/main">
            <a:r>
              <a:t>https://developer.android.com/kotlin/multiplatform</a:t>
            </a:r>
          </a:p>
          <a:p xmlns:a="http://schemas.openxmlformats.org/drawingml/2006/main">
            <a:r>
              <a:t>https://kotlinlang.org/docs/multiplatform/multiplatform-integrate-in-existing-app.html</a:t>
            </a:r>
          </a:p>
          <a:p xmlns:a="http://schemas.openxmlformats.org/drawingml/2006/main">
            <a:r>
              <a:t>https://kotlinlang.org/docs/multiplatform/multiplatform-share-on-platforms.html</a:t>
            </a:r>
          </a:p>
          <a:p xmlns:a="http://schemas.openxmlformats.org/drawingml/2006/main">
            <a:r>
              <a:t>https://reactnative.dev/docs/integration-with-existing-apps</a:t>
            </a:r>
          </a:p>
          <a:p xmlns:a="http://schemas.openxmlformats.org/drawingml/2006/main">
            <a:r>
              <a:t>https://reactnative.dev/blog/2024/10/23/the-new-architecture-is-here</a:t>
            </a:r>
          </a:p>
          <a:p xmlns:a="http://schemas.openxmlformats.org/drawingml/2006/main">
            <a:r>
              <a:t>Sony: https://sergiocarrilho.medium.com/six-years-zero-regrets-sonys-kotlin-multiplatform-success-story-1528087514d2</a:t>
            </a:r>
          </a:p>
          <a:p xmlns:a="http://schemas.openxmlformats.org/drawingml/2006/main">
            <a:r>
              <a:t>https://speakerdeck.com/sony/sony-kmp-journey-kotlinconf2026</a:t>
            </a:r>
          </a:p>
          <a:p xmlns:a="http://schemas.openxmlformats.org/drawingml/2006/main">
            <a:r>
              <a:t>Philips HealthSuite SDK: https://kotlinlang.org/</a:t>
            </a:r>
          </a:p>
          <a:p xmlns:a="http://schemas.openxmlformats.org/drawingml/2006/main">
            <a:r>
              <a:t>Verified 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4ebe42eaa948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988dbfe1d1421a" /><Relationship Type="http://schemas.openxmlformats.org/officeDocument/2006/relationships/slideLayout" Target="/ppt/slideLayouts/slideLayout1.xml" Id="R984bbc3255094b1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4bbc3255094b1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2c634eaf104d98" /><Relationship Type="http://schemas.openxmlformats.org/officeDocument/2006/relationships/image" Target="/ppt/media/image.png" Id="Rfff762cc7c434766" /><Relationship Type="http://schemas.openxmlformats.org/officeDocument/2006/relationships/notesSlide" Target="/ppt/notesSlides/notesSlide1.xml" Id="Raa9e3d06e2b743c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48b8a16db74bb1" /><Relationship Type="http://schemas.openxmlformats.org/officeDocument/2006/relationships/notesSlide" Target="/ppt/notesSlides/notesSlide2.xml" Id="R85af4db4299443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1d6c30e0144e72" /><Relationship Type="http://schemas.openxmlformats.org/officeDocument/2006/relationships/notesSlide" Target="/ppt/notesSlides/notesSlide3.xml" Id="R372d6732f81340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a19f2142a0472c" /><Relationship Type="http://schemas.openxmlformats.org/officeDocument/2006/relationships/notesSlide" Target="/ppt/notesSlides/notesSlide4.xml" Id="R39c5b7ad136741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a4219547d346aa" /><Relationship Type="http://schemas.openxmlformats.org/officeDocument/2006/relationships/notesSlide" Target="/ppt/notesSlides/notesSlide5.xml" Id="R3ba15f63bbef4c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36370778bb4720" /><Relationship Type="http://schemas.openxmlformats.org/officeDocument/2006/relationships/notesSlide" Target="/ppt/notesSlides/notesSlide6.xml" Id="Rd1068edfb14e46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94081c609e4edb" /><Relationship Type="http://schemas.openxmlformats.org/officeDocument/2006/relationships/notesSlide" Target="/ppt/notesSlides/notesSlide7.xml" Id="R804faf50a72247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063f4df71e343f1" /><Relationship Type="http://schemas.openxmlformats.org/officeDocument/2006/relationships/notesSlide" Target="/ppt/notesSlides/notesSlide8.xml" Id="R88ffde37b9164e4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9efb3932eb24378" /><Relationship Type="http://schemas.openxmlformats.org/officeDocument/2006/relationships/notesSlide" Target="/ppt/notesSlides/notesSlide9.xml" Id="R3396289d00014d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0b02301fd6146b7" /><Relationship Type="http://schemas.openxmlformats.org/officeDocument/2006/relationships/notesSlide" Target="/ppt/notesSlides/notesSlide10.xml" Id="R9061aa0af2c840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570fda5a9f347d9" /><Relationship Type="http://schemas.openxmlformats.org/officeDocument/2006/relationships/notesSlide" Target="/ppt/notesSlides/notesSlide11.xml" Id="Rd92ff66fe7d847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6047f163b154491" /><Relationship Type="http://schemas.openxmlformats.org/officeDocument/2006/relationships/notesSlide" Target="/ppt/notesSlides/notesSlide12.xml" Id="R2b2e9a7e15534a1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35f755cc9ad4a43" /><Relationship Type="http://schemas.openxmlformats.org/officeDocument/2006/relationships/notesSlide" Target="/ppt/notesSlides/notesSlide13.xml" Id="R8fc0d6b5a5de4a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daf4777244248e5" /><Relationship Type="http://schemas.openxmlformats.org/officeDocument/2006/relationships/notesSlide" Target="/ppt/notesSlides/notesSlide14.xml" Id="R5d4d8022bf2245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66e66921b0a4511" /><Relationship Type="http://schemas.openxmlformats.org/officeDocument/2006/relationships/notesSlide" Target="/ppt/notesSlides/notesSlide15.xml" Id="Rd3203dabfd7e434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175fd89bc174458" /><Relationship Type="http://schemas.openxmlformats.org/officeDocument/2006/relationships/notesSlide" Target="/ppt/notesSlides/notesSlide16.xml" Id="Rffc0e3d42e7d49ea"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B58E43-6AFE-415D-B443-2C567CC740B3}"/>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6D6FCCDF-A3FB-4D55-B16B-83D60882027F}"/>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DDD821FC-D136-4BCA-BED7-B0B7BDE9279C}"/>
              </a:ext>
            </a:extLst>
          </p:cNvPr>
          <p:cNvSpPr>
            <a:spLocks xmlns:a="http://schemas.openxmlformats.org/drawingml/2006/main" noGrp="1"/>
          </p:cNvSpPr>
          <p:nvPr/>
        </p:nvSpPr>
        <p:spPr>
          <a:xfrm xmlns:a="http://schemas.openxmlformats.org/drawingml/2006/main">
            <a:off x="609600" y="52387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2FF00"/>
                </a:solidFill>
                <a:latin typeface="Helvetica Neue"/>
                <a:ea typeface="Helvetica Neue"/>
                <a:cs typeface="Helvetica Neue"/>
              </a:defRPr>
            </a:pPr>
            <a:r>
              <a:rPr sz="2400" b="1">
                <a:solidFill>
                  <a:srgbClr val="B2FF00"/>
                </a:solidFill>
                <a:latin typeface="Helvetica Neue"/>
                <a:ea typeface="Helvetica Neue"/>
                <a:cs typeface="Helvetica Neue"/>
              </a:rPr>
              <a:t>SHURE</a:t>
            </a:r>
          </a:p>
        </p:txBody>
      </p:sp>
      <p:sp>
        <p:nvSpPr>
          <p:cNvPr id="4" name="">
            <a:extLst xmlns:a="http://schemas.openxmlformats.org/drawingml/2006/main">
              <a:ext uri="{FF2B5EF4-FFF2-40B4-BE49-F238E27FC236}">
                <a16:creationId xmlns:a16="http://schemas.microsoft.com/office/drawing/2014/main" id="{0C5D9AA0-C72F-4BEB-8DC8-F87F5B88E047}"/>
              </a:ext>
            </a:extLst>
          </p:cNvPr>
          <p:cNvSpPr>
            <a:spLocks xmlns:a="http://schemas.openxmlformats.org/drawingml/2006/main" noGrp="1"/>
          </p:cNvSpPr>
          <p:nvPr/>
        </p:nvSpPr>
        <p:spPr>
          <a:xfrm xmlns:a="http://schemas.openxmlformats.org/drawingml/2006/main">
            <a:off x="609600" y="2047875"/>
            <a:ext cx="80962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6F6F2"/>
                </a:solidFill>
                <a:latin typeface="Helvetica Neue"/>
                <a:ea typeface="Helvetica Neue"/>
                <a:cs typeface="Helvetica Neue"/>
              </a:defRPr>
            </a:pPr>
            <a:r>
              <a:rPr sz="5400" b="1">
                <a:solidFill>
                  <a:srgbClr val="F6F6F2"/>
                </a:solidFill>
                <a:latin typeface="Helvetica Neue"/>
                <a:ea typeface="Helvetica Neue"/>
                <a:cs typeface="Helvetica Neue"/>
              </a:rPr>
              <a:t>One shared core.</a:t>
            </a:r>
          </a:p>
          <a:p xmlns:a="http://schemas.openxmlformats.org/drawingml/2006/main">
            <a:pPr>
              <a:defRPr sz="5400" b="1">
                <a:solidFill>
                  <a:srgbClr val="F6F6F2"/>
                </a:solidFill>
                <a:latin typeface="Helvetica Neue"/>
                <a:ea typeface="Helvetica Neue"/>
                <a:cs typeface="Helvetica Neue"/>
              </a:defRPr>
            </a:pPr>
            <a:r>
              <a:rPr sz="5400" b="1">
                <a:solidFill>
                  <a:srgbClr val="F6F6F2"/>
                </a:solidFill>
                <a:latin typeface="Helvetica Neue"/>
                <a:ea typeface="Helvetica Neue"/>
                <a:cs typeface="Helvetica Neue"/>
              </a:rPr>
              <a:t>Native flexibility.</a:t>
            </a:r>
          </a:p>
        </p:txBody>
      </p:sp>
      <p:sp>
        <p:nvSpPr>
          <p:cNvPr id="5" name="">
            <a:extLst xmlns:a="http://schemas.openxmlformats.org/drawingml/2006/main">
              <a:ext uri="{FF2B5EF4-FFF2-40B4-BE49-F238E27FC236}">
                <a16:creationId xmlns:a16="http://schemas.microsoft.com/office/drawing/2014/main" id="{D5BFB138-FC44-40E4-9D5C-494AE92B591F}"/>
              </a:ext>
            </a:extLst>
          </p:cNvPr>
          <p:cNvSpPr>
            <a:spLocks xmlns:a="http://schemas.openxmlformats.org/drawingml/2006/main" noGrp="1"/>
          </p:cNvSpPr>
          <p:nvPr/>
        </p:nvSpPr>
        <p:spPr>
          <a:xfrm xmlns:a="http://schemas.openxmlformats.org/drawingml/2006/main">
            <a:off x="609600" y="505777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2FF00"/>
                </a:solidFill>
                <a:latin typeface="Helvetica Neue"/>
                <a:ea typeface="Helvetica Neue"/>
                <a:cs typeface="Helvetica Neue"/>
              </a:defRPr>
            </a:pPr>
            <a:r>
              <a:rPr sz="2550" b="0">
                <a:solidFill>
                  <a:srgbClr val="B2FF00"/>
                </a:solidFill>
                <a:latin typeface="Helvetica Neue"/>
                <a:ea typeface="Helvetica Neue"/>
                <a:cs typeface="Helvetica Neue"/>
              </a:rPr>
              <a:t>Kotlin Multiplatform initiative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f762cc7c434766"/>
          <a:stretch xmlns:a="http://schemas.openxmlformats.org/drawingml/2006/main"/>
        </p:blipFill>
        <p:spPr>
          <a:xfrm xmlns:a="http://schemas.openxmlformats.org/drawingml/2006/main">
            <a:off x="9020175" y="2276475"/>
            <a:ext cx="2333625" cy="2333625"/>
          </a:xfrm>
          <a:prstGeom xmlns:a="http://schemas.openxmlformats.org/drawingml/2006/main" prst="rect">
            <a:avLst/>
          </a:prstGeom>
        </p:spPr>
      </p:pic>
    </p:spTree>
    <p:extLst>
      <p:ext uri="{BB962C8B-B14F-4D97-AF65-F5344CB8AC3E}">
        <p14:creationId xmlns:p14="http://schemas.microsoft.com/office/powerpoint/2010/main" val="1201214627"/>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1C3F438-A34A-4064-A6EB-DCA059493ACF}"/>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Why now</a:t>
            </a:r>
          </a:p>
        </p:txBody>
      </p:sp>
      <p:sp>
        <p:nvSpPr>
          <p:cNvPr id="2" name="">
            <a:extLst xmlns:a="http://schemas.openxmlformats.org/drawingml/2006/main">
              <a:ext uri="{FF2B5EF4-FFF2-40B4-BE49-F238E27FC236}">
                <a16:creationId xmlns:a16="http://schemas.microsoft.com/office/drawing/2014/main" id="{5930D804-D5DA-4FDA-BC96-40AF3A16AFE1}"/>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6B4C17D6-CFF1-44C8-B706-CA31DD2094B6}"/>
              </a:ext>
            </a:extLst>
          </p:cNvPr>
          <p:cNvSpPr>
            <a:spLocks xmlns:a="http://schemas.openxmlformats.org/drawingml/2006/main" noGrp="1"/>
          </p:cNvSpPr>
          <p:nvPr/>
        </p:nvSpPr>
        <p:spPr>
          <a:xfrm xmlns:a="http://schemas.openxmlformats.org/drawingml/2006/main">
            <a:off x="609600" y="2133600"/>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B2FF00"/>
                </a:solidFill>
                <a:latin typeface="Helvetica Neue"/>
                <a:ea typeface="Helvetica Neue"/>
                <a:cs typeface="Helvetica Neue"/>
              </a:defRPr>
            </a:pPr>
            <a:r>
              <a:rPr sz="3900" b="1">
                <a:solidFill>
                  <a:srgbClr val="B2FF00"/>
                </a:solidFill>
                <a:latin typeface="Helvetica Neue"/>
                <a:ea typeface="Helvetica Neue"/>
                <a:cs typeface="Helvetica Neue"/>
              </a:rPr>
              <a:t>Device API</a:t>
            </a:r>
          </a:p>
        </p:txBody>
      </p:sp>
      <p:sp>
        <p:nvSpPr>
          <p:cNvPr id="4" name="">
            <a:extLst xmlns:a="http://schemas.openxmlformats.org/drawingml/2006/main">
              <a:ext uri="{FF2B5EF4-FFF2-40B4-BE49-F238E27FC236}">
                <a16:creationId xmlns:a16="http://schemas.microsoft.com/office/drawing/2014/main" id="{0E8DD292-A086-4D32-93EE-83C1C297D72D}"/>
              </a:ext>
            </a:extLst>
          </p:cNvPr>
          <p:cNvSpPr>
            <a:spLocks xmlns:a="http://schemas.openxmlformats.org/drawingml/2006/main" noGrp="1"/>
          </p:cNvSpPr>
          <p:nvPr/>
        </p:nvSpPr>
        <p:spPr>
          <a:xfrm xmlns:a="http://schemas.openxmlformats.org/drawingml/2006/main">
            <a:off x="4552950" y="213360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FF00"/>
                </a:solidFill>
                <a:latin typeface="Helvetica Neue"/>
                <a:ea typeface="Helvetica Neue"/>
                <a:cs typeface="Helvetica Neue"/>
              </a:defRPr>
            </a:pPr>
            <a:r>
              <a:rPr sz="3600" b="1">
                <a:solidFill>
                  <a:srgbClr val="B2FF00"/>
                </a:solidFill>
                <a:latin typeface="Helvetica Neue"/>
                <a:ea typeface="Helvetica Neue"/>
                <a:cs typeface="Helvetica Neue"/>
              </a:rPr>
              <a:t>Kotlin expertise</a:t>
            </a:r>
          </a:p>
        </p:txBody>
      </p:sp>
      <p:sp>
        <p:nvSpPr>
          <p:cNvPr id="5" name="">
            <a:extLst xmlns:a="http://schemas.openxmlformats.org/drawingml/2006/main">
              <a:ext uri="{FF2B5EF4-FFF2-40B4-BE49-F238E27FC236}">
                <a16:creationId xmlns:a16="http://schemas.microsoft.com/office/drawing/2014/main" id="{B958BA94-DDB5-450D-AEA2-1801BEE5D3B9}"/>
              </a:ext>
            </a:extLst>
          </p:cNvPr>
          <p:cNvSpPr>
            <a:spLocks xmlns:a="http://schemas.openxmlformats.org/drawingml/2006/main" noGrp="1"/>
          </p:cNvSpPr>
          <p:nvPr/>
        </p:nvSpPr>
        <p:spPr>
          <a:xfrm xmlns:a="http://schemas.openxmlformats.org/drawingml/2006/main">
            <a:off x="8639175" y="213360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FF00"/>
                </a:solidFill>
                <a:latin typeface="Helvetica Neue"/>
                <a:ea typeface="Helvetica Neue"/>
                <a:cs typeface="Helvetica Neue"/>
              </a:defRPr>
            </a:pPr>
            <a:r>
              <a:rPr sz="3600" b="1">
                <a:solidFill>
                  <a:srgbClr val="B2FF00"/>
                </a:solidFill>
                <a:latin typeface="Helvetica Neue"/>
                <a:ea typeface="Helvetica Neue"/>
                <a:cs typeface="Helvetica Neue"/>
              </a:rPr>
              <a:t>Working PoC</a:t>
            </a:r>
          </a:p>
        </p:txBody>
      </p:sp>
      <p:sp>
        <p:nvSpPr>
          <p:cNvPr id="6" name="">
            <a:extLst xmlns:a="http://schemas.openxmlformats.org/drawingml/2006/main">
              <a:ext uri="{FF2B5EF4-FFF2-40B4-BE49-F238E27FC236}">
                <a16:creationId xmlns:a16="http://schemas.microsoft.com/office/drawing/2014/main" id="{86690362-AA3A-4A4A-B2EF-4F3B8285FCB1}"/>
              </a:ext>
            </a:extLst>
          </p:cNvPr>
          <p:cNvSpPr>
            <a:spLocks xmlns:a="http://schemas.openxmlformats.org/drawingml/2006/main" noGrp="1"/>
          </p:cNvSpPr>
          <p:nvPr/>
        </p:nvSpPr>
        <p:spPr>
          <a:xfrm xmlns:a="http://schemas.openxmlformats.org/drawingml/2006/main">
            <a:off x="609600" y="315277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Simpler integration</a:t>
            </a:r>
          </a:p>
        </p:txBody>
      </p:sp>
      <p:sp>
        <p:nvSpPr>
          <p:cNvPr id="7" name="">
            <a:extLst xmlns:a="http://schemas.openxmlformats.org/drawingml/2006/main">
              <a:ext uri="{FF2B5EF4-FFF2-40B4-BE49-F238E27FC236}">
                <a16:creationId xmlns:a16="http://schemas.microsoft.com/office/drawing/2014/main" id="{31124D05-24FE-49B2-B1F2-9BDB583AE90A}"/>
              </a:ext>
            </a:extLst>
          </p:cNvPr>
          <p:cNvSpPr>
            <a:spLocks xmlns:a="http://schemas.openxmlformats.org/drawingml/2006/main" noGrp="1"/>
          </p:cNvSpPr>
          <p:nvPr/>
        </p:nvSpPr>
        <p:spPr>
          <a:xfrm xmlns:a="http://schemas.openxmlformats.org/drawingml/2006/main">
            <a:off x="4552950" y="3152775"/>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Familiar language</a:t>
            </a:r>
          </a:p>
        </p:txBody>
      </p:sp>
      <p:sp>
        <p:nvSpPr>
          <p:cNvPr id="8" name="">
            <a:extLst xmlns:a="http://schemas.openxmlformats.org/drawingml/2006/main">
              <a:ext uri="{FF2B5EF4-FFF2-40B4-BE49-F238E27FC236}">
                <a16:creationId xmlns:a16="http://schemas.microsoft.com/office/drawing/2014/main" id="{302F98DB-CBE1-4BE4-AECF-BA35185FAC13}"/>
              </a:ext>
            </a:extLst>
          </p:cNvPr>
          <p:cNvSpPr>
            <a:spLocks xmlns:a="http://schemas.openxmlformats.org/drawingml/2006/main" noGrp="1"/>
          </p:cNvSpPr>
          <p:nvPr/>
        </p:nvSpPr>
        <p:spPr>
          <a:xfrm xmlns:a="http://schemas.openxmlformats.org/drawingml/2006/main">
            <a:off x="8639175" y="3152775"/>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A foundation to test</a:t>
            </a:r>
          </a:p>
        </p:txBody>
      </p:sp>
      <p:sp>
        <p:nvSpPr>
          <p:cNvPr id="9" name="">
            <a:extLst xmlns:a="http://schemas.openxmlformats.org/drawingml/2006/main">
              <a:ext uri="{FF2B5EF4-FFF2-40B4-BE49-F238E27FC236}">
                <a16:creationId xmlns:a16="http://schemas.microsoft.com/office/drawing/2014/main" id="{405768BE-71E4-41E6-BC9C-54423E8D420C}"/>
              </a:ext>
            </a:extLst>
          </p:cNvPr>
          <p:cNvSpPr>
            <a:spLocks xmlns:a="http://schemas.openxmlformats.org/drawingml/2006/main" noGrp="1"/>
          </p:cNvSpPr>
          <p:nvPr/>
        </p:nvSpPr>
        <p:spPr>
          <a:xfrm xmlns:a="http://schemas.openxmlformats.org/drawingml/2006/main">
            <a:off x="609600" y="4267200"/>
            <a:ext cx="10972800" cy="190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F4B2B6-6390-4B95-B690-49BFF3BDC6A1}"/>
              </a:ext>
            </a:extLst>
          </p:cNvPr>
          <p:cNvSpPr>
            <a:spLocks xmlns:a="http://schemas.openxmlformats.org/drawingml/2006/main" noGrp="1"/>
          </p:cNvSpPr>
          <p:nvPr/>
        </p:nvSpPr>
        <p:spPr>
          <a:xfrm xmlns:a="http://schemas.openxmlformats.org/drawingml/2006/main">
            <a:off x="609600" y="48577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A practical moment to share device logic</a:t>
            </a:r>
          </a:p>
        </p:txBody>
      </p:sp>
    </p:spTree>
    <p:extLst>
      <p:ext uri="{BB962C8B-B14F-4D97-AF65-F5344CB8AC3E}">
        <p14:creationId xmlns:p14="http://schemas.microsoft.com/office/powerpoint/2010/main" val="2120930395"/>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D70E227-A290-497F-8D0D-A22BA8CF8BAF}"/>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What KMP means for Shure</a:t>
            </a:r>
          </a:p>
        </p:txBody>
      </p:sp>
      <p:sp>
        <p:nvSpPr>
          <p:cNvPr id="2" name="">
            <a:extLst xmlns:a="http://schemas.openxmlformats.org/drawingml/2006/main">
              <a:ext uri="{FF2B5EF4-FFF2-40B4-BE49-F238E27FC236}">
                <a16:creationId xmlns:a16="http://schemas.microsoft.com/office/drawing/2014/main" id="{D63D797D-694F-4B8E-BABC-F964635B9B45}"/>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9C5A7737-FE33-43D3-851C-2F3D470DB365}"/>
              </a:ext>
            </a:extLst>
          </p:cNvPr>
          <p:cNvSpPr>
            <a:spLocks xmlns:a="http://schemas.openxmlformats.org/drawingml/2006/main" noGrp="1"/>
          </p:cNvSpPr>
          <p:nvPr/>
        </p:nvSpPr>
        <p:spPr>
          <a:xfrm xmlns:a="http://schemas.openxmlformats.org/drawingml/2006/main">
            <a:off x="609600" y="2000250"/>
            <a:ext cx="5048250" cy="8572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DA7AECCC-D329-4743-B3B6-89FF0153F836}"/>
              </a:ext>
            </a:extLst>
          </p:cNvPr>
          <p:cNvSpPr>
            <a:spLocks xmlns:a="http://schemas.openxmlformats.org/drawingml/2006/main" noGrp="1"/>
          </p:cNvSpPr>
          <p:nvPr/>
        </p:nvSpPr>
        <p:spPr>
          <a:xfrm xmlns:a="http://schemas.openxmlformats.org/drawingml/2006/main">
            <a:off x="800100" y="22098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Android native app</a:t>
            </a:r>
          </a:p>
        </p:txBody>
      </p:sp>
      <p:sp>
        <p:nvSpPr>
          <p:cNvPr id="5" name="">
            <a:extLst xmlns:a="http://schemas.openxmlformats.org/drawingml/2006/main">
              <a:ext uri="{FF2B5EF4-FFF2-40B4-BE49-F238E27FC236}">
                <a16:creationId xmlns:a16="http://schemas.microsoft.com/office/drawing/2014/main" id="{B28860DD-000B-41F6-BF9A-DC82448E9D81}"/>
              </a:ext>
            </a:extLst>
          </p:cNvPr>
          <p:cNvSpPr>
            <a:spLocks xmlns:a="http://schemas.openxmlformats.org/drawingml/2006/main" noGrp="1"/>
          </p:cNvSpPr>
          <p:nvPr/>
        </p:nvSpPr>
        <p:spPr>
          <a:xfrm xmlns:a="http://schemas.openxmlformats.org/drawingml/2006/main">
            <a:off x="6534150" y="2000250"/>
            <a:ext cx="5048250" cy="8572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6" name="">
            <a:extLst xmlns:a="http://schemas.openxmlformats.org/drawingml/2006/main">
              <a:ext uri="{FF2B5EF4-FFF2-40B4-BE49-F238E27FC236}">
                <a16:creationId xmlns:a16="http://schemas.microsoft.com/office/drawing/2014/main" id="{A9D64EE0-5619-47B0-9855-CF15B64EB402}"/>
              </a:ext>
            </a:extLst>
          </p:cNvPr>
          <p:cNvSpPr>
            <a:spLocks xmlns:a="http://schemas.openxmlformats.org/drawingml/2006/main" noGrp="1"/>
          </p:cNvSpPr>
          <p:nvPr/>
        </p:nvSpPr>
        <p:spPr>
          <a:xfrm xmlns:a="http://schemas.openxmlformats.org/drawingml/2006/main">
            <a:off x="6724650" y="2209800"/>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iOS native app</a:t>
            </a:r>
          </a:p>
        </p:txBody>
      </p:sp>
      <p:sp>
        <p:nvSpPr>
          <p:cNvPr id="7" name="">
            <a:extLst xmlns:a="http://schemas.openxmlformats.org/drawingml/2006/main">
              <a:ext uri="{FF2B5EF4-FFF2-40B4-BE49-F238E27FC236}">
                <a16:creationId xmlns:a16="http://schemas.microsoft.com/office/drawing/2014/main" id="{E9B3F440-30B5-4265-84F3-8023543991BA}"/>
              </a:ext>
            </a:extLst>
          </p:cNvPr>
          <p:cNvSpPr>
            <a:spLocks xmlns:a="http://schemas.openxmlformats.org/drawingml/2006/main" noGrp="1"/>
          </p:cNvSpPr>
          <p:nvPr/>
        </p:nvSpPr>
        <p:spPr>
          <a:xfrm xmlns:a="http://schemas.openxmlformats.org/drawingml/2006/main">
            <a:off x="3019425" y="2981325"/>
            <a:ext cx="228600" cy="38100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A33EFA0-DBFE-485E-9BA3-E16873CEEF93}"/>
              </a:ext>
            </a:extLst>
          </p:cNvPr>
          <p:cNvSpPr>
            <a:spLocks xmlns:a="http://schemas.openxmlformats.org/drawingml/2006/main" noGrp="1"/>
          </p:cNvSpPr>
          <p:nvPr/>
        </p:nvSpPr>
        <p:spPr>
          <a:xfrm xmlns:a="http://schemas.openxmlformats.org/drawingml/2006/main">
            <a:off x="8943975" y="2981325"/>
            <a:ext cx="228600" cy="38100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77EFFB-1B28-480B-85F0-1A4F22098B78}"/>
              </a:ext>
            </a:extLst>
          </p:cNvPr>
          <p:cNvSpPr>
            <a:spLocks xmlns:a="http://schemas.openxmlformats.org/drawingml/2006/main" noGrp="1"/>
          </p:cNvSpPr>
          <p:nvPr/>
        </p:nvSpPr>
        <p:spPr>
          <a:xfrm xmlns:a="http://schemas.openxmlformats.org/drawingml/2006/main">
            <a:off x="609600" y="3486150"/>
            <a:ext cx="10972800" cy="809625"/>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FEFD8F80-EF14-4D31-96F0-57597416FBDA}"/>
              </a:ext>
            </a:extLst>
          </p:cNvPr>
          <p:cNvSpPr>
            <a:spLocks xmlns:a="http://schemas.openxmlformats.org/drawingml/2006/main" noGrp="1"/>
          </p:cNvSpPr>
          <p:nvPr/>
        </p:nvSpPr>
        <p:spPr>
          <a:xfrm xmlns:a="http://schemas.openxmlformats.org/drawingml/2006/main">
            <a:off x="800100" y="3695700"/>
            <a:ext cx="10591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Shared Kotlin core</a:t>
            </a:r>
          </a:p>
        </p:txBody>
      </p:sp>
      <p:sp>
        <p:nvSpPr>
          <p:cNvPr id="11" name="">
            <a:extLst xmlns:a="http://schemas.openxmlformats.org/drawingml/2006/main">
              <a:ext uri="{FF2B5EF4-FFF2-40B4-BE49-F238E27FC236}">
                <a16:creationId xmlns:a16="http://schemas.microsoft.com/office/drawing/2014/main" id="{4F6B1424-EAB2-45CB-82E2-3B8CFDA3A8F5}"/>
              </a:ext>
            </a:extLst>
          </p:cNvPr>
          <p:cNvSpPr>
            <a:spLocks xmlns:a="http://schemas.openxmlformats.org/drawingml/2006/main" noGrp="1"/>
          </p:cNvSpPr>
          <p:nvPr/>
        </p:nvSpPr>
        <p:spPr>
          <a:xfrm xmlns:a="http://schemas.openxmlformats.org/drawingml/2006/main">
            <a:off x="6096000" y="4295775"/>
            <a:ext cx="19050" cy="38100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952D96-FABB-4967-89D6-73889B0EF3FF}"/>
              </a:ext>
            </a:extLst>
          </p:cNvPr>
          <p:cNvSpPr>
            <a:spLocks xmlns:a="http://schemas.openxmlformats.org/drawingml/2006/main" noGrp="1"/>
          </p:cNvSpPr>
          <p:nvPr/>
        </p:nvSpPr>
        <p:spPr>
          <a:xfrm xmlns:a="http://schemas.openxmlformats.org/drawingml/2006/main">
            <a:off x="2305050" y="4667250"/>
            <a:ext cx="7572375" cy="190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4D0D976-B4F6-474D-8354-13A668E9EF9B}"/>
              </a:ext>
            </a:extLst>
          </p:cNvPr>
          <p:cNvSpPr>
            <a:spLocks xmlns:a="http://schemas.openxmlformats.org/drawingml/2006/main" noGrp="1"/>
          </p:cNvSpPr>
          <p:nvPr/>
        </p:nvSpPr>
        <p:spPr>
          <a:xfrm xmlns:a="http://schemas.openxmlformats.org/drawingml/2006/main">
            <a:off x="2190750" y="4676775"/>
            <a:ext cx="228600" cy="3238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BBF6588-6303-4EE6-9018-3640646BD5D3}"/>
              </a:ext>
            </a:extLst>
          </p:cNvPr>
          <p:cNvSpPr>
            <a:spLocks xmlns:a="http://schemas.openxmlformats.org/drawingml/2006/main" noGrp="1"/>
          </p:cNvSpPr>
          <p:nvPr/>
        </p:nvSpPr>
        <p:spPr>
          <a:xfrm xmlns:a="http://schemas.openxmlformats.org/drawingml/2006/main">
            <a:off x="5981700" y="4676775"/>
            <a:ext cx="228600" cy="3238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867BDE7-3570-4640-AE6F-96968439D961}"/>
              </a:ext>
            </a:extLst>
          </p:cNvPr>
          <p:cNvSpPr>
            <a:spLocks xmlns:a="http://schemas.openxmlformats.org/drawingml/2006/main" noGrp="1"/>
          </p:cNvSpPr>
          <p:nvPr/>
        </p:nvSpPr>
        <p:spPr>
          <a:xfrm xmlns:a="http://schemas.openxmlformats.org/drawingml/2006/main">
            <a:off x="9753600" y="4676775"/>
            <a:ext cx="228600" cy="3238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C061903-831D-4521-88C2-1A9936C3D18B}"/>
              </a:ext>
            </a:extLst>
          </p:cNvPr>
          <p:cNvSpPr>
            <a:spLocks xmlns:a="http://schemas.openxmlformats.org/drawingml/2006/main" noGrp="1"/>
          </p:cNvSpPr>
          <p:nvPr/>
        </p:nvSpPr>
        <p:spPr>
          <a:xfrm xmlns:a="http://schemas.openxmlformats.org/drawingml/2006/main">
            <a:off x="609600" y="5114925"/>
            <a:ext cx="3381375" cy="714375"/>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7" name="">
            <a:extLst xmlns:a="http://schemas.openxmlformats.org/drawingml/2006/main">
              <a:ext uri="{FF2B5EF4-FFF2-40B4-BE49-F238E27FC236}">
                <a16:creationId xmlns:a16="http://schemas.microsoft.com/office/drawing/2014/main" id="{C5811D14-6A38-4E78-AE24-0007198FDBAC}"/>
              </a:ext>
            </a:extLst>
          </p:cNvPr>
          <p:cNvSpPr>
            <a:spLocks xmlns:a="http://schemas.openxmlformats.org/drawingml/2006/main" noGrp="1"/>
          </p:cNvSpPr>
          <p:nvPr/>
        </p:nvSpPr>
        <p:spPr>
          <a:xfrm xmlns:a="http://schemas.openxmlformats.org/drawingml/2006/main">
            <a:off x="800100" y="53244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Device logic</a:t>
            </a:r>
          </a:p>
        </p:txBody>
      </p:sp>
      <p:sp>
        <p:nvSpPr>
          <p:cNvPr id="18" name="">
            <a:extLst xmlns:a="http://schemas.openxmlformats.org/drawingml/2006/main">
              <a:ext uri="{FF2B5EF4-FFF2-40B4-BE49-F238E27FC236}">
                <a16:creationId xmlns:a16="http://schemas.microsoft.com/office/drawing/2014/main" id="{2A4F3CD9-58BE-4176-8D63-5DC8747C3804}"/>
              </a:ext>
            </a:extLst>
          </p:cNvPr>
          <p:cNvSpPr>
            <a:spLocks xmlns:a="http://schemas.openxmlformats.org/drawingml/2006/main" noGrp="1"/>
          </p:cNvSpPr>
          <p:nvPr/>
        </p:nvSpPr>
        <p:spPr>
          <a:xfrm xmlns:a="http://schemas.openxmlformats.org/drawingml/2006/main">
            <a:off x="4400550" y="5114925"/>
            <a:ext cx="3381375" cy="714375"/>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9" name="">
            <a:extLst xmlns:a="http://schemas.openxmlformats.org/drawingml/2006/main">
              <a:ext uri="{FF2B5EF4-FFF2-40B4-BE49-F238E27FC236}">
                <a16:creationId xmlns:a16="http://schemas.microsoft.com/office/drawing/2014/main" id="{72EDF27E-00DF-482B-96D8-5A7CB1B2DC52}"/>
              </a:ext>
            </a:extLst>
          </p:cNvPr>
          <p:cNvSpPr>
            <a:spLocks xmlns:a="http://schemas.openxmlformats.org/drawingml/2006/main" noGrp="1"/>
          </p:cNvSpPr>
          <p:nvPr/>
        </p:nvSpPr>
        <p:spPr>
          <a:xfrm xmlns:a="http://schemas.openxmlformats.org/drawingml/2006/main">
            <a:off x="4591050" y="53244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API + streams</a:t>
            </a:r>
          </a:p>
        </p:txBody>
      </p:sp>
      <p:sp>
        <p:nvSpPr>
          <p:cNvPr id="20" name="">
            <a:extLst xmlns:a="http://schemas.openxmlformats.org/drawingml/2006/main">
              <a:ext uri="{FF2B5EF4-FFF2-40B4-BE49-F238E27FC236}">
                <a16:creationId xmlns:a16="http://schemas.microsoft.com/office/drawing/2014/main" id="{12B7A567-7DDB-463D-A0F7-1D0B30D0B213}"/>
              </a:ext>
            </a:extLst>
          </p:cNvPr>
          <p:cNvSpPr>
            <a:spLocks xmlns:a="http://schemas.openxmlformats.org/drawingml/2006/main" noGrp="1"/>
          </p:cNvSpPr>
          <p:nvPr/>
        </p:nvSpPr>
        <p:spPr>
          <a:xfrm xmlns:a="http://schemas.openxmlformats.org/drawingml/2006/main">
            <a:off x="8191500" y="5114925"/>
            <a:ext cx="3381375" cy="714375"/>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21" name="">
            <a:extLst xmlns:a="http://schemas.openxmlformats.org/drawingml/2006/main">
              <a:ext uri="{FF2B5EF4-FFF2-40B4-BE49-F238E27FC236}">
                <a16:creationId xmlns:a16="http://schemas.microsoft.com/office/drawing/2014/main" id="{537D0D94-D996-4E22-9971-A93F996F2609}"/>
              </a:ext>
            </a:extLst>
          </p:cNvPr>
          <p:cNvSpPr>
            <a:spLocks xmlns:a="http://schemas.openxmlformats.org/drawingml/2006/main" noGrp="1"/>
          </p:cNvSpPr>
          <p:nvPr/>
        </p:nvSpPr>
        <p:spPr>
          <a:xfrm xmlns:a="http://schemas.openxmlformats.org/drawingml/2006/main">
            <a:off x="8382000" y="5324475"/>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Local state</a:t>
            </a:r>
          </a:p>
        </p:txBody>
      </p:sp>
    </p:spTree>
    <p:extLst>
      <p:ext uri="{BB962C8B-B14F-4D97-AF65-F5344CB8AC3E}">
        <p14:creationId xmlns:p14="http://schemas.microsoft.com/office/powerpoint/2010/main" val="2058095493"/>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7BEC00F-AD37-4497-9958-5639FB7F4ECC}"/>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Device communication: existing and target</a:t>
            </a:r>
          </a:p>
        </p:txBody>
      </p:sp>
      <p:sp>
        <p:nvSpPr>
          <p:cNvPr id="2" name="">
            <a:extLst xmlns:a="http://schemas.openxmlformats.org/drawingml/2006/main">
              <a:ext uri="{FF2B5EF4-FFF2-40B4-BE49-F238E27FC236}">
                <a16:creationId xmlns:a16="http://schemas.microsoft.com/office/drawing/2014/main" id="{79EED1D5-CFC9-4541-8D69-927007CDF5A0}"/>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F2436288-4F09-4246-8A0B-2F21D6DE4030}"/>
              </a:ext>
            </a:extLst>
          </p:cNvPr>
          <p:cNvSpPr>
            <a:spLocks xmlns:a="http://schemas.openxmlformats.org/drawingml/2006/main" noGrp="1"/>
          </p:cNvSpPr>
          <p:nvPr/>
        </p:nvSpPr>
        <p:spPr>
          <a:xfrm xmlns:a="http://schemas.openxmlformats.org/drawingml/2006/main">
            <a:off x="609600" y="176212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Existing path</a:t>
            </a:r>
          </a:p>
        </p:txBody>
      </p:sp>
      <p:sp>
        <p:nvSpPr>
          <p:cNvPr id="4" name="">
            <a:extLst xmlns:a="http://schemas.openxmlformats.org/drawingml/2006/main">
              <a:ext uri="{FF2B5EF4-FFF2-40B4-BE49-F238E27FC236}">
                <a16:creationId xmlns:a16="http://schemas.microsoft.com/office/drawing/2014/main" id="{13C9AFDF-9979-432C-8789-A43803208F1A}"/>
              </a:ext>
            </a:extLst>
          </p:cNvPr>
          <p:cNvSpPr>
            <a:spLocks xmlns:a="http://schemas.openxmlformats.org/drawingml/2006/main" noGrp="1"/>
          </p:cNvSpPr>
          <p:nvPr/>
        </p:nvSpPr>
        <p:spPr>
          <a:xfrm xmlns:a="http://schemas.openxmlformats.org/drawingml/2006/main">
            <a:off x="6534150" y="17621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FF00"/>
                </a:solidFill>
                <a:latin typeface="Helvetica Neue"/>
                <a:ea typeface="Helvetica Neue"/>
                <a:cs typeface="Helvetica Neue"/>
              </a:defRPr>
            </a:pPr>
            <a:r>
              <a:rPr sz="2100" b="0">
                <a:solidFill>
                  <a:srgbClr val="B2FF00"/>
                </a:solidFill>
                <a:latin typeface="Helvetica Neue"/>
                <a:ea typeface="Helvetica Neue"/>
                <a:cs typeface="Helvetica Neue"/>
              </a:rPr>
              <a:t>Target path</a:t>
            </a:r>
          </a:p>
        </p:txBody>
      </p:sp>
      <p:sp>
        <p:nvSpPr>
          <p:cNvPr id="5" name="">
            <a:extLst xmlns:a="http://schemas.openxmlformats.org/drawingml/2006/main">
              <a:ext uri="{FF2B5EF4-FFF2-40B4-BE49-F238E27FC236}">
                <a16:creationId xmlns:a16="http://schemas.microsoft.com/office/drawing/2014/main" id="{723318C1-3F55-42E8-B764-0BBAA0A1695E}"/>
              </a:ext>
            </a:extLst>
          </p:cNvPr>
          <p:cNvSpPr>
            <a:spLocks xmlns:a="http://schemas.openxmlformats.org/drawingml/2006/main" noGrp="1"/>
          </p:cNvSpPr>
          <p:nvPr/>
        </p:nvSpPr>
        <p:spPr>
          <a:xfrm xmlns:a="http://schemas.openxmlformats.org/drawingml/2006/main">
            <a:off x="609600" y="2333625"/>
            <a:ext cx="5048250" cy="7048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6" name="">
            <a:extLst xmlns:a="http://schemas.openxmlformats.org/drawingml/2006/main">
              <a:ext uri="{FF2B5EF4-FFF2-40B4-BE49-F238E27FC236}">
                <a16:creationId xmlns:a16="http://schemas.microsoft.com/office/drawing/2014/main" id="{1A4390BA-CC8F-466D-9FBC-E851AA68C15B}"/>
              </a:ext>
            </a:extLst>
          </p:cNvPr>
          <p:cNvSpPr>
            <a:spLocks xmlns:a="http://schemas.openxmlformats.org/drawingml/2006/main" noGrp="1"/>
          </p:cNvSpPr>
          <p:nvPr/>
        </p:nvSpPr>
        <p:spPr>
          <a:xfrm xmlns:a="http://schemas.openxmlformats.org/drawingml/2006/main">
            <a:off x="800100" y="254317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Native app</a:t>
            </a:r>
          </a:p>
        </p:txBody>
      </p:sp>
      <p:sp>
        <p:nvSpPr>
          <p:cNvPr id="7" name="">
            <a:extLst xmlns:a="http://schemas.openxmlformats.org/drawingml/2006/main">
              <a:ext uri="{FF2B5EF4-FFF2-40B4-BE49-F238E27FC236}">
                <a16:creationId xmlns:a16="http://schemas.microsoft.com/office/drawing/2014/main" id="{214B7298-A2B6-4A98-AE3B-ABC138CF5057}"/>
              </a:ext>
            </a:extLst>
          </p:cNvPr>
          <p:cNvSpPr>
            <a:spLocks xmlns:a="http://schemas.openxmlformats.org/drawingml/2006/main" noGrp="1"/>
          </p:cNvSpPr>
          <p:nvPr/>
        </p:nvSpPr>
        <p:spPr>
          <a:xfrm xmlns:a="http://schemas.openxmlformats.org/drawingml/2006/main">
            <a:off x="6534150" y="2333625"/>
            <a:ext cx="5048250" cy="70485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8" name="">
            <a:extLst xmlns:a="http://schemas.openxmlformats.org/drawingml/2006/main">
              <a:ext uri="{FF2B5EF4-FFF2-40B4-BE49-F238E27FC236}">
                <a16:creationId xmlns:a16="http://schemas.microsoft.com/office/drawing/2014/main" id="{B9A5E6C8-9C01-4C76-9DB6-4099AC66C753}"/>
              </a:ext>
            </a:extLst>
          </p:cNvPr>
          <p:cNvSpPr>
            <a:spLocks xmlns:a="http://schemas.openxmlformats.org/drawingml/2006/main" noGrp="1"/>
          </p:cNvSpPr>
          <p:nvPr/>
        </p:nvSpPr>
        <p:spPr>
          <a:xfrm xmlns:a="http://schemas.openxmlformats.org/drawingml/2006/main">
            <a:off x="6724650" y="254317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Shared KMP client</a:t>
            </a:r>
          </a:p>
        </p:txBody>
      </p:sp>
      <p:sp>
        <p:nvSpPr>
          <p:cNvPr id="9" name="">
            <a:extLst xmlns:a="http://schemas.openxmlformats.org/drawingml/2006/main">
              <a:ext uri="{FF2B5EF4-FFF2-40B4-BE49-F238E27FC236}">
                <a16:creationId xmlns:a16="http://schemas.microsoft.com/office/drawing/2014/main" id="{BB9BCBC6-BA17-4EBB-A199-A1E8B521DC37}"/>
              </a:ext>
            </a:extLst>
          </p:cNvPr>
          <p:cNvSpPr>
            <a:spLocks xmlns:a="http://schemas.openxmlformats.org/drawingml/2006/main" noGrp="1"/>
          </p:cNvSpPr>
          <p:nvPr/>
        </p:nvSpPr>
        <p:spPr>
          <a:xfrm xmlns:a="http://schemas.openxmlformats.org/drawingml/2006/main">
            <a:off x="3019425" y="3105150"/>
            <a:ext cx="228600" cy="2857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7D49EA-ACAD-48B2-AEEC-4B9096310EC4}"/>
              </a:ext>
            </a:extLst>
          </p:cNvPr>
          <p:cNvSpPr>
            <a:spLocks xmlns:a="http://schemas.openxmlformats.org/drawingml/2006/main" noGrp="1"/>
          </p:cNvSpPr>
          <p:nvPr/>
        </p:nvSpPr>
        <p:spPr>
          <a:xfrm xmlns:a="http://schemas.openxmlformats.org/drawingml/2006/main">
            <a:off x="8943975" y="3105150"/>
            <a:ext cx="228600" cy="2857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1A912BC-BB71-4AEF-AC5A-A820377A4E74}"/>
              </a:ext>
            </a:extLst>
          </p:cNvPr>
          <p:cNvSpPr>
            <a:spLocks xmlns:a="http://schemas.openxmlformats.org/drawingml/2006/main" noGrp="1"/>
          </p:cNvSpPr>
          <p:nvPr/>
        </p:nvSpPr>
        <p:spPr>
          <a:xfrm xmlns:a="http://schemas.openxmlformats.org/drawingml/2006/main">
            <a:off x="609600" y="3457575"/>
            <a:ext cx="5048250" cy="7048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2" name="">
            <a:extLst xmlns:a="http://schemas.openxmlformats.org/drawingml/2006/main">
              <a:ext uri="{FF2B5EF4-FFF2-40B4-BE49-F238E27FC236}">
                <a16:creationId xmlns:a16="http://schemas.microsoft.com/office/drawing/2014/main" id="{A571D4C3-2824-40CB-BE09-30123736922B}"/>
              </a:ext>
            </a:extLst>
          </p:cNvPr>
          <p:cNvSpPr>
            <a:spLocks xmlns:a="http://schemas.openxmlformats.org/drawingml/2006/main" noGrp="1"/>
          </p:cNvSpPr>
          <p:nvPr/>
        </p:nvSpPr>
        <p:spPr>
          <a:xfrm xmlns:a="http://schemas.openxmlformats.org/drawingml/2006/main">
            <a:off x="800100" y="36671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JNI / Apollo</a:t>
            </a:r>
          </a:p>
        </p:txBody>
      </p:sp>
      <p:sp>
        <p:nvSpPr>
          <p:cNvPr id="13" name="">
            <a:extLst xmlns:a="http://schemas.openxmlformats.org/drawingml/2006/main">
              <a:ext uri="{FF2B5EF4-FFF2-40B4-BE49-F238E27FC236}">
                <a16:creationId xmlns:a16="http://schemas.microsoft.com/office/drawing/2014/main" id="{E1B94DFB-3BAB-47AA-8AA1-AE18C581525F}"/>
              </a:ext>
            </a:extLst>
          </p:cNvPr>
          <p:cNvSpPr>
            <a:spLocks xmlns:a="http://schemas.openxmlformats.org/drawingml/2006/main" noGrp="1"/>
          </p:cNvSpPr>
          <p:nvPr/>
        </p:nvSpPr>
        <p:spPr>
          <a:xfrm xmlns:a="http://schemas.openxmlformats.org/drawingml/2006/main">
            <a:off x="6534150" y="3457575"/>
            <a:ext cx="5048250" cy="7048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4" name="">
            <a:extLst xmlns:a="http://schemas.openxmlformats.org/drawingml/2006/main">
              <a:ext uri="{FF2B5EF4-FFF2-40B4-BE49-F238E27FC236}">
                <a16:creationId xmlns:a16="http://schemas.microsoft.com/office/drawing/2014/main" id="{B2F7F599-2760-4078-B9BE-3B7BAC1B25B4}"/>
              </a:ext>
            </a:extLst>
          </p:cNvPr>
          <p:cNvSpPr>
            <a:spLocks xmlns:a="http://schemas.openxmlformats.org/drawingml/2006/main" noGrp="1"/>
          </p:cNvSpPr>
          <p:nvPr/>
        </p:nvSpPr>
        <p:spPr>
          <a:xfrm xmlns:a="http://schemas.openxmlformats.org/drawingml/2006/main">
            <a:off x="6724650" y="366712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REST / GraphQL / streams</a:t>
            </a:r>
          </a:p>
        </p:txBody>
      </p:sp>
      <p:sp>
        <p:nvSpPr>
          <p:cNvPr id="15" name="">
            <a:extLst xmlns:a="http://schemas.openxmlformats.org/drawingml/2006/main">
              <a:ext uri="{FF2B5EF4-FFF2-40B4-BE49-F238E27FC236}">
                <a16:creationId xmlns:a16="http://schemas.microsoft.com/office/drawing/2014/main" id="{24A1BF67-952B-43B8-949A-52C3FC60218A}"/>
              </a:ext>
            </a:extLst>
          </p:cNvPr>
          <p:cNvSpPr>
            <a:spLocks xmlns:a="http://schemas.openxmlformats.org/drawingml/2006/main" noGrp="1"/>
          </p:cNvSpPr>
          <p:nvPr/>
        </p:nvSpPr>
        <p:spPr>
          <a:xfrm xmlns:a="http://schemas.openxmlformats.org/drawingml/2006/main">
            <a:off x="3019425" y="4229100"/>
            <a:ext cx="228600" cy="2857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F40CEB3-B9ED-4FED-8D6F-39833CBC3DF1}"/>
              </a:ext>
            </a:extLst>
          </p:cNvPr>
          <p:cNvSpPr>
            <a:spLocks xmlns:a="http://schemas.openxmlformats.org/drawingml/2006/main" noGrp="1"/>
          </p:cNvSpPr>
          <p:nvPr/>
        </p:nvSpPr>
        <p:spPr>
          <a:xfrm xmlns:a="http://schemas.openxmlformats.org/drawingml/2006/main">
            <a:off x="8943975" y="4229100"/>
            <a:ext cx="228600" cy="28575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CC4EB54-585D-4AF1-9C87-DC6B02C7025E}"/>
              </a:ext>
            </a:extLst>
          </p:cNvPr>
          <p:cNvSpPr>
            <a:spLocks xmlns:a="http://schemas.openxmlformats.org/drawingml/2006/main" noGrp="1"/>
          </p:cNvSpPr>
          <p:nvPr/>
        </p:nvSpPr>
        <p:spPr>
          <a:xfrm xmlns:a="http://schemas.openxmlformats.org/drawingml/2006/main">
            <a:off x="609600" y="4581525"/>
            <a:ext cx="5048250" cy="7048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8" name="">
            <a:extLst xmlns:a="http://schemas.openxmlformats.org/drawingml/2006/main">
              <a:ext uri="{FF2B5EF4-FFF2-40B4-BE49-F238E27FC236}">
                <a16:creationId xmlns:a16="http://schemas.microsoft.com/office/drawing/2014/main" id="{C3A1BB1F-C58E-41E8-8097-190CBCB8C366}"/>
              </a:ext>
            </a:extLst>
          </p:cNvPr>
          <p:cNvSpPr>
            <a:spLocks xmlns:a="http://schemas.openxmlformats.org/drawingml/2006/main" noGrp="1"/>
          </p:cNvSpPr>
          <p:nvPr/>
        </p:nvSpPr>
        <p:spPr>
          <a:xfrm xmlns:a="http://schemas.openxmlformats.org/drawingml/2006/main">
            <a:off x="800100" y="479107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Device capabilities</a:t>
            </a:r>
          </a:p>
        </p:txBody>
      </p:sp>
      <p:sp>
        <p:nvSpPr>
          <p:cNvPr id="19" name="">
            <a:extLst xmlns:a="http://schemas.openxmlformats.org/drawingml/2006/main">
              <a:ext uri="{FF2B5EF4-FFF2-40B4-BE49-F238E27FC236}">
                <a16:creationId xmlns:a16="http://schemas.microsoft.com/office/drawing/2014/main" id="{496E10E9-8BCE-45BD-8958-C65BBC1D2716}"/>
              </a:ext>
            </a:extLst>
          </p:cNvPr>
          <p:cNvSpPr>
            <a:spLocks xmlns:a="http://schemas.openxmlformats.org/drawingml/2006/main" noGrp="1"/>
          </p:cNvSpPr>
          <p:nvPr/>
        </p:nvSpPr>
        <p:spPr>
          <a:xfrm xmlns:a="http://schemas.openxmlformats.org/drawingml/2006/main">
            <a:off x="6534150" y="4581525"/>
            <a:ext cx="5048250" cy="7048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20" name="">
            <a:extLst xmlns:a="http://schemas.openxmlformats.org/drawingml/2006/main">
              <a:ext uri="{FF2B5EF4-FFF2-40B4-BE49-F238E27FC236}">
                <a16:creationId xmlns:a16="http://schemas.microsoft.com/office/drawing/2014/main" id="{94C264F7-E51A-439F-AD91-E0FCA9ADE19F}"/>
              </a:ext>
            </a:extLst>
          </p:cNvPr>
          <p:cNvSpPr>
            <a:spLocks xmlns:a="http://schemas.openxmlformats.org/drawingml/2006/main" noGrp="1"/>
          </p:cNvSpPr>
          <p:nvPr/>
        </p:nvSpPr>
        <p:spPr>
          <a:xfrm xmlns:a="http://schemas.openxmlformats.org/drawingml/2006/main">
            <a:off x="6724650" y="479107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Local server on device</a:t>
            </a:r>
          </a:p>
        </p:txBody>
      </p:sp>
      <p:sp>
        <p:nvSpPr>
          <p:cNvPr id="21" name="">
            <a:extLst xmlns:a="http://schemas.openxmlformats.org/drawingml/2006/main">
              <a:ext uri="{FF2B5EF4-FFF2-40B4-BE49-F238E27FC236}">
                <a16:creationId xmlns:a16="http://schemas.microsoft.com/office/drawing/2014/main" id="{3E3C3DC3-87B9-4CBD-B2C9-AC9301A03D06}"/>
              </a:ext>
            </a:extLst>
          </p:cNvPr>
          <p:cNvSpPr>
            <a:spLocks xmlns:a="http://schemas.openxmlformats.org/drawingml/2006/main" noGrp="1"/>
          </p:cNvSpPr>
          <p:nvPr/>
        </p:nvSpPr>
        <p:spPr>
          <a:xfrm xmlns:a="http://schemas.openxmlformats.org/drawingml/2006/main">
            <a:off x="609600" y="57816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The server change benefits either framework</a:t>
            </a:r>
          </a:p>
        </p:txBody>
      </p:sp>
    </p:spTree>
    <p:extLst>
      <p:ext uri="{BB962C8B-B14F-4D97-AF65-F5344CB8AC3E}">
        <p14:creationId xmlns:p14="http://schemas.microsoft.com/office/powerpoint/2010/main" val="161746202"/>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AE07CD-0C99-451E-9B15-C874D35B13D7}"/>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Sony: a closer audio-device example</a:t>
            </a:r>
          </a:p>
        </p:txBody>
      </p:sp>
      <p:sp>
        <p:nvSpPr>
          <p:cNvPr id="2" name="">
            <a:extLst xmlns:a="http://schemas.openxmlformats.org/drawingml/2006/main">
              <a:ext uri="{FF2B5EF4-FFF2-40B4-BE49-F238E27FC236}">
                <a16:creationId xmlns:a16="http://schemas.microsoft.com/office/drawing/2014/main" id="{CBDED20C-7E7C-4B4F-8B08-E42391C99928}"/>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222B9A12-536D-447A-8026-34F99457F5A3}"/>
              </a:ext>
            </a:extLst>
          </p:cNvPr>
          <p:cNvSpPr>
            <a:spLocks xmlns:a="http://schemas.openxmlformats.org/drawingml/2006/main" noGrp="1"/>
          </p:cNvSpPr>
          <p:nvPr/>
        </p:nvSpPr>
        <p:spPr>
          <a:xfrm xmlns:a="http://schemas.openxmlformats.org/drawingml/2006/main">
            <a:off x="609600" y="2238375"/>
            <a:ext cx="4381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B2FF00"/>
                </a:solidFill>
                <a:latin typeface="Helvetica Neue"/>
                <a:ea typeface="Helvetica Neue"/>
                <a:cs typeface="Helvetica Neue"/>
              </a:defRPr>
            </a:pPr>
            <a:r>
              <a:rPr sz="4950" b="1">
                <a:solidFill>
                  <a:srgbClr val="B2FF00"/>
                </a:solidFill>
                <a:latin typeface="Helvetica Neue"/>
                <a:ea typeface="Helvetica Neue"/>
                <a:cs typeface="Helvetica Neue"/>
              </a:rPr>
              <a:t>Auto Play</a:t>
            </a:r>
          </a:p>
        </p:txBody>
      </p:sp>
      <p:sp>
        <p:nvSpPr>
          <p:cNvPr id="4" name="">
            <a:extLst xmlns:a="http://schemas.openxmlformats.org/drawingml/2006/main">
              <a:ext uri="{FF2B5EF4-FFF2-40B4-BE49-F238E27FC236}">
                <a16:creationId xmlns:a16="http://schemas.microsoft.com/office/drawing/2014/main" id="{BF8531C1-E4A2-4334-BC26-70BE24877F33}"/>
              </a:ext>
            </a:extLst>
          </p:cNvPr>
          <p:cNvSpPr>
            <a:spLocks xmlns:a="http://schemas.openxmlformats.org/drawingml/2006/main" noGrp="1"/>
          </p:cNvSpPr>
          <p:nvPr/>
        </p:nvSpPr>
        <p:spPr>
          <a:xfrm xmlns:a="http://schemas.openxmlformats.org/drawingml/2006/main">
            <a:off x="6838950" y="2124075"/>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6F6F2"/>
                </a:solidFill>
                <a:latin typeface="Helvetica Neue"/>
                <a:ea typeface="Helvetica Neue"/>
                <a:cs typeface="Helvetica Neue"/>
              </a:defRPr>
            </a:pPr>
            <a:r>
              <a:rPr sz="4800" b="1">
                <a:solidFill>
                  <a:srgbClr val="F6F6F2"/>
                </a:solidFill>
                <a:latin typeface="Helvetica Neue"/>
                <a:ea typeface="Helvetica Neue"/>
                <a:cs typeface="Helvetica Neue"/>
              </a:rPr>
              <a:t>Sony Sound</a:t>
            </a:r>
          </a:p>
          <a:p xmlns:a="http://schemas.openxmlformats.org/drawingml/2006/main">
            <a:pPr>
              <a:defRPr sz="4800" b="1">
                <a:solidFill>
                  <a:srgbClr val="F6F6F2"/>
                </a:solidFill>
                <a:latin typeface="Helvetica Neue"/>
                <a:ea typeface="Helvetica Neue"/>
                <a:cs typeface="Helvetica Neue"/>
              </a:defRPr>
            </a:pPr>
            <a:r>
              <a:rPr sz="4800" b="1">
                <a:solidFill>
                  <a:srgbClr val="F6F6F2"/>
                </a:solidFill>
                <a:latin typeface="Helvetica Neue"/>
                <a:ea typeface="Helvetica Neue"/>
                <a:cs typeface="Helvetica Neue"/>
              </a:rPr>
              <a:t>Connect</a:t>
            </a:r>
          </a:p>
        </p:txBody>
      </p:sp>
      <p:sp>
        <p:nvSpPr>
          <p:cNvPr id="5" name="">
            <a:extLst xmlns:a="http://schemas.openxmlformats.org/drawingml/2006/main">
              <a:ext uri="{FF2B5EF4-FFF2-40B4-BE49-F238E27FC236}">
                <a16:creationId xmlns:a16="http://schemas.microsoft.com/office/drawing/2014/main" id="{2FB19FCC-C309-4A2C-967E-C725B28571C5}"/>
              </a:ext>
            </a:extLst>
          </p:cNvPr>
          <p:cNvSpPr>
            <a:spLocks xmlns:a="http://schemas.openxmlformats.org/drawingml/2006/main" noGrp="1"/>
          </p:cNvSpPr>
          <p:nvPr/>
        </p:nvSpPr>
        <p:spPr>
          <a:xfrm xmlns:a="http://schemas.openxmlformats.org/drawingml/2006/main">
            <a:off x="4953000" y="2695575"/>
            <a:ext cx="1285875" cy="3810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CA91D64-65E9-43E8-8448-34863B46BA18}"/>
              </a:ext>
            </a:extLst>
          </p:cNvPr>
          <p:cNvSpPr>
            <a:spLocks xmlns:a="http://schemas.openxmlformats.org/drawingml/2006/main" noGrp="1"/>
          </p:cNvSpPr>
          <p:nvPr/>
        </p:nvSpPr>
        <p:spPr>
          <a:xfrm xmlns:a="http://schemas.openxmlformats.org/drawingml/2006/main">
            <a:off x="609600" y="35242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CB0AC"/>
                </a:solidFill>
                <a:latin typeface="Helvetica Neue"/>
                <a:ea typeface="Helvetica Neue"/>
                <a:cs typeface="Helvetica Neue"/>
              </a:defRPr>
            </a:pPr>
            <a:r>
              <a:rPr sz="2475" b="0">
                <a:solidFill>
                  <a:srgbClr val="ACB0AC"/>
                </a:solidFill>
                <a:latin typeface="Helvetica Neue"/>
                <a:ea typeface="Helvetica Neue"/>
                <a:cs typeface="Helvetica Neue"/>
              </a:rPr>
              <a:t>KMP feature</a:t>
            </a:r>
          </a:p>
        </p:txBody>
      </p:sp>
      <p:sp>
        <p:nvSpPr>
          <p:cNvPr id="7" name="">
            <a:extLst xmlns:a="http://schemas.openxmlformats.org/drawingml/2006/main">
              <a:ext uri="{FF2B5EF4-FFF2-40B4-BE49-F238E27FC236}">
                <a16:creationId xmlns:a16="http://schemas.microsoft.com/office/drawing/2014/main" id="{88734885-D1F5-4B49-ADFD-A00781601CCE}"/>
              </a:ext>
            </a:extLst>
          </p:cNvPr>
          <p:cNvSpPr>
            <a:spLocks xmlns:a="http://schemas.openxmlformats.org/drawingml/2006/main" noGrp="1"/>
          </p:cNvSpPr>
          <p:nvPr/>
        </p:nvSpPr>
        <p:spPr>
          <a:xfrm xmlns:a="http://schemas.openxmlformats.org/drawingml/2006/main">
            <a:off x="6838950" y="39814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ACB0AC"/>
                </a:solidFill>
                <a:latin typeface="Helvetica Neue"/>
                <a:ea typeface="Helvetica Neue"/>
                <a:cs typeface="Helvetica Neue"/>
              </a:defRPr>
            </a:pPr>
            <a:r>
              <a:rPr sz="2475" b="0">
                <a:solidFill>
                  <a:srgbClr val="ACB0AC"/>
                </a:solidFill>
                <a:latin typeface="Helvetica Neue"/>
                <a:ea typeface="Helvetica Neue"/>
                <a:cs typeface="Helvetica Neue"/>
              </a:rPr>
              <a:t>Integrated in 2024</a:t>
            </a:r>
          </a:p>
        </p:txBody>
      </p:sp>
      <p:sp>
        <p:nvSpPr>
          <p:cNvPr id="8" name="">
            <a:extLst xmlns:a="http://schemas.openxmlformats.org/drawingml/2006/main">
              <a:ext uri="{FF2B5EF4-FFF2-40B4-BE49-F238E27FC236}">
                <a16:creationId xmlns:a16="http://schemas.microsoft.com/office/drawing/2014/main" id="{070F9B44-C146-4BA8-9879-AD40F61745CE}"/>
              </a:ext>
            </a:extLst>
          </p:cNvPr>
          <p:cNvSpPr>
            <a:spLocks xmlns:a="http://schemas.openxmlformats.org/drawingml/2006/main" noGrp="1"/>
          </p:cNvSpPr>
          <p:nvPr/>
        </p:nvSpPr>
        <p:spPr>
          <a:xfrm xmlns:a="http://schemas.openxmlformats.org/drawingml/2006/main">
            <a:off x="609600" y="53911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2FF00"/>
                </a:solidFill>
                <a:latin typeface="Helvetica Neue"/>
                <a:ea typeface="Helvetica Neue"/>
                <a:cs typeface="Helvetica Neue"/>
              </a:defRPr>
            </a:pPr>
            <a:r>
              <a:rPr sz="2850" b="1">
                <a:solidFill>
                  <a:srgbClr val="B2FF00"/>
                </a:solidFill>
                <a:latin typeface="Helvetica Neue"/>
                <a:ea typeface="Helvetica Neue"/>
                <a:cs typeface="Helvetica Neue"/>
              </a:rPr>
              <a:t>An audio companion app. Incremental adoption.</a:t>
            </a:r>
          </a:p>
        </p:txBody>
      </p:sp>
    </p:spTree>
    <p:extLst>
      <p:ext uri="{BB962C8B-B14F-4D97-AF65-F5344CB8AC3E}">
        <p14:creationId xmlns:p14="http://schemas.microsoft.com/office/powerpoint/2010/main" val="2138283799"/>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494B9B3-F45D-4FE4-B652-67B83B5E2F8E}"/>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Adoption evidence</a:t>
            </a:r>
          </a:p>
        </p:txBody>
      </p:sp>
      <p:sp>
        <p:nvSpPr>
          <p:cNvPr id="2" name="">
            <a:extLst xmlns:a="http://schemas.openxmlformats.org/drawingml/2006/main">
              <a:ext uri="{FF2B5EF4-FFF2-40B4-BE49-F238E27FC236}">
                <a16:creationId xmlns:a16="http://schemas.microsoft.com/office/drawing/2014/main" id="{FCF87EF8-1BFB-4A15-83F9-F87A6BC52FA7}"/>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EEFC682-B7C3-4257-80F5-728D497900B6}"/>
              </a:ext>
            </a:extLst>
          </p:cNvPr>
          <p:cNvSpPr>
            <a:spLocks xmlns:a="http://schemas.openxmlformats.org/drawingml/2006/main" noGrp="1"/>
          </p:cNvSpPr>
          <p:nvPr/>
        </p:nvSpPr>
        <p:spPr>
          <a:xfrm xmlns:a="http://schemas.openxmlformats.org/drawingml/2006/main">
            <a:off x="609600" y="2171700"/>
            <a:ext cx="342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ACB0AC"/>
                </a:solidFill>
                <a:latin typeface="Helvetica Neue"/>
                <a:ea typeface="Helvetica Neue"/>
                <a:cs typeface="Helvetica Neue"/>
              </a:defRPr>
            </a:pPr>
            <a:r>
              <a:rPr sz="8700" b="1">
                <a:solidFill>
                  <a:srgbClr val="ACB0AC"/>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EB6CAC8A-4492-41CA-991B-267090612C4F}"/>
              </a:ext>
            </a:extLst>
          </p:cNvPr>
          <p:cNvSpPr>
            <a:spLocks xmlns:a="http://schemas.openxmlformats.org/drawingml/2006/main" noGrp="1"/>
          </p:cNvSpPr>
          <p:nvPr/>
        </p:nvSpPr>
        <p:spPr>
          <a:xfrm xmlns:a="http://schemas.openxmlformats.org/drawingml/2006/main">
            <a:off x="5010150" y="2171700"/>
            <a:ext cx="390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700" b="1">
                <a:solidFill>
                  <a:srgbClr val="B2FF00"/>
                </a:solidFill>
                <a:latin typeface="Helvetica Neue"/>
                <a:ea typeface="Helvetica Neue"/>
                <a:cs typeface="Helvetica Neue"/>
              </a:defRPr>
            </a:pPr>
            <a:r>
              <a:rPr sz="8700" b="1">
                <a:solidFill>
                  <a:srgbClr val="B2FF00"/>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73AB3A8-381D-486B-B479-8CB2366CC7E6}"/>
              </a:ext>
            </a:extLst>
          </p:cNvPr>
          <p:cNvSpPr>
            <a:spLocks xmlns:a="http://schemas.openxmlformats.org/drawingml/2006/main" noGrp="1"/>
          </p:cNvSpPr>
          <p:nvPr/>
        </p:nvSpPr>
        <p:spPr>
          <a:xfrm xmlns:a="http://schemas.openxmlformats.org/drawingml/2006/main">
            <a:off x="69532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ACB0AC"/>
                </a:solidFill>
                <a:latin typeface="Helvetica Neue"/>
                <a:ea typeface="Helvetica Neue"/>
                <a:cs typeface="Helvetica Neue"/>
              </a:defRPr>
            </a:pPr>
            <a:r>
              <a:rPr sz="2625" b="0">
                <a:solidFill>
                  <a:srgbClr val="ACB0AC"/>
                </a:solidFill>
                <a:latin typeface="Helvetica Neue"/>
                <a:ea typeface="Helvetica Neue"/>
                <a:cs typeface="Helvetica Neue"/>
              </a:rPr>
              <a:t>2024</a:t>
            </a:r>
          </a:p>
        </p:txBody>
      </p:sp>
      <p:sp>
        <p:nvSpPr>
          <p:cNvPr id="6" name="">
            <a:extLst xmlns:a="http://schemas.openxmlformats.org/drawingml/2006/main">
              <a:ext uri="{FF2B5EF4-FFF2-40B4-BE49-F238E27FC236}">
                <a16:creationId xmlns:a16="http://schemas.microsoft.com/office/drawing/2014/main" id="{1F7C90F4-D058-4B27-BF69-F231B73F437D}"/>
              </a:ext>
            </a:extLst>
          </p:cNvPr>
          <p:cNvSpPr>
            <a:spLocks xmlns:a="http://schemas.openxmlformats.org/drawingml/2006/main" noGrp="1"/>
          </p:cNvSpPr>
          <p:nvPr/>
        </p:nvSpPr>
        <p:spPr>
          <a:xfrm xmlns:a="http://schemas.openxmlformats.org/drawingml/2006/main">
            <a:off x="5095875" y="38671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6F6F2"/>
                </a:solidFill>
                <a:latin typeface="Helvetica Neue"/>
                <a:ea typeface="Helvetica Neue"/>
                <a:cs typeface="Helvetica Neue"/>
              </a:defRPr>
            </a:pPr>
            <a:r>
              <a:rPr sz="2625" b="0">
                <a:solidFill>
                  <a:srgbClr val="F6F6F2"/>
                </a:solidFill>
                <a:latin typeface="Helvetica Neue"/>
                <a:ea typeface="Helvetica Neue"/>
                <a:cs typeface="Helvetica Neue"/>
              </a:rPr>
              <a:t>2025</a:t>
            </a:r>
          </a:p>
        </p:txBody>
      </p:sp>
      <p:sp>
        <p:nvSpPr>
          <p:cNvPr id="7" name="">
            <a:extLst xmlns:a="http://schemas.openxmlformats.org/drawingml/2006/main">
              <a:ext uri="{FF2B5EF4-FFF2-40B4-BE49-F238E27FC236}">
                <a16:creationId xmlns:a16="http://schemas.microsoft.com/office/drawing/2014/main" id="{1207E92C-BF9A-46C1-9A4E-D4C8309240B3}"/>
              </a:ext>
            </a:extLst>
          </p:cNvPr>
          <p:cNvSpPr>
            <a:spLocks xmlns:a="http://schemas.openxmlformats.org/drawingml/2006/main" noGrp="1"/>
          </p:cNvSpPr>
          <p:nvPr/>
        </p:nvSpPr>
        <p:spPr>
          <a:xfrm xmlns:a="http://schemas.openxmlformats.org/drawingml/2006/main">
            <a:off x="609600" y="49434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6F6F2"/>
                </a:solidFill>
                <a:latin typeface="Helvetica Neue"/>
                <a:ea typeface="Helvetica Neue"/>
                <a:cs typeface="Helvetica Neue"/>
              </a:defRPr>
            </a:pPr>
            <a:r>
              <a:rPr sz="2775" b="0">
                <a:solidFill>
                  <a:srgbClr val="F6F6F2"/>
                </a:solidFill>
                <a:latin typeface="Helvetica Neue"/>
                <a:ea typeface="Helvetica Neue"/>
                <a:cs typeface="Helvetica Neue"/>
              </a:rPr>
              <a:t>KMP usage among surveyed</a:t>
            </a:r>
          </a:p>
          <a:p xmlns:a="http://schemas.openxmlformats.org/drawingml/2006/main">
            <a:pPr>
              <a:defRPr sz="2775" b="0">
                <a:solidFill>
                  <a:srgbClr val="F6F6F2"/>
                </a:solidFill>
                <a:latin typeface="Helvetica Neue"/>
                <a:ea typeface="Helvetica Neue"/>
                <a:cs typeface="Helvetica Neue"/>
              </a:defRPr>
            </a:pPr>
            <a:r>
              <a:rPr sz="2775" b="0">
                <a:solidFill>
                  <a:srgbClr val="F6F6F2"/>
                </a:solidFill>
                <a:latin typeface="Helvetica Neue"/>
                <a:ea typeface="Helvetica Neue"/>
                <a:cs typeface="Helvetica Neue"/>
              </a:rPr>
              <a:t>cross-platform developers</a:t>
            </a:r>
          </a:p>
        </p:txBody>
      </p:sp>
      <p:sp>
        <p:nvSpPr>
          <p:cNvPr id="8" name="">
            <a:extLst xmlns:a="http://schemas.openxmlformats.org/drawingml/2006/main">
              <a:ext uri="{FF2B5EF4-FFF2-40B4-BE49-F238E27FC236}">
                <a16:creationId xmlns:a16="http://schemas.microsoft.com/office/drawing/2014/main" id="{A5523CFD-F926-4C74-AD6F-F1D4A90AC0B0}"/>
              </a:ext>
            </a:extLst>
          </p:cNvPr>
          <p:cNvSpPr>
            <a:spLocks xmlns:a="http://schemas.openxmlformats.org/drawingml/2006/main" noGrp="1"/>
          </p:cNvSpPr>
          <p:nvPr/>
        </p:nvSpPr>
        <p:spPr>
          <a:xfrm xmlns:a="http://schemas.openxmlformats.org/drawingml/2006/main">
            <a:off x="609600" y="599122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ACB0AC"/>
                </a:solidFill>
                <a:latin typeface="Helvetica Neue"/>
                <a:ea typeface="Helvetica Neue"/>
                <a:cs typeface="Helvetica Neue"/>
              </a:defRPr>
            </a:pPr>
            <a:r>
              <a:rPr sz="1650" b="0">
                <a:solidFill>
                  <a:srgbClr val="ACB0AC"/>
                </a:solidFill>
                <a:latin typeface="Helvetica Neue"/>
                <a:ea typeface="Helvetica Neue"/>
                <a:cs typeface="Helvetica Neue"/>
              </a:rPr>
              <a:t>JetBrains Developer Ecosystem surveys</a:t>
            </a:r>
          </a:p>
        </p:txBody>
      </p:sp>
    </p:spTree>
    <p:extLst>
      <p:ext uri="{BB962C8B-B14F-4D97-AF65-F5344CB8AC3E}">
        <p14:creationId xmlns:p14="http://schemas.microsoft.com/office/powerpoint/2010/main" val="613365668"/>
      </p:ext>
    </p:extLst>
  </p:cSld>
</p:sld>
</file>

<file path=ppt/slides/slide7.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6198914-DD6D-406C-B3E4-C8A88573E24D}"/>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Companies using KMP</a:t>
            </a:r>
          </a:p>
        </p:txBody>
      </p:sp>
      <p:sp>
        <p:nvSpPr>
          <p:cNvPr id="2" name="">
            <a:extLst xmlns:a="http://schemas.openxmlformats.org/drawingml/2006/main">
              <a:ext uri="{FF2B5EF4-FFF2-40B4-BE49-F238E27FC236}">
                <a16:creationId xmlns:a16="http://schemas.microsoft.com/office/drawing/2014/main" id="{2616A160-BB90-484D-94D5-3C58A0EF3039}"/>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5548C7D5-06E5-410F-8BA9-A8C3736F8202}"/>
              </a:ext>
            </a:extLst>
          </p:cNvPr>
          <p:cNvSpPr>
            <a:spLocks xmlns:a="http://schemas.openxmlformats.org/drawingml/2006/main" noGrp="1"/>
          </p:cNvSpPr>
          <p:nvPr/>
        </p:nvSpPr>
        <p:spPr>
          <a:xfrm xmlns:a="http://schemas.openxmlformats.org/drawingml/2006/main">
            <a:off x="609600" y="20574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2FF00"/>
                </a:solidFill>
                <a:latin typeface="Helvetica Neue"/>
                <a:ea typeface="Helvetica Neue"/>
                <a:cs typeface="Helvetica Neue"/>
              </a:defRPr>
            </a:pPr>
            <a:r>
              <a:rPr sz="3375" b="1">
                <a:solidFill>
                  <a:srgbClr val="B2FF00"/>
                </a:solidFill>
                <a:latin typeface="Helvetica Neue"/>
                <a:ea typeface="Helvetica Neue"/>
                <a:cs typeface="Helvetica Neue"/>
              </a:rPr>
              <a:t>Sony</a:t>
            </a:r>
          </a:p>
        </p:txBody>
      </p:sp>
      <p:sp>
        <p:nvSpPr>
          <p:cNvPr id="4" name="">
            <a:extLst xmlns:a="http://schemas.openxmlformats.org/drawingml/2006/main">
              <a:ext uri="{FF2B5EF4-FFF2-40B4-BE49-F238E27FC236}">
                <a16:creationId xmlns:a16="http://schemas.microsoft.com/office/drawing/2014/main" id="{D6261577-4F64-4095-9E0F-67DD1B04102F}"/>
              </a:ext>
            </a:extLst>
          </p:cNvPr>
          <p:cNvSpPr>
            <a:spLocks xmlns:a="http://schemas.openxmlformats.org/drawingml/2006/main" noGrp="1"/>
          </p:cNvSpPr>
          <p:nvPr/>
        </p:nvSpPr>
        <p:spPr>
          <a:xfrm xmlns:a="http://schemas.openxmlformats.org/drawingml/2006/main">
            <a:off x="609600" y="2867025"/>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Audio companion feature</a:t>
            </a:r>
          </a:p>
        </p:txBody>
      </p:sp>
      <p:sp>
        <p:nvSpPr>
          <p:cNvPr id="5" name="">
            <a:extLst xmlns:a="http://schemas.openxmlformats.org/drawingml/2006/main">
              <a:ext uri="{FF2B5EF4-FFF2-40B4-BE49-F238E27FC236}">
                <a16:creationId xmlns:a16="http://schemas.microsoft.com/office/drawing/2014/main" id="{40708168-3DE0-48FB-AB17-FBA31DA615D8}"/>
              </a:ext>
            </a:extLst>
          </p:cNvPr>
          <p:cNvSpPr>
            <a:spLocks xmlns:a="http://schemas.openxmlformats.org/drawingml/2006/main" noGrp="1"/>
          </p:cNvSpPr>
          <p:nvPr/>
        </p:nvSpPr>
        <p:spPr>
          <a:xfrm xmlns:a="http://schemas.openxmlformats.org/drawingml/2006/main">
            <a:off x="4419600" y="20574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2FF00"/>
                </a:solidFill>
                <a:latin typeface="Helvetica Neue"/>
                <a:ea typeface="Helvetica Neue"/>
                <a:cs typeface="Helvetica Neue"/>
              </a:defRPr>
            </a:pPr>
            <a:r>
              <a:rPr sz="3375" b="1">
                <a:solidFill>
                  <a:srgbClr val="B2FF00"/>
                </a:solidFill>
                <a:latin typeface="Helvetica Neue"/>
                <a:ea typeface="Helvetica Neue"/>
                <a:cs typeface="Helvetica Neue"/>
              </a:rPr>
              <a:t>Google Docs</a:t>
            </a:r>
          </a:p>
        </p:txBody>
      </p:sp>
      <p:sp>
        <p:nvSpPr>
          <p:cNvPr id="6" name="">
            <a:extLst xmlns:a="http://schemas.openxmlformats.org/drawingml/2006/main">
              <a:ext uri="{FF2B5EF4-FFF2-40B4-BE49-F238E27FC236}">
                <a16:creationId xmlns:a16="http://schemas.microsoft.com/office/drawing/2014/main" id="{32C0DEBC-7E36-449C-AB92-CD9B3B95C13F}"/>
              </a:ext>
            </a:extLst>
          </p:cNvPr>
          <p:cNvSpPr>
            <a:spLocks xmlns:a="http://schemas.openxmlformats.org/drawingml/2006/main" noGrp="1"/>
          </p:cNvSpPr>
          <p:nvPr/>
        </p:nvSpPr>
        <p:spPr>
          <a:xfrm xmlns:a="http://schemas.openxmlformats.org/drawingml/2006/main">
            <a:off x="4419600" y="2867025"/>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Shared app logic</a:t>
            </a:r>
          </a:p>
        </p:txBody>
      </p:sp>
      <p:sp>
        <p:nvSpPr>
          <p:cNvPr id="7" name="">
            <a:extLst xmlns:a="http://schemas.openxmlformats.org/drawingml/2006/main">
              <a:ext uri="{FF2B5EF4-FFF2-40B4-BE49-F238E27FC236}">
                <a16:creationId xmlns:a16="http://schemas.microsoft.com/office/drawing/2014/main" id="{ACAE7345-B031-4500-AE63-F55FD8E75CF3}"/>
              </a:ext>
            </a:extLst>
          </p:cNvPr>
          <p:cNvSpPr>
            <a:spLocks xmlns:a="http://schemas.openxmlformats.org/drawingml/2006/main" noGrp="1"/>
          </p:cNvSpPr>
          <p:nvPr/>
        </p:nvSpPr>
        <p:spPr>
          <a:xfrm xmlns:a="http://schemas.openxmlformats.org/drawingml/2006/main">
            <a:off x="8229600" y="20574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2FF00"/>
                </a:solidFill>
                <a:latin typeface="Helvetica Neue"/>
                <a:ea typeface="Helvetica Neue"/>
                <a:cs typeface="Helvetica Neue"/>
              </a:defRPr>
            </a:pPr>
            <a:r>
              <a:rPr sz="3375" b="1">
                <a:solidFill>
                  <a:srgbClr val="B2FF00"/>
                </a:solidFill>
                <a:latin typeface="Helvetica Neue"/>
                <a:ea typeface="Helvetica Neue"/>
                <a:cs typeface="Helvetica Neue"/>
              </a:rPr>
              <a:t>Philips</a:t>
            </a:r>
          </a:p>
        </p:txBody>
      </p:sp>
      <p:sp>
        <p:nvSpPr>
          <p:cNvPr id="8" name="">
            <a:extLst xmlns:a="http://schemas.openxmlformats.org/drawingml/2006/main">
              <a:ext uri="{FF2B5EF4-FFF2-40B4-BE49-F238E27FC236}">
                <a16:creationId xmlns:a16="http://schemas.microsoft.com/office/drawing/2014/main" id="{11B46ABA-CA00-4020-8993-73A8D74083D2}"/>
              </a:ext>
            </a:extLst>
          </p:cNvPr>
          <p:cNvSpPr>
            <a:spLocks xmlns:a="http://schemas.openxmlformats.org/drawingml/2006/main" noGrp="1"/>
          </p:cNvSpPr>
          <p:nvPr/>
        </p:nvSpPr>
        <p:spPr>
          <a:xfrm xmlns:a="http://schemas.openxmlformats.org/drawingml/2006/main">
            <a:off x="8229600" y="2867025"/>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HealthSuite mobile SDK</a:t>
            </a:r>
          </a:p>
        </p:txBody>
      </p:sp>
      <p:sp>
        <p:nvSpPr>
          <p:cNvPr id="9" name="">
            <a:extLst xmlns:a="http://schemas.openxmlformats.org/drawingml/2006/main">
              <a:ext uri="{FF2B5EF4-FFF2-40B4-BE49-F238E27FC236}">
                <a16:creationId xmlns:a16="http://schemas.microsoft.com/office/drawing/2014/main" id="{45E11E8D-B60D-4BE6-8830-009391410BC0}"/>
              </a:ext>
            </a:extLst>
          </p:cNvPr>
          <p:cNvSpPr>
            <a:spLocks xmlns:a="http://schemas.openxmlformats.org/drawingml/2006/main" noGrp="1"/>
          </p:cNvSpPr>
          <p:nvPr/>
        </p:nvSpPr>
        <p:spPr>
          <a:xfrm xmlns:a="http://schemas.openxmlformats.org/drawingml/2006/main">
            <a:off x="609600" y="3914775"/>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2FF00"/>
                </a:solidFill>
                <a:latin typeface="Helvetica Neue"/>
                <a:ea typeface="Helvetica Neue"/>
                <a:cs typeface="Helvetica Neue"/>
              </a:defRPr>
            </a:pPr>
            <a:r>
              <a:rPr sz="3375" b="1">
                <a:solidFill>
                  <a:srgbClr val="B2FF00"/>
                </a:solidFill>
                <a:latin typeface="Helvetica Neue"/>
                <a:ea typeface="Helvetica Neue"/>
                <a:cs typeface="Helvetica Neue"/>
              </a:rPr>
              <a:t>Forbes</a:t>
            </a:r>
          </a:p>
        </p:txBody>
      </p:sp>
      <p:sp>
        <p:nvSpPr>
          <p:cNvPr id="10" name="">
            <a:extLst xmlns:a="http://schemas.openxmlformats.org/drawingml/2006/main">
              <a:ext uri="{FF2B5EF4-FFF2-40B4-BE49-F238E27FC236}">
                <a16:creationId xmlns:a16="http://schemas.microsoft.com/office/drawing/2014/main" id="{9A582E17-81FD-4D54-B81E-F287FD30F7FC}"/>
              </a:ext>
            </a:extLst>
          </p:cNvPr>
          <p:cNvSpPr>
            <a:spLocks xmlns:a="http://schemas.openxmlformats.org/drawingml/2006/main" noGrp="1"/>
          </p:cNvSpPr>
          <p:nvPr/>
        </p:nvSpPr>
        <p:spPr>
          <a:xfrm xmlns:a="http://schemas.openxmlformats.org/drawingml/2006/main">
            <a:off x="609600" y="472440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Android / iOS logic</a:t>
            </a:r>
          </a:p>
        </p:txBody>
      </p:sp>
      <p:sp>
        <p:nvSpPr>
          <p:cNvPr id="11" name="">
            <a:extLst xmlns:a="http://schemas.openxmlformats.org/drawingml/2006/main">
              <a:ext uri="{FF2B5EF4-FFF2-40B4-BE49-F238E27FC236}">
                <a16:creationId xmlns:a16="http://schemas.microsoft.com/office/drawing/2014/main" id="{59F1805D-645A-4FE1-938A-8312860FC6F0}"/>
              </a:ext>
            </a:extLst>
          </p:cNvPr>
          <p:cNvSpPr>
            <a:spLocks xmlns:a="http://schemas.openxmlformats.org/drawingml/2006/main" noGrp="1"/>
          </p:cNvSpPr>
          <p:nvPr/>
        </p:nvSpPr>
        <p:spPr>
          <a:xfrm xmlns:a="http://schemas.openxmlformats.org/drawingml/2006/main">
            <a:off x="4419600" y="3914775"/>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2FF00"/>
                </a:solidFill>
                <a:latin typeface="Helvetica Neue"/>
                <a:ea typeface="Helvetica Neue"/>
                <a:cs typeface="Helvetica Neue"/>
              </a:defRPr>
            </a:pPr>
            <a:r>
              <a:rPr sz="3375" b="1">
                <a:solidFill>
                  <a:srgbClr val="B2FF00"/>
                </a:solidFill>
                <a:latin typeface="Helvetica Neue"/>
                <a:ea typeface="Helvetica Neue"/>
                <a:cs typeface="Helvetica Neue"/>
              </a:rPr>
              <a:t>McDonald’s</a:t>
            </a:r>
          </a:p>
        </p:txBody>
      </p:sp>
      <p:sp>
        <p:nvSpPr>
          <p:cNvPr id="12" name="">
            <a:extLst xmlns:a="http://schemas.openxmlformats.org/drawingml/2006/main">
              <a:ext uri="{FF2B5EF4-FFF2-40B4-BE49-F238E27FC236}">
                <a16:creationId xmlns:a16="http://schemas.microsoft.com/office/drawing/2014/main" id="{5DD9AB90-73D8-45D4-B9E7-D7BC779795A0}"/>
              </a:ext>
            </a:extLst>
          </p:cNvPr>
          <p:cNvSpPr>
            <a:spLocks xmlns:a="http://schemas.openxmlformats.org/drawingml/2006/main" noGrp="1"/>
          </p:cNvSpPr>
          <p:nvPr/>
        </p:nvSpPr>
        <p:spPr>
          <a:xfrm xmlns:a="http://schemas.openxmlformats.org/drawingml/2006/main">
            <a:off x="4419600" y="472440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Mobile app logic</a:t>
            </a:r>
          </a:p>
        </p:txBody>
      </p:sp>
      <p:sp>
        <p:nvSpPr>
          <p:cNvPr id="13" name="">
            <a:extLst xmlns:a="http://schemas.openxmlformats.org/drawingml/2006/main">
              <a:ext uri="{FF2B5EF4-FFF2-40B4-BE49-F238E27FC236}">
                <a16:creationId xmlns:a16="http://schemas.microsoft.com/office/drawing/2014/main" id="{2CFB57E8-2B35-40C6-AE29-9C1B79F949F6}"/>
              </a:ext>
            </a:extLst>
          </p:cNvPr>
          <p:cNvSpPr>
            <a:spLocks xmlns:a="http://schemas.openxmlformats.org/drawingml/2006/main" noGrp="1"/>
          </p:cNvSpPr>
          <p:nvPr/>
        </p:nvSpPr>
        <p:spPr>
          <a:xfrm xmlns:a="http://schemas.openxmlformats.org/drawingml/2006/main">
            <a:off x="8229600" y="3914775"/>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B2FF00"/>
                </a:solidFill>
                <a:latin typeface="Helvetica Neue"/>
                <a:ea typeface="Helvetica Neue"/>
                <a:cs typeface="Helvetica Neue"/>
              </a:defRPr>
            </a:pPr>
            <a:r>
              <a:rPr sz="3375" b="1">
                <a:solidFill>
                  <a:srgbClr val="B2FF00"/>
                </a:solidFill>
                <a:latin typeface="Helvetica Neue"/>
                <a:ea typeface="Helvetica Neue"/>
                <a:cs typeface="Helvetica Neue"/>
              </a:rPr>
              <a:t>Cash App</a:t>
            </a:r>
          </a:p>
        </p:txBody>
      </p:sp>
      <p:sp>
        <p:nvSpPr>
          <p:cNvPr id="14" name="">
            <a:extLst xmlns:a="http://schemas.openxmlformats.org/drawingml/2006/main">
              <a:ext uri="{FF2B5EF4-FFF2-40B4-BE49-F238E27FC236}">
                <a16:creationId xmlns:a16="http://schemas.microsoft.com/office/drawing/2014/main" id="{7E88AC94-3DD8-40CD-ABFF-5454D734B145}"/>
              </a:ext>
            </a:extLst>
          </p:cNvPr>
          <p:cNvSpPr>
            <a:spLocks xmlns:a="http://schemas.openxmlformats.org/drawingml/2006/main" noGrp="1"/>
          </p:cNvSpPr>
          <p:nvPr/>
        </p:nvSpPr>
        <p:spPr>
          <a:xfrm xmlns:a="http://schemas.openxmlformats.org/drawingml/2006/main">
            <a:off x="8229600" y="4724400"/>
            <a:ext cx="34766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6F6F2"/>
                </a:solidFill>
                <a:latin typeface="Helvetica Neue"/>
                <a:ea typeface="Helvetica Neue"/>
                <a:cs typeface="Helvetica Neue"/>
              </a:defRPr>
            </a:pPr>
            <a:r>
              <a:rPr sz="2025" b="0">
                <a:solidFill>
                  <a:srgbClr val="F6F6F2"/>
                </a:solidFill>
                <a:latin typeface="Helvetica Neue"/>
                <a:ea typeface="Helvetica Neue"/>
                <a:cs typeface="Helvetica Neue"/>
              </a:rPr>
              <a:t>Fintech application</a:t>
            </a:r>
          </a:p>
        </p:txBody>
      </p:sp>
      <p:sp>
        <p:nvSpPr>
          <p:cNvPr id="15" name="">
            <a:extLst xmlns:a="http://schemas.openxmlformats.org/drawingml/2006/main">
              <a:ext uri="{FF2B5EF4-FFF2-40B4-BE49-F238E27FC236}">
                <a16:creationId xmlns:a16="http://schemas.microsoft.com/office/drawing/2014/main" id="{B2B05355-EB7A-4999-8197-757D231D61BF}"/>
              </a:ext>
            </a:extLst>
          </p:cNvPr>
          <p:cNvSpPr>
            <a:spLocks xmlns:a="http://schemas.openxmlformats.org/drawingml/2006/main" noGrp="1"/>
          </p:cNvSpPr>
          <p:nvPr/>
        </p:nvSpPr>
        <p:spPr>
          <a:xfrm xmlns:a="http://schemas.openxmlformats.org/drawingml/2006/main">
            <a:off x="609600" y="5876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Different products. Different sharing scopes.</a:t>
            </a:r>
          </a:p>
        </p:txBody>
      </p:sp>
    </p:spTree>
    <p:extLst>
      <p:ext uri="{BB962C8B-B14F-4D97-AF65-F5344CB8AC3E}">
        <p14:creationId xmlns:p14="http://schemas.microsoft.com/office/powerpoint/2010/main" val="150900645"/>
      </p:ext>
    </p:extLst>
  </p:cSld>
</p:sld>
</file>

<file path=ppt/slides/slide8.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2A2FCBB-6AA0-4298-832E-EE1612457F19}"/>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Reuse follows the platform boundary</a:t>
            </a:r>
          </a:p>
        </p:txBody>
      </p:sp>
      <p:sp>
        <p:nvSpPr>
          <p:cNvPr id="2" name="">
            <a:extLst xmlns:a="http://schemas.openxmlformats.org/drawingml/2006/main">
              <a:ext uri="{FF2B5EF4-FFF2-40B4-BE49-F238E27FC236}">
                <a16:creationId xmlns:a16="http://schemas.microsoft.com/office/drawing/2014/main" id="{E7EE9D2E-1BB6-4D20-A01D-2FA904513172}"/>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BF6AD19A-215C-42CA-AB07-B28F58AB7224}"/>
              </a:ext>
            </a:extLst>
          </p:cNvPr>
          <p:cNvSpPr>
            <a:spLocks xmlns:a="http://schemas.openxmlformats.org/drawingml/2006/main" noGrp="1"/>
          </p:cNvSpPr>
          <p:nvPr/>
        </p:nvSpPr>
        <p:spPr>
          <a:xfrm xmlns:a="http://schemas.openxmlformats.org/drawingml/2006/main">
            <a:off x="609600" y="21145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2FF00"/>
                </a:solidFill>
                <a:latin typeface="Helvetica Neue"/>
                <a:ea typeface="Helvetica Neue"/>
                <a:cs typeface="Helvetica Neue"/>
              </a:defRPr>
            </a:pPr>
            <a:r>
              <a:rPr sz="2550" b="1">
                <a:solidFill>
                  <a:srgbClr val="B2FF00"/>
                </a:solidFill>
                <a:latin typeface="Helvetica Neue"/>
                <a:ea typeface="Helvetica Neue"/>
                <a:cs typeface="Helvetica Neue"/>
              </a:rPr>
              <a:t>SHARE</a:t>
            </a:r>
          </a:p>
        </p:txBody>
      </p:sp>
      <p:sp>
        <p:nvSpPr>
          <p:cNvPr id="4" name="">
            <a:extLst xmlns:a="http://schemas.openxmlformats.org/drawingml/2006/main">
              <a:ext uri="{FF2B5EF4-FFF2-40B4-BE49-F238E27FC236}">
                <a16:creationId xmlns:a16="http://schemas.microsoft.com/office/drawing/2014/main" id="{3EF6EE41-EC94-4A91-B4DB-DDA8F382B534}"/>
              </a:ext>
            </a:extLst>
          </p:cNvPr>
          <p:cNvSpPr>
            <a:spLocks xmlns:a="http://schemas.openxmlformats.org/drawingml/2006/main" noGrp="1"/>
          </p:cNvSpPr>
          <p:nvPr/>
        </p:nvSpPr>
        <p:spPr>
          <a:xfrm xmlns:a="http://schemas.openxmlformats.org/drawingml/2006/main">
            <a:off x="609600" y="2924175"/>
            <a:ext cx="571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Kotlin models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Business rules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Use cases</a:t>
            </a:r>
          </a:p>
        </p:txBody>
      </p:sp>
      <p:sp>
        <p:nvSpPr>
          <p:cNvPr id="5" name="">
            <a:extLst xmlns:a="http://schemas.openxmlformats.org/drawingml/2006/main">
              <a:ext uri="{FF2B5EF4-FFF2-40B4-BE49-F238E27FC236}">
                <a16:creationId xmlns:a16="http://schemas.microsoft.com/office/drawing/2014/main" id="{649D8BE6-CF1F-456E-9CC7-A317418132C3}"/>
              </a:ext>
            </a:extLst>
          </p:cNvPr>
          <p:cNvSpPr>
            <a:spLocks xmlns:a="http://schemas.openxmlformats.org/drawingml/2006/main" noGrp="1"/>
          </p:cNvSpPr>
          <p:nvPr/>
        </p:nvSpPr>
        <p:spPr>
          <a:xfrm xmlns:a="http://schemas.openxmlformats.org/drawingml/2006/main">
            <a:off x="7219950" y="2114550"/>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B2FF00"/>
                </a:solidFill>
                <a:latin typeface="Helvetica Neue"/>
                <a:ea typeface="Helvetica Neue"/>
                <a:cs typeface="Helvetica Neue"/>
              </a:defRPr>
            </a:pPr>
            <a:r>
              <a:rPr sz="2550" b="1">
                <a:solidFill>
                  <a:srgbClr val="B2FF00"/>
                </a:solidFill>
                <a:latin typeface="Helvetica Neue"/>
                <a:ea typeface="Helvetica Neue"/>
                <a:cs typeface="Helvetica Neue"/>
              </a:rPr>
              <a:t>KEEP NATIVE</a:t>
            </a:r>
          </a:p>
        </p:txBody>
      </p:sp>
      <p:sp>
        <p:nvSpPr>
          <p:cNvPr id="6" name="">
            <a:extLst xmlns:a="http://schemas.openxmlformats.org/drawingml/2006/main">
              <a:ext uri="{FF2B5EF4-FFF2-40B4-BE49-F238E27FC236}">
                <a16:creationId xmlns:a16="http://schemas.microsoft.com/office/drawing/2014/main" id="{0848741C-9260-4267-8742-35F2085875D0}"/>
              </a:ext>
            </a:extLst>
          </p:cNvPr>
          <p:cNvSpPr>
            <a:spLocks xmlns:a="http://schemas.openxmlformats.org/drawingml/2006/main" noGrp="1"/>
          </p:cNvSpPr>
          <p:nvPr/>
        </p:nvSpPr>
        <p:spPr>
          <a:xfrm xmlns:a="http://schemas.openxmlformats.org/drawingml/2006/main">
            <a:off x="7219950" y="2924175"/>
            <a:ext cx="43338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Screens</a:t>
            </a:r>
          </a:p>
          <a:p xmlns:a="http://schemas.openxmlformats.org/drawingml/2006/main">
            <a:pPr>
              <a:defRPr sz="3525" b="1">
                <a:solidFill>
                  <a:srgbClr val="F6F6F2"/>
                </a:solidFill>
                <a:latin typeface="Helvetica Neue"/>
                <a:ea typeface="Helvetica Neue"/>
                <a:cs typeface="Helvetica Neue"/>
              </a:defRPr>
            </a:pPr>
            <a:r>
              <a:rPr sz="3525" b="1">
                <a:solidFill>
                  <a:srgbClr val="F6F6F2"/>
                </a:solidFill>
                <a:latin typeface="Helvetica Neue"/>
                <a:ea typeface="Helvetica Neue"/>
                <a:cs typeface="Helvetica Neue"/>
              </a:rPr>
              <a:t>OS integrations</a:t>
            </a:r>
          </a:p>
        </p:txBody>
      </p:sp>
      <p:sp>
        <p:nvSpPr>
          <p:cNvPr id="7" name="">
            <a:extLst xmlns:a="http://schemas.openxmlformats.org/drawingml/2006/main">
              <a:ext uri="{FF2B5EF4-FFF2-40B4-BE49-F238E27FC236}">
                <a16:creationId xmlns:a16="http://schemas.microsoft.com/office/drawing/2014/main" id="{8061E6AA-E1EF-450F-86B9-8F6A302DD101}"/>
              </a:ext>
            </a:extLst>
          </p:cNvPr>
          <p:cNvSpPr>
            <a:spLocks xmlns:a="http://schemas.openxmlformats.org/drawingml/2006/main" noGrp="1"/>
          </p:cNvSpPr>
          <p:nvPr/>
        </p:nvSpPr>
        <p:spPr>
          <a:xfrm xmlns:a="http://schemas.openxmlformats.org/drawingml/2006/main">
            <a:off x="609600" y="57340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ACB0AC"/>
                </a:solidFill>
                <a:latin typeface="Helvetica Neue"/>
                <a:ea typeface="Helvetica Neue"/>
                <a:cs typeface="Helvetica Neue"/>
              </a:defRPr>
            </a:pPr>
            <a:r>
              <a:rPr sz="2100" b="0">
                <a:solidFill>
                  <a:srgbClr val="ACB0AC"/>
                </a:solidFill>
                <a:latin typeface="Helvetica Neue"/>
                <a:ea typeface="Helvetica Neue"/>
                <a:cs typeface="Helvetica Neue"/>
              </a:rPr>
              <a:t>Android-specific dependencies need adaptation</a:t>
            </a:r>
          </a:p>
        </p:txBody>
      </p:sp>
    </p:spTree>
    <p:extLst>
      <p:ext uri="{BB962C8B-B14F-4D97-AF65-F5344CB8AC3E}">
        <p14:creationId xmlns:p14="http://schemas.microsoft.com/office/powerpoint/2010/main" val="1582925283"/>
      </p:ext>
    </p:extLst>
  </p:cSld>
</p:sld>
</file>

<file path=ppt/slides/slide9.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5BF797-27FA-4609-8EB6-AC12F2BAE4BC}"/>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choice depends on our starting point</a:t>
            </a:r>
          </a:p>
        </p:txBody>
      </p:sp>
      <p:sp>
        <p:nvSpPr>
          <p:cNvPr id="2" name="">
            <a:extLst xmlns:a="http://schemas.openxmlformats.org/drawingml/2006/main">
              <a:ext uri="{FF2B5EF4-FFF2-40B4-BE49-F238E27FC236}">
                <a16:creationId xmlns:a16="http://schemas.microsoft.com/office/drawing/2014/main" id="{CE1F19C8-CAD6-4699-A6DD-3EE609BD2BBB}"/>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09</a:t>
            </a:r>
          </a:p>
        </p:txBody>
      </p:sp>
      <p:graphicFrame>
        <p:nvGraphicFramePr>
          <p:cNvPr id="7" name=""/>
          <p:cNvGraphicFramePr/>
          <p:nvPr/>
        </p:nvGraphicFramePr>
        <p:xfrm>
          <a:off xmlns:a="http://schemas.openxmlformats.org/drawingml/2006/main" x="609600" y="2114550"/>
          <a:ext xmlns:a="http://schemas.openxmlformats.org/drawingml/2006/main" cx="10972800" cy="2781300"/>
        </p:xfrm>
        <a:graphic xmlns:a="http://schemas.openxmlformats.org/drawingml/2006/main">
          <a:graphicData uri="http://schemas.openxmlformats.org/drawingml/2006/table">
            <a:tbl>
              <a:tblPr/>
              <a:tblGrid>
                <a:gridCol w="5486400"/>
                <a:gridCol w="5486400"/>
              </a:tblGrid>
              <a:tr h="695325">
                <a:tc>
                  <a:txBody>
                    <a:bodyPr>
                      <a:noAutofit/>
                    </a:bodyPr>
                    <a:lstStyle/>
                    <a:p>
                      <a:r>
                        <a:rPr sz="2400" b="1">
                          <a:solidFill>
                            <a:srgbClr val="050505"/>
                          </a:solidFill>
                          <a:latin typeface="Helvetica Neue"/>
                          <a:ea typeface="Helvetica Neue"/>
                          <a:cs typeface="Helvetica Neue"/>
                        </a:rPr>
                        <a:t>KMP</a:t>
                      </a:r>
                    </a:p>
                  </a:txBody>
                  <a:tcPr marL="91440" marR="91440" marT="45720" marB="45720">
                    <a:solidFill>
                      <a:srgbClr val="B2FF00"/>
                    </a:solidFill>
                  </a:tcPr>
                </a:tc>
                <a:tc>
                  <a:txBody>
                    <a:bodyPr>
                      <a:noAutofit/>
                    </a:bodyPr>
                    <a:lstStyle/>
                    <a:p>
                      <a:r>
                        <a:rPr sz="2400" b="1">
                          <a:solidFill>
                            <a:srgbClr val="050505"/>
                          </a:solidFill>
                          <a:latin typeface="Helvetica Neue"/>
                          <a:ea typeface="Helvetica Neue"/>
                          <a:cs typeface="Helvetica Neue"/>
                        </a:rPr>
                        <a:t>React Native</a:t>
                      </a:r>
                    </a:p>
                  </a:txBody>
                  <a:tcPr marL="91440" marR="91440" marT="45720" marB="45720">
                    <a:solidFill>
                      <a:srgbClr val="B2FF00"/>
                    </a:solidFill>
                  </a:tcPr>
                </a:tc>
              </a:tr>
              <a:tr h="695325">
                <a:tc>
                  <a:txBody>
                    <a:bodyPr>
                      <a:noAutofit/>
                    </a:bodyPr>
                    <a:lstStyle/>
                    <a:p>
                      <a:r>
                        <a:rPr sz="2400" b="0">
                          <a:solidFill>
                            <a:srgbClr val="F6F6F2"/>
                          </a:solidFill>
                          <a:latin typeface="Helvetica Neue"/>
                          <a:ea typeface="Helvetica Neue"/>
                          <a:cs typeface="Helvetica Neue"/>
                        </a:rPr>
                        <a:t>Kotlin shared core</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React / TypeScript stack</a:t>
                      </a:r>
                    </a:p>
                  </a:txBody>
                  <a:tcPr marL="91440" marR="91440" marT="45720" marB="45720">
                    <a:solidFill>
                      <a:srgbClr val="050505"/>
                    </a:solidFill>
                  </a:tcPr>
                </a:tc>
              </a:tr>
              <a:tr h="695325">
                <a:tc>
                  <a:txBody>
                    <a:bodyPr>
                      <a:noAutofit/>
                    </a:bodyPr>
                    <a:lstStyle/>
                    <a:p>
                      <a:r>
                        <a:rPr sz="2400" b="0">
                          <a:solidFill>
                            <a:srgbClr val="F6F6F2"/>
                          </a:solidFill>
                          <a:latin typeface="Helvetica Neue"/>
                          <a:ea typeface="Helvetica Neue"/>
                          <a:cs typeface="Helvetica Neue"/>
                        </a:rPr>
                        <a:t>Native screens can stay</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Shared React Native screens</a:t>
                      </a:r>
                    </a:p>
                  </a:txBody>
                  <a:tcPr marL="91440" marR="91440" marT="45720" marB="45720">
                    <a:solidFill>
                      <a:srgbClr val="050505"/>
                    </a:solidFill>
                  </a:tcPr>
                </a:tc>
              </a:tr>
              <a:tr h="695325">
                <a:tc>
                  <a:txBody>
                    <a:bodyPr>
                      <a:noAutofit/>
                    </a:bodyPr>
                    <a:lstStyle/>
                    <a:p>
                      <a:r>
                        <a:rPr sz="2400" b="0">
                          <a:solidFill>
                            <a:srgbClr val="F6F6F2"/>
                          </a:solidFill>
                          <a:latin typeface="Helvetica Neue"/>
                          <a:ea typeface="Helvetica Neue"/>
                          <a:cs typeface="Helvetica Neue"/>
                        </a:rPr>
                        <a:t>Builds on our Kotlin skills</a:t>
                      </a:r>
                    </a:p>
                  </a:txBody>
                  <a:tcPr marL="91440" marR="91440" marT="45720" marB="45720">
                    <a:solidFill>
                      <a:srgbClr val="050505"/>
                    </a:solidFill>
                  </a:tcPr>
                </a:tc>
                <a:tc>
                  <a:txBody>
                    <a:bodyPr>
                      <a:noAutofit/>
                    </a:bodyPr>
                    <a:lstStyle/>
                    <a:p>
                      <a:r>
                        <a:rPr sz="2400" b="0">
                          <a:solidFill>
                            <a:srgbClr val="F6F6F2"/>
                          </a:solidFill>
                          <a:latin typeface="Helvetica Neue"/>
                          <a:ea typeface="Helvetica Neue"/>
                          <a:cs typeface="Helvetica Neue"/>
                        </a:rPr>
                        <a:t>Fits a React-led UI strategy</a:t>
                      </a:r>
                    </a:p>
                  </a:txBody>
                  <a:tcPr marL="91440" marR="91440" marT="45720" marB="45720">
                    <a:solidFill>
                      <a:srgbClr val="050505"/>
                    </a:solidFill>
                  </a:tcPr>
                </a:tc>
              </a:tr>
            </a:tbl>
          </a:graphicData>
        </a:graphic>
      </p:graphicFrame>
      <p:sp>
        <p:nvSpPr>
          <p:cNvPr id="4" name="">
            <a:extLst xmlns:a="http://schemas.openxmlformats.org/drawingml/2006/main">
              <a:ext uri="{FF2B5EF4-FFF2-40B4-BE49-F238E27FC236}">
                <a16:creationId xmlns:a16="http://schemas.microsoft.com/office/drawing/2014/main" id="{8E3C953B-D67D-419D-B68D-459F2CF26A2B}"/>
              </a:ext>
            </a:extLst>
          </p:cNvPr>
          <p:cNvSpPr>
            <a:spLocks xmlns:a="http://schemas.openxmlformats.org/drawingml/2006/main" noGrp="1"/>
          </p:cNvSpPr>
          <p:nvPr/>
        </p:nvSpPr>
        <p:spPr>
          <a:xfrm xmlns:a="http://schemas.openxmlformats.org/drawingml/2006/main">
            <a:off x="609600" y="5438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B2FF00"/>
                </a:solidFill>
                <a:latin typeface="Helvetica Neue"/>
                <a:ea typeface="Helvetica Neue"/>
                <a:cs typeface="Helvetica Neue"/>
              </a:defRPr>
            </a:pPr>
            <a:r>
              <a:rPr sz="2625" b="1">
                <a:solidFill>
                  <a:srgbClr val="B2FF00"/>
                </a:solidFill>
                <a:latin typeface="Helvetica Neue"/>
                <a:ea typeface="Helvetica Neue"/>
                <a:cs typeface="Helvetica Neue"/>
              </a:rPr>
              <a:t>Both support device APIs and native integrations</a:t>
            </a:r>
          </a:p>
        </p:txBody>
      </p:sp>
    </p:spTree>
    <p:extLst>
      <p:ext uri="{BB962C8B-B14F-4D97-AF65-F5344CB8AC3E}">
        <p14:creationId xmlns:p14="http://schemas.microsoft.com/office/powerpoint/2010/main" val="1493700894"/>
      </p:ext>
    </p:extLst>
  </p:cSld>
</p:sld>
</file>

<file path=ppt/slides/slide10.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30E523E-3963-4010-BDF8-07FB3DAD9DC3}"/>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The PoC foundation</a:t>
            </a:r>
          </a:p>
        </p:txBody>
      </p:sp>
      <p:sp>
        <p:nvSpPr>
          <p:cNvPr id="2" name="">
            <a:extLst xmlns:a="http://schemas.openxmlformats.org/drawingml/2006/main">
              <a:ext uri="{FF2B5EF4-FFF2-40B4-BE49-F238E27FC236}">
                <a16:creationId xmlns:a16="http://schemas.microsoft.com/office/drawing/2014/main" id="{96E96C6E-C45C-4828-9544-F0FB596E3B55}"/>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F58AD089-B5C6-403E-8872-C4A9870836F3}"/>
              </a:ext>
            </a:extLst>
          </p:cNvPr>
          <p:cNvSpPr>
            <a:spLocks xmlns:a="http://schemas.openxmlformats.org/drawingml/2006/main" noGrp="1"/>
          </p:cNvSpPr>
          <p:nvPr/>
        </p:nvSpPr>
        <p:spPr>
          <a:xfrm xmlns:a="http://schemas.openxmlformats.org/drawingml/2006/main">
            <a:off x="2419350" y="1762125"/>
            <a:ext cx="7353300" cy="6286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7E644207-5CF9-4A87-A489-A028CC59248F}"/>
              </a:ext>
            </a:extLst>
          </p:cNvPr>
          <p:cNvSpPr>
            <a:spLocks xmlns:a="http://schemas.openxmlformats.org/drawingml/2006/main" noGrp="1"/>
          </p:cNvSpPr>
          <p:nvPr/>
        </p:nvSpPr>
        <p:spPr>
          <a:xfrm xmlns:a="http://schemas.openxmlformats.org/drawingml/2006/main">
            <a:off x="2609850" y="1971675"/>
            <a:ext cx="697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ViewModel / presentation</a:t>
            </a:r>
          </a:p>
        </p:txBody>
      </p:sp>
      <p:sp>
        <p:nvSpPr>
          <p:cNvPr id="5" name="">
            <a:extLst xmlns:a="http://schemas.openxmlformats.org/drawingml/2006/main">
              <a:ext uri="{FF2B5EF4-FFF2-40B4-BE49-F238E27FC236}">
                <a16:creationId xmlns:a16="http://schemas.microsoft.com/office/drawing/2014/main" id="{376E520B-E8A9-48FA-B8CC-A0F69EAA6FD3}"/>
              </a:ext>
            </a:extLst>
          </p:cNvPr>
          <p:cNvSpPr>
            <a:spLocks xmlns:a="http://schemas.openxmlformats.org/drawingml/2006/main" noGrp="1"/>
          </p:cNvSpPr>
          <p:nvPr/>
        </p:nvSpPr>
        <p:spPr>
          <a:xfrm xmlns:a="http://schemas.openxmlformats.org/drawingml/2006/main">
            <a:off x="5981700" y="2419350"/>
            <a:ext cx="228600" cy="276225"/>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A277246-DDBF-46BB-A7F6-74BFB8966539}"/>
              </a:ext>
            </a:extLst>
          </p:cNvPr>
          <p:cNvSpPr>
            <a:spLocks xmlns:a="http://schemas.openxmlformats.org/drawingml/2006/main" noGrp="1"/>
          </p:cNvSpPr>
          <p:nvPr/>
        </p:nvSpPr>
        <p:spPr>
          <a:xfrm xmlns:a="http://schemas.openxmlformats.org/drawingml/2006/main">
            <a:off x="2419350" y="2762250"/>
            <a:ext cx="7353300" cy="62865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7" name="">
            <a:extLst xmlns:a="http://schemas.openxmlformats.org/drawingml/2006/main">
              <a:ext uri="{FF2B5EF4-FFF2-40B4-BE49-F238E27FC236}">
                <a16:creationId xmlns:a16="http://schemas.microsoft.com/office/drawing/2014/main" id="{E425CAEE-B2EA-436C-9514-9CED635C6B0A}"/>
              </a:ext>
            </a:extLst>
          </p:cNvPr>
          <p:cNvSpPr>
            <a:spLocks xmlns:a="http://schemas.openxmlformats.org/drawingml/2006/main" noGrp="1"/>
          </p:cNvSpPr>
          <p:nvPr/>
        </p:nvSpPr>
        <p:spPr>
          <a:xfrm xmlns:a="http://schemas.openxmlformats.org/drawingml/2006/main">
            <a:off x="2609850" y="2971800"/>
            <a:ext cx="697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Use cases</a:t>
            </a:r>
          </a:p>
        </p:txBody>
      </p:sp>
      <p:sp>
        <p:nvSpPr>
          <p:cNvPr id="8" name="">
            <a:extLst xmlns:a="http://schemas.openxmlformats.org/drawingml/2006/main">
              <a:ext uri="{FF2B5EF4-FFF2-40B4-BE49-F238E27FC236}">
                <a16:creationId xmlns:a16="http://schemas.microsoft.com/office/drawing/2014/main" id="{FEC5F6E2-3245-4197-A370-E09F04D756B1}"/>
              </a:ext>
            </a:extLst>
          </p:cNvPr>
          <p:cNvSpPr>
            <a:spLocks xmlns:a="http://schemas.openxmlformats.org/drawingml/2006/main" noGrp="1"/>
          </p:cNvSpPr>
          <p:nvPr/>
        </p:nvSpPr>
        <p:spPr>
          <a:xfrm xmlns:a="http://schemas.openxmlformats.org/drawingml/2006/main">
            <a:off x="5981700" y="3429000"/>
            <a:ext cx="228600" cy="276225"/>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4A8725F-1CCD-4B7C-A3F3-38DE22995012}"/>
              </a:ext>
            </a:extLst>
          </p:cNvPr>
          <p:cNvSpPr>
            <a:spLocks xmlns:a="http://schemas.openxmlformats.org/drawingml/2006/main" noGrp="1"/>
          </p:cNvSpPr>
          <p:nvPr/>
        </p:nvSpPr>
        <p:spPr>
          <a:xfrm xmlns:a="http://schemas.openxmlformats.org/drawingml/2006/main">
            <a:off x="2419350" y="3771900"/>
            <a:ext cx="7353300" cy="6286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A5873FF9-F8F8-46BA-AB6C-99185BE73725}"/>
              </a:ext>
            </a:extLst>
          </p:cNvPr>
          <p:cNvSpPr>
            <a:spLocks xmlns:a="http://schemas.openxmlformats.org/drawingml/2006/main" noGrp="1"/>
          </p:cNvSpPr>
          <p:nvPr/>
        </p:nvSpPr>
        <p:spPr>
          <a:xfrm xmlns:a="http://schemas.openxmlformats.org/drawingml/2006/main">
            <a:off x="2609850" y="3981450"/>
            <a:ext cx="6972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Repository interfaces</a:t>
            </a:r>
          </a:p>
        </p:txBody>
      </p:sp>
      <p:sp>
        <p:nvSpPr>
          <p:cNvPr id="11" name="">
            <a:extLst xmlns:a="http://schemas.openxmlformats.org/drawingml/2006/main">
              <a:ext uri="{FF2B5EF4-FFF2-40B4-BE49-F238E27FC236}">
                <a16:creationId xmlns:a16="http://schemas.microsoft.com/office/drawing/2014/main" id="{C58645A9-E1A7-4DE1-BC05-BC7BFB7FC0C5}"/>
              </a:ext>
            </a:extLst>
          </p:cNvPr>
          <p:cNvSpPr>
            <a:spLocks xmlns:a="http://schemas.openxmlformats.org/drawingml/2006/main" noGrp="1"/>
          </p:cNvSpPr>
          <p:nvPr/>
        </p:nvSpPr>
        <p:spPr>
          <a:xfrm xmlns:a="http://schemas.openxmlformats.org/drawingml/2006/main">
            <a:off x="6096000" y="4400550"/>
            <a:ext cx="19050" cy="238125"/>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61541BB-5BD2-43E1-9257-24C28EA9448D}"/>
              </a:ext>
            </a:extLst>
          </p:cNvPr>
          <p:cNvSpPr>
            <a:spLocks xmlns:a="http://schemas.openxmlformats.org/drawingml/2006/main" noGrp="1"/>
          </p:cNvSpPr>
          <p:nvPr/>
        </p:nvSpPr>
        <p:spPr>
          <a:xfrm xmlns:a="http://schemas.openxmlformats.org/drawingml/2006/main">
            <a:off x="3238500" y="4629150"/>
            <a:ext cx="5715000" cy="190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24947F-3DA9-4F2D-ADB2-14593F3592AF}"/>
              </a:ext>
            </a:extLst>
          </p:cNvPr>
          <p:cNvSpPr>
            <a:spLocks xmlns:a="http://schemas.openxmlformats.org/drawingml/2006/main" noGrp="1"/>
          </p:cNvSpPr>
          <p:nvPr/>
        </p:nvSpPr>
        <p:spPr>
          <a:xfrm xmlns:a="http://schemas.openxmlformats.org/drawingml/2006/main">
            <a:off x="3124200" y="4638675"/>
            <a:ext cx="228600" cy="26670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1447C61-DF65-4708-967D-D0A050308C50}"/>
              </a:ext>
            </a:extLst>
          </p:cNvPr>
          <p:cNvSpPr>
            <a:spLocks xmlns:a="http://schemas.openxmlformats.org/drawingml/2006/main" noGrp="1"/>
          </p:cNvSpPr>
          <p:nvPr/>
        </p:nvSpPr>
        <p:spPr>
          <a:xfrm xmlns:a="http://schemas.openxmlformats.org/drawingml/2006/main">
            <a:off x="8839200" y="4638675"/>
            <a:ext cx="228600" cy="266700"/>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E20BB43-5DB4-4F9D-AE2C-C48749003928}"/>
              </a:ext>
            </a:extLst>
          </p:cNvPr>
          <p:cNvSpPr>
            <a:spLocks xmlns:a="http://schemas.openxmlformats.org/drawingml/2006/main" noGrp="1"/>
          </p:cNvSpPr>
          <p:nvPr/>
        </p:nvSpPr>
        <p:spPr>
          <a:xfrm xmlns:a="http://schemas.openxmlformats.org/drawingml/2006/main">
            <a:off x="609600" y="5000625"/>
            <a:ext cx="5238750" cy="7429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6" name="">
            <a:extLst xmlns:a="http://schemas.openxmlformats.org/drawingml/2006/main">
              <a:ext uri="{FF2B5EF4-FFF2-40B4-BE49-F238E27FC236}">
                <a16:creationId xmlns:a16="http://schemas.microsoft.com/office/drawing/2014/main" id="{6D80CDB7-FE7A-49AE-B6B2-1F121C3273E7}"/>
              </a:ext>
            </a:extLst>
          </p:cNvPr>
          <p:cNvSpPr>
            <a:spLocks xmlns:a="http://schemas.openxmlformats.org/drawingml/2006/main" noGrp="1"/>
          </p:cNvSpPr>
          <p:nvPr/>
        </p:nvSpPr>
        <p:spPr>
          <a:xfrm xmlns:a="http://schemas.openxmlformats.org/drawingml/2006/main">
            <a:off x="800100" y="52101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Ktor API / streams</a:t>
            </a:r>
          </a:p>
        </p:txBody>
      </p:sp>
      <p:sp>
        <p:nvSpPr>
          <p:cNvPr id="17" name="">
            <a:extLst xmlns:a="http://schemas.openxmlformats.org/drawingml/2006/main">
              <a:ext uri="{FF2B5EF4-FFF2-40B4-BE49-F238E27FC236}">
                <a16:creationId xmlns:a16="http://schemas.microsoft.com/office/drawing/2014/main" id="{C25241BE-0F40-4B7A-8179-F5C1E99F7BC4}"/>
              </a:ext>
            </a:extLst>
          </p:cNvPr>
          <p:cNvSpPr>
            <a:spLocks xmlns:a="http://schemas.openxmlformats.org/drawingml/2006/main" noGrp="1"/>
          </p:cNvSpPr>
          <p:nvPr/>
        </p:nvSpPr>
        <p:spPr>
          <a:xfrm xmlns:a="http://schemas.openxmlformats.org/drawingml/2006/main">
            <a:off x="6343650" y="5000625"/>
            <a:ext cx="5238750" cy="7429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8" name="">
            <a:extLst xmlns:a="http://schemas.openxmlformats.org/drawingml/2006/main">
              <a:ext uri="{FF2B5EF4-FFF2-40B4-BE49-F238E27FC236}">
                <a16:creationId xmlns:a16="http://schemas.microsoft.com/office/drawing/2014/main" id="{CF17174A-B294-475B-95F9-C3D2644F6EBB}"/>
              </a:ext>
            </a:extLst>
          </p:cNvPr>
          <p:cNvSpPr>
            <a:spLocks xmlns:a="http://schemas.openxmlformats.org/drawingml/2006/main" noGrp="1"/>
          </p:cNvSpPr>
          <p:nvPr/>
        </p:nvSpPr>
        <p:spPr>
          <a:xfrm xmlns:a="http://schemas.openxmlformats.org/drawingml/2006/main">
            <a:off x="6534150" y="52101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Room / DataStore</a:t>
            </a:r>
          </a:p>
        </p:txBody>
      </p:sp>
      <p:sp>
        <p:nvSpPr>
          <p:cNvPr id="19" name="">
            <a:extLst xmlns:a="http://schemas.openxmlformats.org/drawingml/2006/main">
              <a:ext uri="{FF2B5EF4-FFF2-40B4-BE49-F238E27FC236}">
                <a16:creationId xmlns:a16="http://schemas.microsoft.com/office/drawing/2014/main" id="{508D89A8-AB84-4A02-B7AF-E43D1A351FE9}"/>
              </a:ext>
            </a:extLst>
          </p:cNvPr>
          <p:cNvSpPr>
            <a:spLocks xmlns:a="http://schemas.openxmlformats.org/drawingml/2006/main" noGrp="1"/>
          </p:cNvSpPr>
          <p:nvPr/>
        </p:nvSpPr>
        <p:spPr>
          <a:xfrm xmlns:a="http://schemas.openxmlformats.org/drawingml/2006/main">
            <a:off x="609600" y="5953125"/>
            <a:ext cx="1000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0AC"/>
                </a:solidFill>
                <a:latin typeface="Helvetica Neue"/>
                <a:ea typeface="Helvetica Neue"/>
                <a:cs typeface="Helvetica Neue"/>
              </a:defRPr>
            </a:pPr>
            <a:r>
              <a:rPr sz="1950" b="0">
                <a:solidFill>
                  <a:srgbClr val="ACB0AC"/>
                </a:solidFill>
                <a:latin typeface="Helvetica Neue"/>
                <a:ea typeface="Helvetica Neue"/>
                <a:cs typeface="Helvetica Neue"/>
              </a:rPr>
              <a:t>Koin dependency injection</a:t>
            </a:r>
          </a:p>
        </p:txBody>
      </p:sp>
    </p:spTree>
    <p:extLst>
      <p:ext uri="{BB962C8B-B14F-4D97-AF65-F5344CB8AC3E}">
        <p14:creationId xmlns:p14="http://schemas.microsoft.com/office/powerpoint/2010/main" val="1712660417"/>
      </p:ext>
    </p:extLst>
  </p:cSld>
</p:sld>
</file>

<file path=ppt/slides/slide1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AB7E54-2F39-4F66-ABD7-A014C93AC47C}"/>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Migration one workflow at a time</a:t>
            </a:r>
          </a:p>
        </p:txBody>
      </p:sp>
      <p:sp>
        <p:nvSpPr>
          <p:cNvPr id="2" name="">
            <a:extLst xmlns:a="http://schemas.openxmlformats.org/drawingml/2006/main">
              <a:ext uri="{FF2B5EF4-FFF2-40B4-BE49-F238E27FC236}">
                <a16:creationId xmlns:a16="http://schemas.microsoft.com/office/drawing/2014/main" id="{B1E0723D-68CC-4C65-BA90-1AB598BD8641}"/>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26320BDE-E2A3-459A-A6EB-38BA7F90641F}"/>
              </a:ext>
            </a:extLst>
          </p:cNvPr>
          <p:cNvSpPr>
            <a:spLocks xmlns:a="http://schemas.openxmlformats.org/drawingml/2006/main" noGrp="1"/>
          </p:cNvSpPr>
          <p:nvPr/>
        </p:nvSpPr>
        <p:spPr>
          <a:xfrm xmlns:a="http://schemas.openxmlformats.org/drawingml/2006/main">
            <a:off x="609600" y="2181225"/>
            <a:ext cx="3095625" cy="13525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4" name="">
            <a:extLst xmlns:a="http://schemas.openxmlformats.org/drawingml/2006/main">
              <a:ext uri="{FF2B5EF4-FFF2-40B4-BE49-F238E27FC236}">
                <a16:creationId xmlns:a16="http://schemas.microsoft.com/office/drawing/2014/main" id="{5BCD9A0F-AB06-4687-B003-893B87C18866}"/>
              </a:ext>
            </a:extLst>
          </p:cNvPr>
          <p:cNvSpPr>
            <a:spLocks xmlns:a="http://schemas.openxmlformats.org/drawingml/2006/main" noGrp="1"/>
          </p:cNvSpPr>
          <p:nvPr/>
        </p:nvSpPr>
        <p:spPr>
          <a:xfrm xmlns:a="http://schemas.openxmlformats.org/drawingml/2006/main">
            <a:off x="800100" y="2390775"/>
            <a:ext cx="2714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Existing</a:t>
            </a:r>
          </a:p>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Kotlin logic</a:t>
            </a:r>
          </a:p>
        </p:txBody>
      </p:sp>
      <p:sp>
        <p:nvSpPr>
          <p:cNvPr id="5" name="">
            <a:extLst xmlns:a="http://schemas.openxmlformats.org/drawingml/2006/main">
              <a:ext uri="{FF2B5EF4-FFF2-40B4-BE49-F238E27FC236}">
                <a16:creationId xmlns:a16="http://schemas.microsoft.com/office/drawing/2014/main" id="{88DCE3E4-9686-41EA-9F6D-A4B52755026C}"/>
              </a:ext>
            </a:extLst>
          </p:cNvPr>
          <p:cNvSpPr>
            <a:spLocks xmlns:a="http://schemas.openxmlformats.org/drawingml/2006/main" noGrp="1"/>
          </p:cNvSpPr>
          <p:nvPr/>
        </p:nvSpPr>
        <p:spPr>
          <a:xfrm xmlns:a="http://schemas.openxmlformats.org/drawingml/2006/main">
            <a:off x="3876675" y="2705100"/>
            <a:ext cx="419100" cy="266700"/>
          </a:xfrm>
          <a:prstGeom xmlns:a="http://schemas.openxmlformats.org/drawingml/2006/main" prst="rightArrow">
            <a:avLst/>
          </a:prstGeom>
          <a:solidFill xmlns:a="http://schemas.openxmlformats.org/drawingml/2006/main">
            <a:srgbClr val="B2FF0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5F4490-75AF-4A5B-9CE9-B069A4150AD0}"/>
              </a:ext>
            </a:extLst>
          </p:cNvPr>
          <p:cNvSpPr>
            <a:spLocks xmlns:a="http://schemas.openxmlformats.org/drawingml/2006/main" noGrp="1"/>
          </p:cNvSpPr>
          <p:nvPr/>
        </p:nvSpPr>
        <p:spPr>
          <a:xfrm xmlns:a="http://schemas.openxmlformats.org/drawingml/2006/main">
            <a:off x="4543425" y="2181225"/>
            <a:ext cx="3095625" cy="1352550"/>
          </a:xfrm>
          <a:prstGeom xmlns:a="http://schemas.openxmlformats.org/drawingml/2006/main" prst="rect">
            <a:avLst/>
          </a:prstGeom>
          <a:solidFill xmlns:a="http://schemas.openxmlformats.org/drawingml/2006/main">
            <a:srgbClr val="B2FF00"/>
          </a:solidFill>
          <a:ln xmlns:a="http://schemas.openxmlformats.org/drawingml/2006/main" w="9525">
            <a:solidFill>
              <a:srgbClr val="394239"/>
            </a:solidFill>
          </a:ln>
        </p:spPr>
      </p:sp>
      <p:sp>
        <p:nvSpPr>
          <p:cNvPr id="7" name="">
            <a:extLst xmlns:a="http://schemas.openxmlformats.org/drawingml/2006/main">
              <a:ext uri="{FF2B5EF4-FFF2-40B4-BE49-F238E27FC236}">
                <a16:creationId xmlns:a16="http://schemas.microsoft.com/office/drawing/2014/main" id="{9DA1E2BA-F7DB-4E3A-AAB2-364E63584F82}"/>
              </a:ext>
            </a:extLst>
          </p:cNvPr>
          <p:cNvSpPr>
            <a:spLocks xmlns:a="http://schemas.openxmlformats.org/drawingml/2006/main" noGrp="1"/>
          </p:cNvSpPr>
          <p:nvPr/>
        </p:nvSpPr>
        <p:spPr>
          <a:xfrm xmlns:a="http://schemas.openxmlformats.org/drawingml/2006/main">
            <a:off x="4733925" y="2390775"/>
            <a:ext cx="2714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Shared</a:t>
            </a:r>
          </a:p>
          <a:p xmlns:a="http://schemas.openxmlformats.org/drawingml/2006/main">
            <a:pPr>
              <a:defRPr sz="2400" b="1">
                <a:solidFill>
                  <a:srgbClr val="050505"/>
                </a:solidFill>
                <a:latin typeface="Helvetica Neue"/>
                <a:ea typeface="Helvetica Neue"/>
                <a:cs typeface="Helvetica Neue"/>
              </a:defRPr>
            </a:pPr>
            <a:r>
              <a:rPr sz="2400" b="1">
                <a:solidFill>
                  <a:srgbClr val="050505"/>
                </a:solidFill>
                <a:latin typeface="Helvetica Neue"/>
                <a:ea typeface="Helvetica Neue"/>
                <a:cs typeface="Helvetica Neue"/>
              </a:rPr>
              <a:t>KMP module</a:t>
            </a:r>
          </a:p>
        </p:txBody>
      </p:sp>
      <p:sp>
        <p:nvSpPr>
          <p:cNvPr id="8" name="">
            <a:extLst xmlns:a="http://schemas.openxmlformats.org/drawingml/2006/main">
              <a:ext uri="{FF2B5EF4-FFF2-40B4-BE49-F238E27FC236}">
                <a16:creationId xmlns:a16="http://schemas.microsoft.com/office/drawing/2014/main" id="{9E10E59F-A65A-4BDB-9B50-2822C171FBAF}"/>
              </a:ext>
            </a:extLst>
          </p:cNvPr>
          <p:cNvSpPr>
            <a:spLocks xmlns:a="http://schemas.openxmlformats.org/drawingml/2006/main" noGrp="1"/>
          </p:cNvSpPr>
          <p:nvPr/>
        </p:nvSpPr>
        <p:spPr>
          <a:xfrm xmlns:a="http://schemas.openxmlformats.org/drawingml/2006/main">
            <a:off x="7810500" y="2705100"/>
            <a:ext cx="419100" cy="266700"/>
          </a:xfrm>
          <a:prstGeom xmlns:a="http://schemas.openxmlformats.org/drawingml/2006/main" prst="rightArrow">
            <a:avLst/>
          </a:prstGeom>
          <a:solidFill xmlns:a="http://schemas.openxmlformats.org/drawingml/2006/main">
            <a:srgbClr val="B2FF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863B356-99F4-4738-837A-1A293BFCE2F1}"/>
              </a:ext>
            </a:extLst>
          </p:cNvPr>
          <p:cNvSpPr>
            <a:spLocks xmlns:a="http://schemas.openxmlformats.org/drawingml/2006/main" noGrp="1"/>
          </p:cNvSpPr>
          <p:nvPr/>
        </p:nvSpPr>
        <p:spPr>
          <a:xfrm xmlns:a="http://schemas.openxmlformats.org/drawingml/2006/main">
            <a:off x="8467725" y="2181225"/>
            <a:ext cx="3114675" cy="13525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0" name="">
            <a:extLst xmlns:a="http://schemas.openxmlformats.org/drawingml/2006/main">
              <a:ext uri="{FF2B5EF4-FFF2-40B4-BE49-F238E27FC236}">
                <a16:creationId xmlns:a16="http://schemas.microsoft.com/office/drawing/2014/main" id="{53CBC4E9-BDA1-4898-A757-9D8B97415B37}"/>
              </a:ext>
            </a:extLst>
          </p:cNvPr>
          <p:cNvSpPr>
            <a:spLocks xmlns:a="http://schemas.openxmlformats.org/drawingml/2006/main" noGrp="1"/>
          </p:cNvSpPr>
          <p:nvPr/>
        </p:nvSpPr>
        <p:spPr>
          <a:xfrm xmlns:a="http://schemas.openxmlformats.org/drawingml/2006/main">
            <a:off x="8658225" y="2390775"/>
            <a:ext cx="27336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Android + iOS</a:t>
            </a:r>
          </a:p>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integration</a:t>
            </a:r>
          </a:p>
        </p:txBody>
      </p:sp>
      <p:sp>
        <p:nvSpPr>
          <p:cNvPr id="11" name="">
            <a:extLst xmlns:a="http://schemas.openxmlformats.org/drawingml/2006/main">
              <a:ext uri="{FF2B5EF4-FFF2-40B4-BE49-F238E27FC236}">
                <a16:creationId xmlns:a16="http://schemas.microsoft.com/office/drawing/2014/main" id="{79E1D164-D3F6-4719-B6CF-AE48BC309ABF}"/>
              </a:ext>
            </a:extLst>
          </p:cNvPr>
          <p:cNvSpPr>
            <a:spLocks xmlns:a="http://schemas.openxmlformats.org/drawingml/2006/main" noGrp="1"/>
          </p:cNvSpPr>
          <p:nvPr/>
        </p:nvSpPr>
        <p:spPr>
          <a:xfrm xmlns:a="http://schemas.openxmlformats.org/drawingml/2006/main">
            <a:off x="6086475" y="3533775"/>
            <a:ext cx="19050" cy="428625"/>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FD9122-372A-431A-9DF1-6F2ED67122AF}"/>
              </a:ext>
            </a:extLst>
          </p:cNvPr>
          <p:cNvSpPr>
            <a:spLocks xmlns:a="http://schemas.openxmlformats.org/drawingml/2006/main" noGrp="1"/>
          </p:cNvSpPr>
          <p:nvPr/>
        </p:nvSpPr>
        <p:spPr>
          <a:xfrm xmlns:a="http://schemas.openxmlformats.org/drawingml/2006/main">
            <a:off x="3114675" y="3943350"/>
            <a:ext cx="5953125" cy="19050"/>
          </a:xfrm>
          <a:prstGeom xmlns:a="http://schemas.openxmlformats.org/drawingml/2006/main" prst="rect">
            <a:avLst/>
          </a:prstGeom>
          <a:solidFill xmlns:a="http://schemas.openxmlformats.org/drawingml/2006/main">
            <a:srgbClr val="46504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DB00CE1-63E3-4CF7-8545-E8B7E6605AC2}"/>
              </a:ext>
            </a:extLst>
          </p:cNvPr>
          <p:cNvSpPr>
            <a:spLocks xmlns:a="http://schemas.openxmlformats.org/drawingml/2006/main" noGrp="1"/>
          </p:cNvSpPr>
          <p:nvPr/>
        </p:nvSpPr>
        <p:spPr>
          <a:xfrm xmlns:a="http://schemas.openxmlformats.org/drawingml/2006/main">
            <a:off x="3000375" y="3962400"/>
            <a:ext cx="228600" cy="333375"/>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C640D8B-59BB-4819-BF26-3F08C48FFD88}"/>
              </a:ext>
            </a:extLst>
          </p:cNvPr>
          <p:cNvSpPr>
            <a:spLocks xmlns:a="http://schemas.openxmlformats.org/drawingml/2006/main" noGrp="1"/>
          </p:cNvSpPr>
          <p:nvPr/>
        </p:nvSpPr>
        <p:spPr>
          <a:xfrm xmlns:a="http://schemas.openxmlformats.org/drawingml/2006/main">
            <a:off x="8953500" y="3962400"/>
            <a:ext cx="228600" cy="333375"/>
          </a:xfrm>
          <a:prstGeom xmlns:a="http://schemas.openxmlformats.org/drawingml/2006/main" prst="downArrow">
            <a:avLst/>
          </a:prstGeom>
          <a:solidFill xmlns:a="http://schemas.openxmlformats.org/drawingml/2006/main">
            <a:srgbClr val="B2FF0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6B4D491-196F-484C-9165-AE01390E575C}"/>
              </a:ext>
            </a:extLst>
          </p:cNvPr>
          <p:cNvSpPr>
            <a:spLocks xmlns:a="http://schemas.openxmlformats.org/drawingml/2006/main" noGrp="1"/>
          </p:cNvSpPr>
          <p:nvPr/>
        </p:nvSpPr>
        <p:spPr>
          <a:xfrm xmlns:a="http://schemas.openxmlformats.org/drawingml/2006/main">
            <a:off x="609600" y="4438650"/>
            <a:ext cx="5048250" cy="7810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6" name="">
            <a:extLst xmlns:a="http://schemas.openxmlformats.org/drawingml/2006/main">
              <a:ext uri="{FF2B5EF4-FFF2-40B4-BE49-F238E27FC236}">
                <a16:creationId xmlns:a16="http://schemas.microsoft.com/office/drawing/2014/main" id="{26800411-CB59-45DD-A37B-FB50E256C335}"/>
              </a:ext>
            </a:extLst>
          </p:cNvPr>
          <p:cNvSpPr>
            <a:spLocks xmlns:a="http://schemas.openxmlformats.org/drawingml/2006/main" noGrp="1"/>
          </p:cNvSpPr>
          <p:nvPr/>
        </p:nvSpPr>
        <p:spPr>
          <a:xfrm xmlns:a="http://schemas.openxmlformats.org/drawingml/2006/main">
            <a:off x="800100" y="464820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Native screens</a:t>
            </a:r>
          </a:p>
        </p:txBody>
      </p:sp>
      <p:sp>
        <p:nvSpPr>
          <p:cNvPr id="17" name="">
            <a:extLst xmlns:a="http://schemas.openxmlformats.org/drawingml/2006/main">
              <a:ext uri="{FF2B5EF4-FFF2-40B4-BE49-F238E27FC236}">
                <a16:creationId xmlns:a16="http://schemas.microsoft.com/office/drawing/2014/main" id="{3165DFB8-DE70-4B04-BC9E-96345EC0031C}"/>
              </a:ext>
            </a:extLst>
          </p:cNvPr>
          <p:cNvSpPr>
            <a:spLocks xmlns:a="http://schemas.openxmlformats.org/drawingml/2006/main" noGrp="1"/>
          </p:cNvSpPr>
          <p:nvPr/>
        </p:nvSpPr>
        <p:spPr>
          <a:xfrm xmlns:a="http://schemas.openxmlformats.org/drawingml/2006/main">
            <a:off x="6534150" y="4438650"/>
            <a:ext cx="5048250" cy="781050"/>
          </a:xfrm>
          <a:prstGeom xmlns:a="http://schemas.openxmlformats.org/drawingml/2006/main" prst="rect">
            <a:avLst/>
          </a:prstGeom>
          <a:solidFill xmlns:a="http://schemas.openxmlformats.org/drawingml/2006/main">
            <a:srgbClr val="161A17"/>
          </a:solidFill>
          <a:ln xmlns:a="http://schemas.openxmlformats.org/drawingml/2006/main" w="9525">
            <a:solidFill>
              <a:srgbClr val="394239"/>
            </a:solidFill>
          </a:ln>
        </p:spPr>
      </p:sp>
      <p:sp>
        <p:nvSpPr>
          <p:cNvPr id="18" name="">
            <a:extLst xmlns:a="http://schemas.openxmlformats.org/drawingml/2006/main">
              <a:ext uri="{FF2B5EF4-FFF2-40B4-BE49-F238E27FC236}">
                <a16:creationId xmlns:a16="http://schemas.microsoft.com/office/drawing/2014/main" id="{204F7CCE-D2F0-4CD4-8F97-3C84BAB16773}"/>
              </a:ext>
            </a:extLst>
          </p:cNvPr>
          <p:cNvSpPr>
            <a:spLocks xmlns:a="http://schemas.openxmlformats.org/drawingml/2006/main" noGrp="1"/>
          </p:cNvSpPr>
          <p:nvPr/>
        </p:nvSpPr>
        <p:spPr>
          <a:xfrm xmlns:a="http://schemas.openxmlformats.org/drawingml/2006/main">
            <a:off x="6724650" y="464820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6F6F2"/>
                </a:solidFill>
                <a:latin typeface="Helvetica Neue"/>
                <a:ea typeface="Helvetica Neue"/>
                <a:cs typeface="Helvetica Neue"/>
              </a:defRPr>
            </a:pPr>
            <a:r>
              <a:rPr sz="2400" b="1">
                <a:solidFill>
                  <a:srgbClr val="F6F6F2"/>
                </a:solidFill>
                <a:latin typeface="Helvetica Neue"/>
                <a:ea typeface="Helvetica Neue"/>
                <a:cs typeface="Helvetica Neue"/>
              </a:rPr>
              <a:t>Native OS adapters</a:t>
            </a:r>
          </a:p>
        </p:txBody>
      </p:sp>
      <p:sp>
        <p:nvSpPr>
          <p:cNvPr id="19" name="">
            <a:extLst xmlns:a="http://schemas.openxmlformats.org/drawingml/2006/main">
              <a:ext uri="{FF2B5EF4-FFF2-40B4-BE49-F238E27FC236}">
                <a16:creationId xmlns:a16="http://schemas.microsoft.com/office/drawing/2014/main" id="{FBADDAB7-573B-40AB-972B-929C36EBE9BE}"/>
              </a:ext>
            </a:extLst>
          </p:cNvPr>
          <p:cNvSpPr>
            <a:spLocks xmlns:a="http://schemas.openxmlformats.org/drawingml/2006/main" noGrp="1"/>
          </p:cNvSpPr>
          <p:nvPr/>
        </p:nvSpPr>
        <p:spPr>
          <a:xfrm xmlns:a="http://schemas.openxmlformats.org/drawingml/2006/main">
            <a:off x="609600" y="57816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ACB0AC"/>
                </a:solidFill>
                <a:latin typeface="Helvetica Neue"/>
                <a:ea typeface="Helvetica Neue"/>
                <a:cs typeface="Helvetica Neue"/>
              </a:defRPr>
            </a:pPr>
            <a:r>
              <a:rPr sz="2250" b="0">
                <a:solidFill>
                  <a:srgbClr val="ACB0AC"/>
                </a:solidFill>
                <a:latin typeface="Helvetica Neue"/>
                <a:ea typeface="Helvetica Neue"/>
                <a:cs typeface="Helvetica Neue"/>
              </a:rPr>
              <a:t>Native app investment stays in the architecture</a:t>
            </a:r>
          </a:p>
        </p:txBody>
      </p:sp>
    </p:spTree>
    <p:extLst>
      <p:ext uri="{BB962C8B-B14F-4D97-AF65-F5344CB8AC3E}">
        <p14:creationId xmlns:p14="http://schemas.microsoft.com/office/powerpoint/2010/main" val="1913362585"/>
      </p:ext>
    </p:extLst>
  </p:cSld>
</p:sld>
</file>

<file path=ppt/slides/slide1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842204-68D8-466C-AFE1-2EB422DAC8BB}"/>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Live device demo</a:t>
            </a:r>
          </a:p>
        </p:txBody>
      </p:sp>
      <p:sp>
        <p:nvSpPr>
          <p:cNvPr id="2" name="">
            <a:extLst xmlns:a="http://schemas.openxmlformats.org/drawingml/2006/main">
              <a:ext uri="{FF2B5EF4-FFF2-40B4-BE49-F238E27FC236}">
                <a16:creationId xmlns:a16="http://schemas.microsoft.com/office/drawing/2014/main" id="{6FAF34B7-0AF6-42A7-B24A-C2BCA5D06D65}"/>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3239323C-04AB-42CF-A07E-4ED5AC93F0FF}"/>
              </a:ext>
            </a:extLst>
          </p:cNvPr>
          <p:cNvSpPr>
            <a:spLocks xmlns:a="http://schemas.openxmlformats.org/drawingml/2006/main" noGrp="1"/>
          </p:cNvSpPr>
          <p:nvPr/>
        </p:nvSpPr>
        <p:spPr>
          <a:xfrm xmlns:a="http://schemas.openxmlformats.org/drawingml/2006/main">
            <a:off x="60960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01</a:t>
            </a:r>
          </a:p>
        </p:txBody>
      </p:sp>
      <p:sp>
        <p:nvSpPr>
          <p:cNvPr id="4" name="">
            <a:extLst xmlns:a="http://schemas.openxmlformats.org/drawingml/2006/main">
              <a:ext uri="{FF2B5EF4-FFF2-40B4-BE49-F238E27FC236}">
                <a16:creationId xmlns:a16="http://schemas.microsoft.com/office/drawing/2014/main" id="{B15B0BC2-3FD1-43CD-A2F3-D27CD5394B45}"/>
              </a:ext>
            </a:extLst>
          </p:cNvPr>
          <p:cNvSpPr>
            <a:spLocks xmlns:a="http://schemas.openxmlformats.org/drawingml/2006/main" noGrp="1"/>
          </p:cNvSpPr>
          <p:nvPr/>
        </p:nvSpPr>
        <p:spPr>
          <a:xfrm xmlns:a="http://schemas.openxmlformats.org/drawingml/2006/main">
            <a:off x="60960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Discover</a:t>
            </a:r>
          </a:p>
        </p:txBody>
      </p:sp>
      <p:sp>
        <p:nvSpPr>
          <p:cNvPr id="5" name="">
            <a:extLst xmlns:a="http://schemas.openxmlformats.org/drawingml/2006/main">
              <a:ext uri="{FF2B5EF4-FFF2-40B4-BE49-F238E27FC236}">
                <a16:creationId xmlns:a16="http://schemas.microsoft.com/office/drawing/2014/main" id="{F570A65F-5351-498B-A6CB-952488CFF115}"/>
              </a:ext>
            </a:extLst>
          </p:cNvPr>
          <p:cNvSpPr>
            <a:spLocks xmlns:a="http://schemas.openxmlformats.org/drawingml/2006/main" noGrp="1"/>
          </p:cNvSpPr>
          <p:nvPr/>
        </p:nvSpPr>
        <p:spPr>
          <a:xfrm xmlns:a="http://schemas.openxmlformats.org/drawingml/2006/main">
            <a:off x="340995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80F6BC43-8397-4314-8B65-6BF2CEEB6068}"/>
              </a:ext>
            </a:extLst>
          </p:cNvPr>
          <p:cNvSpPr>
            <a:spLocks xmlns:a="http://schemas.openxmlformats.org/drawingml/2006/main" noGrp="1"/>
          </p:cNvSpPr>
          <p:nvPr/>
        </p:nvSpPr>
        <p:spPr>
          <a:xfrm xmlns:a="http://schemas.openxmlformats.org/drawingml/2006/main">
            <a:off x="340995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Read</a:t>
            </a:r>
          </a:p>
        </p:txBody>
      </p:sp>
      <p:sp>
        <p:nvSpPr>
          <p:cNvPr id="7" name="">
            <a:extLst xmlns:a="http://schemas.openxmlformats.org/drawingml/2006/main">
              <a:ext uri="{FF2B5EF4-FFF2-40B4-BE49-F238E27FC236}">
                <a16:creationId xmlns:a16="http://schemas.microsoft.com/office/drawing/2014/main" id="{8490FAF6-8794-4E2C-AA0F-83B52F2F9529}"/>
              </a:ext>
            </a:extLst>
          </p:cNvPr>
          <p:cNvSpPr>
            <a:spLocks xmlns:a="http://schemas.openxmlformats.org/drawingml/2006/main" noGrp="1"/>
          </p:cNvSpPr>
          <p:nvPr/>
        </p:nvSpPr>
        <p:spPr>
          <a:xfrm xmlns:a="http://schemas.openxmlformats.org/drawingml/2006/main">
            <a:off x="621030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03</a:t>
            </a:r>
          </a:p>
        </p:txBody>
      </p:sp>
      <p:sp>
        <p:nvSpPr>
          <p:cNvPr id="8" name="">
            <a:extLst xmlns:a="http://schemas.openxmlformats.org/drawingml/2006/main">
              <a:ext uri="{FF2B5EF4-FFF2-40B4-BE49-F238E27FC236}">
                <a16:creationId xmlns:a16="http://schemas.microsoft.com/office/drawing/2014/main" id="{8853BBC0-990F-42D4-87E6-147AF324107A}"/>
              </a:ext>
            </a:extLst>
          </p:cNvPr>
          <p:cNvSpPr>
            <a:spLocks xmlns:a="http://schemas.openxmlformats.org/drawingml/2006/main" noGrp="1"/>
          </p:cNvSpPr>
          <p:nvPr/>
        </p:nvSpPr>
        <p:spPr>
          <a:xfrm xmlns:a="http://schemas.openxmlformats.org/drawingml/2006/main">
            <a:off x="621030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Write</a:t>
            </a:r>
          </a:p>
        </p:txBody>
      </p:sp>
      <p:sp>
        <p:nvSpPr>
          <p:cNvPr id="9" name="">
            <a:extLst xmlns:a="http://schemas.openxmlformats.org/drawingml/2006/main">
              <a:ext uri="{FF2B5EF4-FFF2-40B4-BE49-F238E27FC236}">
                <a16:creationId xmlns:a16="http://schemas.microsoft.com/office/drawing/2014/main" id="{83D5838B-A130-4EA2-9616-35381ECE7A3D}"/>
              </a:ext>
            </a:extLst>
          </p:cNvPr>
          <p:cNvSpPr>
            <a:spLocks xmlns:a="http://schemas.openxmlformats.org/drawingml/2006/main" noGrp="1"/>
          </p:cNvSpPr>
          <p:nvPr/>
        </p:nvSpPr>
        <p:spPr>
          <a:xfrm xmlns:a="http://schemas.openxmlformats.org/drawingml/2006/main">
            <a:off x="9010650" y="2076450"/>
            <a:ext cx="2524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725" b="1">
                <a:solidFill>
                  <a:srgbClr val="B2FF00"/>
                </a:solidFill>
                <a:latin typeface="Helvetica Neue"/>
                <a:ea typeface="Helvetica Neue"/>
                <a:cs typeface="Helvetica Neue"/>
              </a:defRPr>
            </a:pPr>
            <a:r>
              <a:rPr sz="4725" b="1">
                <a:solidFill>
                  <a:srgbClr val="B2FF00"/>
                </a:solidFill>
                <a:latin typeface="Helvetica Neue"/>
                <a:ea typeface="Helvetica Neue"/>
                <a:cs typeface="Helvetica Neue"/>
              </a:rPr>
              <a:t>04</a:t>
            </a:r>
          </a:p>
        </p:txBody>
      </p:sp>
      <p:sp>
        <p:nvSpPr>
          <p:cNvPr id="10" name="">
            <a:extLst xmlns:a="http://schemas.openxmlformats.org/drawingml/2006/main">
              <a:ext uri="{FF2B5EF4-FFF2-40B4-BE49-F238E27FC236}">
                <a16:creationId xmlns:a16="http://schemas.microsoft.com/office/drawing/2014/main" id="{D3991704-718D-4D27-A6ED-A0A141472AB3}"/>
              </a:ext>
            </a:extLst>
          </p:cNvPr>
          <p:cNvSpPr>
            <a:spLocks xmlns:a="http://schemas.openxmlformats.org/drawingml/2006/main" noGrp="1"/>
          </p:cNvSpPr>
          <p:nvPr/>
        </p:nvSpPr>
        <p:spPr>
          <a:xfrm xmlns:a="http://schemas.openxmlformats.org/drawingml/2006/main">
            <a:off x="9010650" y="3124200"/>
            <a:ext cx="2524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6F6F2"/>
                </a:solidFill>
                <a:latin typeface="Helvetica Neue"/>
                <a:ea typeface="Helvetica Neue"/>
                <a:cs typeface="Helvetica Neue"/>
              </a:defRPr>
            </a:pPr>
            <a:r>
              <a:rPr sz="3225" b="1">
                <a:solidFill>
                  <a:srgbClr val="F6F6F2"/>
                </a:solidFill>
                <a:latin typeface="Helvetica Neue"/>
                <a:ea typeface="Helvetica Neue"/>
                <a:cs typeface="Helvetica Neue"/>
              </a:rPr>
              <a:t>Stream</a:t>
            </a:r>
          </a:p>
        </p:txBody>
      </p:sp>
      <p:sp>
        <p:nvSpPr>
          <p:cNvPr id="11" name="">
            <a:extLst xmlns:a="http://schemas.openxmlformats.org/drawingml/2006/main">
              <a:ext uri="{FF2B5EF4-FFF2-40B4-BE49-F238E27FC236}">
                <a16:creationId xmlns:a16="http://schemas.microsoft.com/office/drawing/2014/main" id="{19200A42-6A9F-4690-90E0-64333A1F3381}"/>
              </a:ext>
            </a:extLst>
          </p:cNvPr>
          <p:cNvSpPr>
            <a:spLocks xmlns:a="http://schemas.openxmlformats.org/drawingml/2006/main" noGrp="1"/>
          </p:cNvSpPr>
          <p:nvPr/>
        </p:nvSpPr>
        <p:spPr>
          <a:xfrm xmlns:a="http://schemas.openxmlformats.org/drawingml/2006/main">
            <a:off x="609600" y="46958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6F6F2"/>
                </a:solidFill>
                <a:latin typeface="Helvetica Neue"/>
                <a:ea typeface="Helvetica Neue"/>
                <a:cs typeface="Helvetica Neue"/>
              </a:defRPr>
            </a:pPr>
            <a:r>
              <a:rPr sz="3900" b="1">
                <a:solidFill>
                  <a:srgbClr val="F6F6F2"/>
                </a:solidFill>
                <a:latin typeface="Helvetica Neue"/>
                <a:ea typeface="Helvetica Neue"/>
                <a:cs typeface="Helvetica Neue"/>
              </a:rPr>
              <a:t>One device. Android and iOS.</a:t>
            </a:r>
          </a:p>
        </p:txBody>
      </p:sp>
      <p:sp>
        <p:nvSpPr>
          <p:cNvPr id="12" name="">
            <a:extLst xmlns:a="http://schemas.openxmlformats.org/drawingml/2006/main">
              <a:ext uri="{FF2B5EF4-FFF2-40B4-BE49-F238E27FC236}">
                <a16:creationId xmlns:a16="http://schemas.microsoft.com/office/drawing/2014/main" id="{5CB95FCD-B4D5-4E69-83D0-90C1435BA51F}"/>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ACB0AC"/>
                </a:solidFill>
                <a:latin typeface="Helvetica Neue"/>
                <a:ea typeface="Helvetica Neue"/>
                <a:cs typeface="Helvetica Neue"/>
              </a:defRPr>
            </a:pPr>
            <a:r>
              <a:rPr sz="1950" b="0">
                <a:solidFill>
                  <a:srgbClr val="ACB0AC"/>
                </a:solidFill>
                <a:latin typeface="Helvetica Neue"/>
                <a:ea typeface="Helvetica Neue"/>
                <a:cs typeface="Helvetica Neue"/>
              </a:rPr>
              <a:t>Target demo: real writes and streams still need integration</a:t>
            </a:r>
          </a:p>
        </p:txBody>
      </p:sp>
    </p:spTree>
    <p:extLst>
      <p:ext uri="{BB962C8B-B14F-4D97-AF65-F5344CB8AC3E}">
        <p14:creationId xmlns:p14="http://schemas.microsoft.com/office/powerpoint/2010/main" val="2147012054"/>
      </p:ext>
    </p:extLst>
  </p:cSld>
</p:sld>
</file>

<file path=ppt/slides/slide1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6279940-94A8-429C-8694-FF7592CA757E}"/>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What success looks like</a:t>
            </a:r>
          </a:p>
        </p:txBody>
      </p:sp>
      <p:sp>
        <p:nvSpPr>
          <p:cNvPr id="2" name="">
            <a:extLst xmlns:a="http://schemas.openxmlformats.org/drawingml/2006/main">
              <a:ext uri="{FF2B5EF4-FFF2-40B4-BE49-F238E27FC236}">
                <a16:creationId xmlns:a16="http://schemas.microsoft.com/office/drawing/2014/main" id="{C633BA55-87E0-430E-B6AE-1F6F203A4EE8}"/>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EF6DDB66-1766-4B34-9B33-2A455623C2F6}"/>
              </a:ext>
            </a:extLst>
          </p:cNvPr>
          <p:cNvSpPr>
            <a:spLocks xmlns:a="http://schemas.openxmlformats.org/drawingml/2006/main" noGrp="1"/>
          </p:cNvSpPr>
          <p:nvPr/>
        </p:nvSpPr>
        <p:spPr>
          <a:xfrm xmlns:a="http://schemas.openxmlformats.org/drawingml/2006/main">
            <a:off x="609600" y="21050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B2FF00"/>
                </a:solidFill>
                <a:latin typeface="Helvetica Neue"/>
                <a:ea typeface="Helvetica Neue"/>
                <a:cs typeface="Helvetica Neue"/>
              </a:defRPr>
            </a:pPr>
            <a:r>
              <a:rPr sz="4350" b="1">
                <a:solidFill>
                  <a:srgbClr val="B2FF00"/>
                </a:solidFill>
                <a:latin typeface="Helvetica Neue"/>
                <a:ea typeface="Helvetica Neue"/>
                <a:cs typeface="Helvetica Neue"/>
              </a:rPr>
              <a:t>Less duplicated logic</a:t>
            </a:r>
          </a:p>
        </p:txBody>
      </p:sp>
      <p:sp>
        <p:nvSpPr>
          <p:cNvPr id="4" name="">
            <a:extLst xmlns:a="http://schemas.openxmlformats.org/drawingml/2006/main">
              <a:ext uri="{FF2B5EF4-FFF2-40B4-BE49-F238E27FC236}">
                <a16:creationId xmlns:a16="http://schemas.microsoft.com/office/drawing/2014/main" id="{E228938B-32E1-4728-946C-9DED8884B4D1}"/>
              </a:ext>
            </a:extLst>
          </p:cNvPr>
          <p:cNvSpPr>
            <a:spLocks xmlns:a="http://schemas.openxmlformats.org/drawingml/2006/main" noGrp="1"/>
          </p:cNvSpPr>
          <p:nvPr/>
        </p:nvSpPr>
        <p:spPr>
          <a:xfrm xmlns:a="http://schemas.openxmlformats.org/drawingml/2006/main">
            <a:off x="609600" y="33242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6F6F2"/>
                </a:solidFill>
                <a:latin typeface="Helvetica Neue"/>
                <a:ea typeface="Helvetica Neue"/>
                <a:cs typeface="Helvetica Neue"/>
              </a:defRPr>
            </a:pPr>
            <a:r>
              <a:rPr sz="4350" b="1">
                <a:solidFill>
                  <a:srgbClr val="F6F6F2"/>
                </a:solidFill>
                <a:latin typeface="Helvetica Neue"/>
                <a:ea typeface="Helvetica Neue"/>
                <a:cs typeface="Helvetica Neue"/>
              </a:rPr>
              <a:t>Consistent device behavior</a:t>
            </a:r>
          </a:p>
        </p:txBody>
      </p:sp>
      <p:sp>
        <p:nvSpPr>
          <p:cNvPr id="5" name="">
            <a:extLst xmlns:a="http://schemas.openxmlformats.org/drawingml/2006/main">
              <a:ext uri="{FF2B5EF4-FFF2-40B4-BE49-F238E27FC236}">
                <a16:creationId xmlns:a16="http://schemas.microsoft.com/office/drawing/2014/main" id="{101367FE-2B03-439E-BADB-E54774B27692}"/>
              </a:ext>
            </a:extLst>
          </p:cNvPr>
          <p:cNvSpPr>
            <a:spLocks xmlns:a="http://schemas.openxmlformats.org/drawingml/2006/main" noGrp="1"/>
          </p:cNvSpPr>
          <p:nvPr/>
        </p:nvSpPr>
        <p:spPr>
          <a:xfrm xmlns:a="http://schemas.openxmlformats.org/drawingml/2006/main">
            <a:off x="609600" y="4543425"/>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6F6F2"/>
                </a:solidFill>
                <a:latin typeface="Helvetica Neue"/>
                <a:ea typeface="Helvetica Neue"/>
                <a:cs typeface="Helvetica Neue"/>
              </a:defRPr>
            </a:pPr>
            <a:r>
              <a:rPr sz="4350" b="1">
                <a:solidFill>
                  <a:srgbClr val="F6F6F2"/>
                </a:solidFill>
                <a:latin typeface="Helvetica Neue"/>
                <a:ea typeface="Helvetica Neue"/>
                <a:cs typeface="Helvetica Neue"/>
              </a:rPr>
              <a:t>Native capability preserved</a:t>
            </a:r>
          </a:p>
        </p:txBody>
      </p:sp>
      <p:sp>
        <p:nvSpPr>
          <p:cNvPr id="6" name="">
            <a:extLst xmlns:a="http://schemas.openxmlformats.org/drawingml/2006/main">
              <a:ext uri="{FF2B5EF4-FFF2-40B4-BE49-F238E27FC236}">
                <a16:creationId xmlns:a16="http://schemas.microsoft.com/office/drawing/2014/main" id="{7A416932-F9D5-4863-8AF5-0B280DDDF46A}"/>
              </a:ext>
            </a:extLst>
          </p:cNvPr>
          <p:cNvSpPr>
            <a:spLocks xmlns:a="http://schemas.openxmlformats.org/drawingml/2006/main" noGrp="1"/>
          </p:cNvSpPr>
          <p:nvPr/>
        </p:nvSpPr>
        <p:spPr>
          <a:xfrm xmlns:a="http://schemas.openxmlformats.org/drawingml/2006/main">
            <a:off x="609600" y="5838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Pilot measures effort, parity and stream reliability</a:t>
            </a:r>
          </a:p>
        </p:txBody>
      </p:sp>
    </p:spTree>
    <p:extLst>
      <p:ext uri="{BB962C8B-B14F-4D97-AF65-F5344CB8AC3E}">
        <p14:creationId xmlns:p14="http://schemas.microsoft.com/office/powerpoint/2010/main" val="1438091695"/>
      </p:ext>
    </p:extLst>
  </p:cSld>
</p:sld>
</file>

<file path=ppt/slides/slide14.xml><?xml version="1.0" encoding="utf-8"?>
<p:sld xmlns:p="http://schemas.openxmlformats.org/presentationml/2006/main">
  <p:cSld>
    <p:bg>
      <p:bgPr>
        <a:solidFill xmlns:a="http://schemas.openxmlformats.org/drawingml/2006/main">
          <a:srgbClr val="B2FF0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41FED7-D85B-4AEA-B233-5EEDCBB3934E}"/>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The proposal</a:t>
            </a:r>
          </a:p>
        </p:txBody>
      </p:sp>
      <p:sp>
        <p:nvSpPr>
          <p:cNvPr id="2" name="">
            <a:extLst xmlns:a="http://schemas.openxmlformats.org/drawingml/2006/main">
              <a:ext uri="{FF2B5EF4-FFF2-40B4-BE49-F238E27FC236}">
                <a16:creationId xmlns:a16="http://schemas.microsoft.com/office/drawing/2014/main" id="{EF86EDAE-A5E3-4E68-A120-4E056205E95C}"/>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050505"/>
                </a:solidFill>
                <a:latin typeface="Helvetica Neue"/>
                <a:ea typeface="Helvetica Neue"/>
                <a:cs typeface="Helvetica Neue"/>
              </a:defRPr>
            </a:pPr>
            <a:r>
              <a:rPr sz="1350" b="0">
                <a:solidFill>
                  <a:srgbClr val="050505"/>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8AA6A037-BD6D-4E22-8720-CB8D6DB51645}"/>
              </a:ext>
            </a:extLst>
          </p:cNvPr>
          <p:cNvSpPr>
            <a:spLocks xmlns:a="http://schemas.openxmlformats.org/drawingml/2006/main" noGrp="1"/>
          </p:cNvSpPr>
          <p:nvPr/>
        </p:nvSpPr>
        <p:spPr>
          <a:xfrm xmlns:a="http://schemas.openxmlformats.org/drawingml/2006/main">
            <a:off x="609600" y="20574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050505"/>
                </a:solidFill>
                <a:latin typeface="Helvetica Neue"/>
                <a:ea typeface="Helvetica Neue"/>
                <a:cs typeface="Helvetica Neue"/>
              </a:defRPr>
            </a:pPr>
            <a:r>
              <a:rPr sz="5850" b="1">
                <a:solidFill>
                  <a:srgbClr val="050505"/>
                </a:solidFill>
                <a:latin typeface="Helvetica Neue"/>
                <a:ea typeface="Helvetica Neue"/>
                <a:cs typeface="Helvetica Neue"/>
              </a:rPr>
              <a:t>One workflow.</a:t>
            </a:r>
          </a:p>
          <a:p xmlns:a="http://schemas.openxmlformats.org/drawingml/2006/main">
            <a:pPr>
              <a:defRPr sz="5850" b="1">
                <a:solidFill>
                  <a:srgbClr val="050505"/>
                </a:solidFill>
                <a:latin typeface="Helvetica Neue"/>
                <a:ea typeface="Helvetica Neue"/>
                <a:cs typeface="Helvetica Neue"/>
              </a:defRPr>
            </a:pPr>
            <a:r>
              <a:rPr sz="5850" b="1">
                <a:solidFill>
                  <a:srgbClr val="050505"/>
                </a:solidFill>
                <a:latin typeface="Helvetica Neue"/>
                <a:ea typeface="Helvetica Neue"/>
                <a:cs typeface="Helvetica Neue"/>
              </a:rPr>
              <a:t>Two platforms.</a:t>
            </a:r>
          </a:p>
        </p:txBody>
      </p:sp>
      <p:sp>
        <p:nvSpPr>
          <p:cNvPr id="4" name="">
            <a:extLst xmlns:a="http://schemas.openxmlformats.org/drawingml/2006/main">
              <a:ext uri="{FF2B5EF4-FFF2-40B4-BE49-F238E27FC236}">
                <a16:creationId xmlns:a16="http://schemas.microsoft.com/office/drawing/2014/main" id="{E0A5424B-DEB5-4D2A-BCA3-6075ED61158A}"/>
              </a:ext>
            </a:extLst>
          </p:cNvPr>
          <p:cNvSpPr>
            <a:spLocks xmlns:a="http://schemas.openxmlformats.org/drawingml/2006/main" noGrp="1"/>
          </p:cNvSpPr>
          <p:nvPr/>
        </p:nvSpPr>
        <p:spPr>
          <a:xfrm xmlns:a="http://schemas.openxmlformats.org/drawingml/2006/main">
            <a:off x="609600" y="4648200"/>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050505"/>
                </a:solidFill>
                <a:latin typeface="Helvetica Neue"/>
                <a:ea typeface="Helvetica Neue"/>
                <a:cs typeface="Helvetica Neue"/>
              </a:defRPr>
            </a:pPr>
            <a:r>
              <a:rPr sz="3450" b="1">
                <a:solidFill>
                  <a:srgbClr val="050505"/>
                </a:solidFill>
                <a:latin typeface="Helvetica Neue"/>
                <a:ea typeface="Helvetica Neue"/>
                <a:cs typeface="Helvetica Neue"/>
              </a:rPr>
              <a:t>6-week pilot proposed</a:t>
            </a:r>
          </a:p>
        </p:txBody>
      </p:sp>
      <p:sp>
        <p:nvSpPr>
          <p:cNvPr id="5" name="">
            <a:extLst xmlns:a="http://schemas.openxmlformats.org/drawingml/2006/main">
              <a:ext uri="{FF2B5EF4-FFF2-40B4-BE49-F238E27FC236}">
                <a16:creationId xmlns:a16="http://schemas.microsoft.com/office/drawing/2014/main" id="{919F03A1-F535-4BD0-9E45-2B4D59AF40DB}"/>
              </a:ext>
            </a:extLst>
          </p:cNvPr>
          <p:cNvSpPr>
            <a:spLocks xmlns:a="http://schemas.openxmlformats.org/drawingml/2006/main" noGrp="1"/>
          </p:cNvSpPr>
          <p:nvPr/>
        </p:nvSpPr>
        <p:spPr>
          <a:xfrm xmlns:a="http://schemas.openxmlformats.org/drawingml/2006/main">
            <a:off x="609600" y="57245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50505"/>
                </a:solidFill>
                <a:latin typeface="Helvetica Neue"/>
                <a:ea typeface="Helvetica Neue"/>
                <a:cs typeface="Helvetica Neue"/>
              </a:defRPr>
            </a:pPr>
            <a:r>
              <a:rPr sz="2400" b="0">
                <a:solidFill>
                  <a:srgbClr val="050505"/>
                </a:solidFill>
                <a:latin typeface="Helvetica Neue"/>
                <a:ea typeface="Helvetica Neue"/>
                <a:cs typeface="Helvetica Neue"/>
              </a:rPr>
              <a:t>Review the evidence before expanding</a:t>
            </a:r>
          </a:p>
        </p:txBody>
      </p:sp>
    </p:spTree>
    <p:extLst>
      <p:ext uri="{BB962C8B-B14F-4D97-AF65-F5344CB8AC3E}">
        <p14:creationId xmlns:p14="http://schemas.microsoft.com/office/powerpoint/2010/main" val="1749143427"/>
      </p:ext>
    </p:extLst>
  </p:cSld>
</p:sld>
</file>

<file path=ppt/slides/slide1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0DE12EC-4FFA-49FF-B788-7C9CBCF06EBB}"/>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Appendix: PoC readiness</a:t>
            </a:r>
          </a:p>
        </p:txBody>
      </p:sp>
      <p:sp>
        <p:nvSpPr>
          <p:cNvPr id="2" name="">
            <a:extLst xmlns:a="http://schemas.openxmlformats.org/drawingml/2006/main">
              <a:ext uri="{FF2B5EF4-FFF2-40B4-BE49-F238E27FC236}">
                <a16:creationId xmlns:a16="http://schemas.microsoft.com/office/drawing/2014/main" id="{94258A6D-AB65-4971-B016-6A3375E74188}"/>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15</a:t>
            </a:r>
          </a:p>
        </p:txBody>
      </p:sp>
      <p:graphicFrame>
        <p:nvGraphicFramePr>
          <p:cNvPr id="7" name=""/>
          <p:cNvGraphicFramePr/>
          <p:nvPr/>
        </p:nvGraphicFramePr>
        <p:xfrm>
          <a:off xmlns:a="http://schemas.openxmlformats.org/drawingml/2006/main" x="609600" y="2028825"/>
          <a:ext xmlns:a="http://schemas.openxmlformats.org/drawingml/2006/main" cx="10972800" cy="3343275"/>
        </p:xfrm>
        <a:graphic xmlns:a="http://schemas.openxmlformats.org/drawingml/2006/main">
          <a:graphicData uri="http://schemas.openxmlformats.org/drawingml/2006/table">
            <a:tbl>
              <a:tblPr/>
              <a:tblGrid>
                <a:gridCol w="4572000"/>
                <a:gridCol w="6400800"/>
              </a:tblGrid>
              <a:tr h="668655">
                <a:tc>
                  <a:txBody>
                    <a:bodyPr>
                      <a:noAutofit/>
                    </a:bodyPr>
                    <a:lstStyle/>
                    <a:p>
                      <a:r>
                        <a:rPr sz="2100" b="1">
                          <a:solidFill>
                            <a:srgbClr val="050505"/>
                          </a:solidFill>
                          <a:latin typeface="Helvetica Neue"/>
                          <a:ea typeface="Helvetica Neue"/>
                          <a:cs typeface="Helvetica Neue"/>
                        </a:rPr>
                        <a:t>In source</a:t>
                      </a:r>
                    </a:p>
                  </a:txBody>
                  <a:tcPr marL="91440" marR="91440" marT="45720" marB="45720">
                    <a:solidFill>
                      <a:srgbClr val="B2FF00"/>
                    </a:solidFill>
                  </a:tcPr>
                </a:tc>
                <a:tc>
                  <a:txBody>
                    <a:bodyPr>
                      <a:noAutofit/>
                    </a:bodyPr>
                    <a:lstStyle/>
                    <a:p>
                      <a:r>
                        <a:rPr sz="2100" b="1">
                          <a:solidFill>
                            <a:srgbClr val="050505"/>
                          </a:solidFill>
                          <a:latin typeface="Helvetica Neue"/>
                          <a:ea typeface="Helvetica Neue"/>
                          <a:cs typeface="Helvetica Neue"/>
                        </a:rPr>
                        <a:t>Before the live demo</a:t>
                      </a:r>
                    </a:p>
                  </a:txBody>
                  <a:tcPr marL="91440" marR="91440" marT="45720" marB="45720">
                    <a:solidFill>
                      <a:srgbClr val="B2FF00"/>
                    </a:solidFill>
                  </a:tcPr>
                </a:tc>
              </a:tr>
              <a:tr h="668655">
                <a:tc>
                  <a:txBody>
                    <a:bodyPr>
                      <a:noAutofit/>
                    </a:bodyPr>
                    <a:lstStyle/>
                    <a:p>
                      <a:r>
                        <a:rPr sz="2100" b="0">
                          <a:solidFill>
                            <a:srgbClr val="F6F6F2"/>
                          </a:solidFill>
                          <a:latin typeface="Helvetica Neue"/>
                          <a:ea typeface="Helvetica Neue"/>
                          <a:cs typeface="Helvetica Neue"/>
                        </a:rPr>
                        <a:t>GraphQL discovery path</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Validate query and operation name</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GET / PUT client foundation</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Implement real channel operations</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WebSocket foundation</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Wire the real device event source</a:t>
                      </a:r>
                    </a:p>
                  </a:txBody>
                  <a:tcPr marL="91440" marR="91440" marT="45720" marB="45720">
                    <a:solidFill>
                      <a:srgbClr val="050505"/>
                    </a:solidFill>
                  </a:tcPr>
                </a:tc>
              </a:tr>
              <a:tr h="668655">
                <a:tc>
                  <a:txBody>
                    <a:bodyPr>
                      <a:noAutofit/>
                    </a:bodyPr>
                    <a:lstStyle/>
                    <a:p>
                      <a:r>
                        <a:rPr sz="2100" b="0">
                          <a:solidFill>
                            <a:srgbClr val="F6F6F2"/>
                          </a:solidFill>
                          <a:latin typeface="Helvetica Neue"/>
                          <a:ea typeface="Helvetica Neue"/>
                          <a:cs typeface="Helvetica Neue"/>
                        </a:rPr>
                        <a:t>Persistence and logs</a:t>
                      </a:r>
                    </a:p>
                  </a:txBody>
                  <a:tcPr marL="91440" marR="91440" marT="45720" marB="45720">
                    <a:solidFill>
                      <a:srgbClr val="050505"/>
                    </a:solidFill>
                  </a:tcPr>
                </a:tc>
                <a:tc>
                  <a:txBody>
                    <a:bodyPr>
                      <a:noAutofit/>
                    </a:bodyPr>
                    <a:lstStyle/>
                    <a:p>
                      <a:r>
                        <a:rPr sz="2100" b="0">
                          <a:solidFill>
                            <a:srgbClr val="F6F6F2"/>
                          </a:solidFill>
                          <a:latin typeface="Helvetica Neue"/>
                          <a:ea typeface="Helvetica Neue"/>
                          <a:cs typeface="Helvetica Neue"/>
                        </a:rPr>
                        <a:t>Verify Android / iOS behavior</a:t>
                      </a:r>
                    </a:p>
                  </a:txBody>
                  <a:tcPr marL="91440" marR="91440" marT="45720" marB="45720">
                    <a:solidFill>
                      <a:srgbClr val="050505"/>
                    </a:solidFill>
                  </a:tcPr>
                </a:tc>
              </a:tr>
            </a:tbl>
          </a:graphicData>
        </a:graphic>
      </p:graphicFrame>
      <p:sp>
        <p:nvSpPr>
          <p:cNvPr id="4" name="">
            <a:extLst xmlns:a="http://schemas.openxmlformats.org/drawingml/2006/main">
              <a:ext uri="{FF2B5EF4-FFF2-40B4-BE49-F238E27FC236}">
                <a16:creationId xmlns:a16="http://schemas.microsoft.com/office/drawing/2014/main" id="{478CB16D-583C-405E-8179-9A18DC08C80D}"/>
              </a:ext>
            </a:extLst>
          </p:cNvPr>
          <p:cNvSpPr>
            <a:spLocks xmlns:a="http://schemas.openxmlformats.org/drawingml/2006/main" noGrp="1"/>
          </p:cNvSpPr>
          <p:nvPr/>
        </p:nvSpPr>
        <p:spPr>
          <a:xfrm xmlns:a="http://schemas.openxmlformats.org/drawingml/2006/main">
            <a:off x="609600" y="57912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ACB0AC"/>
                </a:solidFill>
                <a:latin typeface="Helvetica Neue"/>
                <a:ea typeface="Helvetica Neue"/>
                <a:cs typeface="Helvetica Neue"/>
              </a:defRPr>
            </a:pPr>
            <a:r>
              <a:rPr sz="2025" b="0">
                <a:solidFill>
                  <a:srgbClr val="ACB0AC"/>
                </a:solidFill>
                <a:latin typeface="Helvetica Neue"/>
                <a:ea typeface="Helvetica Neue"/>
                <a:cs typeface="Helvetica Neue"/>
              </a:rPr>
              <a:t>Current device events use a demo source</a:t>
            </a:r>
          </a:p>
        </p:txBody>
      </p:sp>
    </p:spTree>
    <p:extLst>
      <p:ext uri="{BB962C8B-B14F-4D97-AF65-F5344CB8AC3E}">
        <p14:creationId xmlns:p14="http://schemas.microsoft.com/office/powerpoint/2010/main" val="2132840580"/>
      </p:ext>
    </p:extLst>
  </p:cSld>
</p:sld>
</file>

<file path=ppt/slides/slide1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7478E62-22D5-46C1-84E0-88BD8311825B}"/>
              </a:ext>
            </a:extLst>
          </p:cNvPr>
          <p:cNvSpPr>
            <a:spLocks xmlns:a="http://schemas.openxmlformats.org/drawingml/2006/main" noGrp="1"/>
          </p:cNvSpPr>
          <p:nvPr/>
        </p:nvSpPr>
        <p:spPr>
          <a:xfrm xmlns:a="http://schemas.openxmlformats.org/drawingml/2006/main">
            <a:off x="609600" y="6096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6F2"/>
                </a:solidFill>
                <a:latin typeface="Helvetica Neue"/>
                <a:ea typeface="Helvetica Neue"/>
                <a:cs typeface="Helvetica Neue"/>
              </a:defRPr>
            </a:pPr>
            <a:r>
              <a:rPr sz="3600" b="1">
                <a:solidFill>
                  <a:srgbClr val="F6F6F2"/>
                </a:solidFill>
                <a:latin typeface="Helvetica Neue"/>
                <a:ea typeface="Helvetica Neue"/>
                <a:cs typeface="Helvetica Neue"/>
              </a:rPr>
              <a:t>Appendix: evidence and boundaries</a:t>
            </a:r>
          </a:p>
        </p:txBody>
      </p:sp>
      <p:sp>
        <p:nvSpPr>
          <p:cNvPr id="2" name="">
            <a:extLst xmlns:a="http://schemas.openxmlformats.org/drawingml/2006/main">
              <a:ext uri="{FF2B5EF4-FFF2-40B4-BE49-F238E27FC236}">
                <a16:creationId xmlns:a16="http://schemas.microsoft.com/office/drawing/2014/main" id="{D57C1BD3-46CF-46AD-9CB4-C08E9E2D97C5}"/>
              </a:ext>
            </a:extLst>
          </p:cNvPr>
          <p:cNvSpPr>
            <a:spLocks xmlns:a="http://schemas.openxmlformats.org/drawingml/2006/main" noGrp="1"/>
          </p:cNvSpPr>
          <p:nvPr/>
        </p:nvSpPr>
        <p:spPr>
          <a:xfrm xmlns:a="http://schemas.openxmlformats.org/drawingml/2006/main">
            <a:off x="10972800" y="6305550"/>
            <a:ext cx="66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CB0AC"/>
                </a:solidFill>
                <a:latin typeface="Helvetica Neue"/>
                <a:ea typeface="Helvetica Neue"/>
                <a:cs typeface="Helvetica Neue"/>
              </a:defRPr>
            </a:pPr>
            <a:r>
              <a:rPr sz="1350" b="0">
                <a:solidFill>
                  <a:srgbClr val="ACB0AC"/>
                </a:solidFill>
                <a:latin typeface="Helvetica Neue"/>
                <a:ea typeface="Helvetica Neue"/>
                <a:cs typeface="Helvetica Neue"/>
              </a:rPr>
              <a:t>16</a:t>
            </a:r>
          </a:p>
        </p:txBody>
      </p:sp>
      <p:sp>
        <p:nvSpPr>
          <p:cNvPr id="3" name="">
            <a:extLst xmlns:a="http://schemas.openxmlformats.org/drawingml/2006/main">
              <a:ext uri="{FF2B5EF4-FFF2-40B4-BE49-F238E27FC236}">
                <a16:creationId xmlns:a16="http://schemas.microsoft.com/office/drawing/2014/main" id="{E9AD6EEA-012E-45B8-B71B-A9B925BF84CA}"/>
              </a:ext>
            </a:extLst>
          </p:cNvPr>
          <p:cNvSpPr>
            <a:spLocks xmlns:a="http://schemas.openxmlformats.org/drawingml/2006/main" noGrp="1"/>
          </p:cNvSpPr>
          <p:nvPr/>
        </p:nvSpPr>
        <p:spPr>
          <a:xfrm xmlns:a="http://schemas.openxmlformats.org/drawingml/2006/main">
            <a:off x="609600" y="21240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Sony</a:t>
            </a:r>
          </a:p>
        </p:txBody>
      </p:sp>
      <p:sp>
        <p:nvSpPr>
          <p:cNvPr id="4" name="">
            <a:extLst xmlns:a="http://schemas.openxmlformats.org/drawingml/2006/main">
              <a:ext uri="{FF2B5EF4-FFF2-40B4-BE49-F238E27FC236}">
                <a16:creationId xmlns:a16="http://schemas.microsoft.com/office/drawing/2014/main" id="{D953E342-9081-4665-93BF-EA280CB04E0E}"/>
              </a:ext>
            </a:extLst>
          </p:cNvPr>
          <p:cNvSpPr>
            <a:spLocks xmlns:a="http://schemas.openxmlformats.org/drawingml/2006/main" noGrp="1"/>
          </p:cNvSpPr>
          <p:nvPr/>
        </p:nvSpPr>
        <p:spPr>
          <a:xfrm xmlns:a="http://schemas.openxmlformats.org/drawingml/2006/main">
            <a:off x="3781425" y="212407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Auto Play feature in Sound Connect</a:t>
            </a:r>
          </a:p>
        </p:txBody>
      </p:sp>
      <p:sp>
        <p:nvSpPr>
          <p:cNvPr id="5" name="">
            <a:extLst xmlns:a="http://schemas.openxmlformats.org/drawingml/2006/main">
              <a:ext uri="{FF2B5EF4-FFF2-40B4-BE49-F238E27FC236}">
                <a16:creationId xmlns:a16="http://schemas.microsoft.com/office/drawing/2014/main" id="{A573F719-4BF1-4C5F-9212-A8DF4222F508}"/>
              </a:ext>
            </a:extLst>
          </p:cNvPr>
          <p:cNvSpPr>
            <a:spLocks xmlns:a="http://schemas.openxmlformats.org/drawingml/2006/main" noGrp="1"/>
          </p:cNvSpPr>
          <p:nvPr/>
        </p:nvSpPr>
        <p:spPr>
          <a:xfrm xmlns:a="http://schemas.openxmlformats.org/drawingml/2006/main">
            <a:off x="609600" y="313372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Philips</a:t>
            </a:r>
          </a:p>
        </p:txBody>
      </p:sp>
      <p:sp>
        <p:nvSpPr>
          <p:cNvPr id="6" name="">
            <a:extLst xmlns:a="http://schemas.openxmlformats.org/drawingml/2006/main">
              <a:ext uri="{FF2B5EF4-FFF2-40B4-BE49-F238E27FC236}">
                <a16:creationId xmlns:a16="http://schemas.microsoft.com/office/drawing/2014/main" id="{8F7D6671-2254-4732-9FD7-4E3DF40BDFC2}"/>
              </a:ext>
            </a:extLst>
          </p:cNvPr>
          <p:cNvSpPr>
            <a:spLocks xmlns:a="http://schemas.openxmlformats.org/drawingml/2006/main" noGrp="1"/>
          </p:cNvSpPr>
          <p:nvPr/>
        </p:nvSpPr>
        <p:spPr>
          <a:xfrm xmlns:a="http://schemas.openxmlformats.org/drawingml/2006/main">
            <a:off x="3781425" y="313372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HealthSuite SDK, healthcare</a:t>
            </a:r>
          </a:p>
        </p:txBody>
      </p:sp>
      <p:sp>
        <p:nvSpPr>
          <p:cNvPr id="7" name="">
            <a:extLst xmlns:a="http://schemas.openxmlformats.org/drawingml/2006/main">
              <a:ext uri="{FF2B5EF4-FFF2-40B4-BE49-F238E27FC236}">
                <a16:creationId xmlns:a16="http://schemas.microsoft.com/office/drawing/2014/main" id="{D5760EAD-CDB0-47F4-A33A-2066E37C6EAC}"/>
              </a:ext>
            </a:extLst>
          </p:cNvPr>
          <p:cNvSpPr>
            <a:spLocks xmlns:a="http://schemas.openxmlformats.org/drawingml/2006/main" noGrp="1"/>
          </p:cNvSpPr>
          <p:nvPr/>
        </p:nvSpPr>
        <p:spPr>
          <a:xfrm xmlns:a="http://schemas.openxmlformats.org/drawingml/2006/main">
            <a:off x="609600" y="4143375"/>
            <a:ext cx="285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2FF00"/>
                </a:solidFill>
                <a:latin typeface="Helvetica Neue"/>
                <a:ea typeface="Helvetica Neue"/>
                <a:cs typeface="Helvetica Neue"/>
              </a:defRPr>
            </a:pPr>
            <a:r>
              <a:rPr sz="2775" b="1">
                <a:solidFill>
                  <a:srgbClr val="B2FF00"/>
                </a:solidFill>
                <a:latin typeface="Helvetica Neue"/>
                <a:ea typeface="Helvetica Neue"/>
                <a:cs typeface="Helvetica Neue"/>
              </a:rPr>
              <a:t>JetBrains</a:t>
            </a:r>
          </a:p>
        </p:txBody>
      </p:sp>
      <p:sp>
        <p:nvSpPr>
          <p:cNvPr id="8" name="">
            <a:extLst xmlns:a="http://schemas.openxmlformats.org/drawingml/2006/main">
              <a:ext uri="{FF2B5EF4-FFF2-40B4-BE49-F238E27FC236}">
                <a16:creationId xmlns:a16="http://schemas.microsoft.com/office/drawing/2014/main" id="{67505BDC-5E2B-48DC-B1F0-FAE30E3314AB}"/>
              </a:ext>
            </a:extLst>
          </p:cNvPr>
          <p:cNvSpPr>
            <a:spLocks xmlns:a="http://schemas.openxmlformats.org/drawingml/2006/main" noGrp="1"/>
          </p:cNvSpPr>
          <p:nvPr/>
        </p:nvSpPr>
        <p:spPr>
          <a:xfrm xmlns:a="http://schemas.openxmlformats.org/drawingml/2006/main">
            <a:off x="3781425" y="4143375"/>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6F2"/>
                </a:solidFill>
                <a:latin typeface="Helvetica Neue"/>
                <a:ea typeface="Helvetica Neue"/>
                <a:cs typeface="Helvetica Neue"/>
              </a:defRPr>
            </a:pPr>
            <a:r>
              <a:rPr sz="2550" b="0">
                <a:solidFill>
                  <a:srgbClr val="F6F6F2"/>
                </a:solidFill>
                <a:latin typeface="Helvetica Neue"/>
                <a:ea typeface="Helvetica Neue"/>
                <a:cs typeface="Helvetica Neue"/>
              </a:rPr>
              <a:t>Survey evidence, not Shure ROI</a:t>
            </a:r>
          </a:p>
        </p:txBody>
      </p:sp>
      <p:sp>
        <p:nvSpPr>
          <p:cNvPr id="9" name="">
            <a:extLst xmlns:a="http://schemas.openxmlformats.org/drawingml/2006/main">
              <a:ext uri="{FF2B5EF4-FFF2-40B4-BE49-F238E27FC236}">
                <a16:creationId xmlns:a16="http://schemas.microsoft.com/office/drawing/2014/main" id="{070D8C2C-52B6-4297-A989-B852682F3020}"/>
              </a:ext>
            </a:extLst>
          </p:cNvPr>
          <p:cNvSpPr>
            <a:spLocks xmlns:a="http://schemas.openxmlformats.org/drawingml/2006/main" noGrp="1"/>
          </p:cNvSpPr>
          <p:nvPr/>
        </p:nvSpPr>
        <p:spPr>
          <a:xfrm xmlns:a="http://schemas.openxmlformats.org/drawingml/2006/main">
            <a:off x="609600" y="5772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CB0AC"/>
                </a:solidFill>
                <a:latin typeface="Helvetica Neue"/>
                <a:ea typeface="Helvetica Neue"/>
                <a:cs typeface="Helvetica Neue"/>
              </a:defRPr>
            </a:pPr>
            <a:r>
              <a:rPr sz="2175" b="0">
                <a:solidFill>
                  <a:srgbClr val="ACB0AC"/>
                </a:solidFill>
                <a:latin typeface="Helvetica Neue"/>
                <a:ea typeface="Helvetica Neue"/>
                <a:cs typeface="Helvetica Neue"/>
              </a:rPr>
              <a:t>Sources and technical detail are in speaker notes</a:t>
            </a:r>
          </a:p>
        </p:txBody>
      </p:sp>
    </p:spTree>
    <p:extLst>
      <p:ext uri="{BB962C8B-B14F-4D97-AF65-F5344CB8AC3E}">
        <p14:creationId xmlns:p14="http://schemas.microsoft.com/office/powerpoint/2010/main" val="1001545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2026-10-05T13:15:00.4740000Z</dcterms:created>
  <dcterms:modified xsi:type="dcterms:W3CDTF">2026-10-05T13:15:00.4740000Z</dcterms:modified>
</coreProperties>
</file>