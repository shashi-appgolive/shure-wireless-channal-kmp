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8b8d0ef8a741a7" /><Relationship Type="http://schemas.openxmlformats.org/officeDocument/2006/relationships/extended-properties" Target="/docProps/app.xml" Id="R6e6375b00ec4425e" /><Relationship Type="http://schemas.openxmlformats.org/officeDocument/2006/relationships/officeDocument" Target="/ppt/presentation.xml" Id="Raebd5c89c0bf47d1" /></Relationships>
</file>

<file path=ppt/presentation.xml><?xml version="1.0" encoding="utf-8"?>
<p:presentation xmlns:p="http://schemas.openxmlformats.org/presentationml/2006/main">
  <p:sldMasterIdLst>
    <p:sldMasterId xmlns:r="http://schemas.openxmlformats.org/officeDocument/2006/relationships" id="2147483648" r:id="Re28ec23258e44c13"/>
  </p:sldMasterIdLst>
  <p:notesMasterIdLst>
    <p:notesMasterId xmlns:r="http://schemas.openxmlformats.org/officeDocument/2006/relationships" r:id="R7b8e2c15dcd94c67"/>
  </p:notesMasterIdLst>
  <p:sldIdLst>
    <p:sldId xmlns:r="http://schemas.openxmlformats.org/officeDocument/2006/relationships" id="256" r:id="Rbea2f138d3e94562"/>
    <p:sldId xmlns:r="http://schemas.openxmlformats.org/officeDocument/2006/relationships" id="257" r:id="R4b316bdc20ee4b30"/>
    <p:sldId xmlns:r="http://schemas.openxmlformats.org/officeDocument/2006/relationships" id="258" r:id="R031db181e21c48f7"/>
    <p:sldId xmlns:r="http://schemas.openxmlformats.org/officeDocument/2006/relationships" id="259" r:id="Rcce9677aeede4a4c"/>
    <p:sldId xmlns:r="http://schemas.openxmlformats.org/officeDocument/2006/relationships" id="260" r:id="R4893659b05a44be8"/>
    <p:sldId xmlns:r="http://schemas.openxmlformats.org/officeDocument/2006/relationships" id="261" r:id="Rd9437e3de3e64a4f"/>
    <p:sldId xmlns:r="http://schemas.openxmlformats.org/officeDocument/2006/relationships" id="262" r:id="R06a97c5b522c46fa"/>
    <p:sldId xmlns:r="http://schemas.openxmlformats.org/officeDocument/2006/relationships" id="263" r:id="Rcff5f9cba8d64f82"/>
    <p:sldId xmlns:r="http://schemas.openxmlformats.org/officeDocument/2006/relationships" id="264" r:id="R3fbe5beea5eb4025"/>
    <p:sldId xmlns:r="http://schemas.openxmlformats.org/officeDocument/2006/relationships" id="265" r:id="R41d24d7aed6c409e"/>
    <p:sldId xmlns:r="http://schemas.openxmlformats.org/officeDocument/2006/relationships" id="266" r:id="R8dd0d2a534c44b59"/>
    <p:sldId xmlns:r="http://schemas.openxmlformats.org/officeDocument/2006/relationships" id="267" r:id="R66ea021b7d934652"/>
    <p:sldId xmlns:r="http://schemas.openxmlformats.org/officeDocument/2006/relationships" id="268" r:id="R17a01b49325043c6"/>
    <p:sldId xmlns:r="http://schemas.openxmlformats.org/officeDocument/2006/relationships" id="269" r:id="Re7f7aeb4d06e48f1"/>
    <p:sldId xmlns:r="http://schemas.openxmlformats.org/officeDocument/2006/relationships" id="270" r:id="R2fc27012195b4b7d"/>
    <p:sldId xmlns:r="http://schemas.openxmlformats.org/officeDocument/2006/relationships" id="271" r:id="R062b275bf70045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f37e8afe2d4b58" /><Relationship Type="http://schemas.openxmlformats.org/officeDocument/2006/relationships/slideMaster" Target="/ppt/slideMasters/slideMaster1.xml" Id="Re28ec23258e44c13" /><Relationship Type="http://schemas.openxmlformats.org/officeDocument/2006/relationships/notesMaster" Target="/ppt/notesMasters/notesMaster1.xml" Id="R7b8e2c15dcd94c67" /><Relationship Type="http://schemas.openxmlformats.org/officeDocument/2006/relationships/presProps" Target="/ppt/presProps.xml" Id="R75225b2ac6104106" /><Relationship Type="http://schemas.openxmlformats.org/officeDocument/2006/relationships/tableStyles" Target="/ppt/tableStyles.xml" Id="R557782b034ea4282" /><Relationship Type="http://schemas.openxmlformats.org/officeDocument/2006/relationships/slide" Target="/ppt/slides/slide1.xml" Id="Rbea2f138d3e94562" /><Relationship Type="http://schemas.openxmlformats.org/officeDocument/2006/relationships/slide" Target="/ppt/slides/slide2.xml" Id="R4b316bdc20ee4b30" /><Relationship Type="http://schemas.openxmlformats.org/officeDocument/2006/relationships/slide" Target="/ppt/slides/slide3.xml" Id="R031db181e21c48f7" /><Relationship Type="http://schemas.openxmlformats.org/officeDocument/2006/relationships/slide" Target="/ppt/slides/slide4.xml" Id="Rcce9677aeede4a4c" /><Relationship Type="http://schemas.openxmlformats.org/officeDocument/2006/relationships/slide" Target="/ppt/slides/slide5.xml" Id="R4893659b05a44be8" /><Relationship Type="http://schemas.openxmlformats.org/officeDocument/2006/relationships/slide" Target="/ppt/slides/slide6.xml" Id="Rd9437e3de3e64a4f" /><Relationship Type="http://schemas.openxmlformats.org/officeDocument/2006/relationships/slide" Target="/ppt/slides/slide7.xml" Id="R06a97c5b522c46fa" /><Relationship Type="http://schemas.openxmlformats.org/officeDocument/2006/relationships/slide" Target="/ppt/slides/slide8.xml" Id="Rcff5f9cba8d64f82" /><Relationship Type="http://schemas.openxmlformats.org/officeDocument/2006/relationships/slide" Target="/ppt/slides/slide9.xml" Id="R3fbe5beea5eb4025" /><Relationship Type="http://schemas.openxmlformats.org/officeDocument/2006/relationships/slide" Target="/ppt/slides/slide10.xml" Id="R41d24d7aed6c409e" /><Relationship Type="http://schemas.openxmlformats.org/officeDocument/2006/relationships/slide" Target="/ppt/slides/slide11.xml" Id="R8dd0d2a534c44b59" /><Relationship Type="http://schemas.openxmlformats.org/officeDocument/2006/relationships/slide" Target="/ppt/slides/slide12.xml" Id="R66ea021b7d934652" /><Relationship Type="http://schemas.openxmlformats.org/officeDocument/2006/relationships/slide" Target="/ppt/slides/slide13.xml" Id="R17a01b49325043c6" /><Relationship Type="http://schemas.openxmlformats.org/officeDocument/2006/relationships/slide" Target="/ppt/slides/slide14.xml" Id="Re7f7aeb4d06e48f1" /><Relationship Type="http://schemas.openxmlformats.org/officeDocument/2006/relationships/slide" Target="/ppt/slides/slide15.xml" Id="R2fc27012195b4b7d" /><Relationship Type="http://schemas.openxmlformats.org/officeDocument/2006/relationships/slide" Target="/ppt/slides/slide16.xml" Id="R062b275bf70045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bcf01c417c4b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e70da4849246bf" /><Relationship Type="http://schemas.openxmlformats.org/officeDocument/2006/relationships/notesMaster" Target="/ppt/notesMasters/notesMaster1.xml" Id="Rb39bbd66c7ac49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cac737176f43ac" /><Relationship Type="http://schemas.openxmlformats.org/officeDocument/2006/relationships/notesMaster" Target="/ppt/notesMasters/notesMaster1.xml" Id="Re6493d2194c543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ec5a9ee0f24f93" /><Relationship Type="http://schemas.openxmlformats.org/officeDocument/2006/relationships/notesMaster" Target="/ppt/notesMasters/notesMaster1.xml" Id="R728a5d14ae0d46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c26671cae34342" /><Relationship Type="http://schemas.openxmlformats.org/officeDocument/2006/relationships/notesMaster" Target="/ppt/notesMasters/notesMaster1.xml" Id="Rad941e5c719d44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7c218ca6c44b8a" /><Relationship Type="http://schemas.openxmlformats.org/officeDocument/2006/relationships/notesMaster" Target="/ppt/notesMasters/notesMaster1.xml" Id="Rf7cc576dce6b4d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ef2cca7c9f47ee" /><Relationship Type="http://schemas.openxmlformats.org/officeDocument/2006/relationships/notesMaster" Target="/ppt/notesMasters/notesMaster1.xml" Id="Re6304394f2c145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87a5965ef34fc5" /><Relationship Type="http://schemas.openxmlformats.org/officeDocument/2006/relationships/notesMaster" Target="/ppt/notesMasters/notesMaster1.xml" Id="R508a0fff312e4b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084aa49bc34816" /><Relationship Type="http://schemas.openxmlformats.org/officeDocument/2006/relationships/notesMaster" Target="/ppt/notesMasters/notesMaster1.xml" Id="Re9ef5e99fb2f48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76028ed4674ce3" /><Relationship Type="http://schemas.openxmlformats.org/officeDocument/2006/relationships/notesMaster" Target="/ppt/notesMasters/notesMaster1.xml" Id="Raba9c6bb541143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d0b7165a88476e" /><Relationship Type="http://schemas.openxmlformats.org/officeDocument/2006/relationships/notesMaster" Target="/ppt/notesMasters/notesMaster1.xml" Id="Rb684c223ff4444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a6bf4ed1f34959" /><Relationship Type="http://schemas.openxmlformats.org/officeDocument/2006/relationships/notesMaster" Target="/ppt/notesMasters/notesMaster1.xml" Id="R6a079d8f51694a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687a02eee845ad" /><Relationship Type="http://schemas.openxmlformats.org/officeDocument/2006/relationships/notesMaster" Target="/ppt/notesMasters/notesMaster1.xml" Id="R3e18f5c9fc5a4e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f31655aae540c8" /><Relationship Type="http://schemas.openxmlformats.org/officeDocument/2006/relationships/notesMaster" Target="/ppt/notesMasters/notesMaster1.xml" Id="Rab130051f55148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15eba70d2641b9" /><Relationship Type="http://schemas.openxmlformats.org/officeDocument/2006/relationships/notesMaster" Target="/ppt/notesMasters/notesMaster1.xml" Id="R4ca3fd1dcf394e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972e923f1d402f" /><Relationship Type="http://schemas.openxmlformats.org/officeDocument/2006/relationships/notesMaster" Target="/ppt/notesMasters/notesMaster1.xml" Id="R7559f9df4b0143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0a8126aa5ae4dd0" /><Relationship Type="http://schemas.openxmlformats.org/officeDocument/2006/relationships/notesMaster" Target="/ppt/notesMasters/notesMaster1.xml" Id="R04895f9a6f934e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propose a bounded KMP pilot. The core argument is continuity with Shure’s existing native apps and Kotlin expertise. This deck recommends shared logic first. Shared Compose UI remains a separate decision.</a:t>
            </a:r>
          </a:p>
          <a:p xmlns:a="http://schemas.openxmlformats.org/drawingml/2006/main">
            <a:r>
              <a:t>Internal proposal, 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 six-week pilot as a planning assumption, not a committed estimate. Keep the existing native screens for the pilot and integrate a shared core into Android and iOS. The existing PoC uses a shared Compose console, which is useful for testing but does not prove integration into the current native screens.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Kotlin Multiplatform shares Kotlin code across targets. The Android target runs on the JVM/ART and iOS uses Kotlin/Native, including its own runtime and memory management. KMP does not automatically convert Android SDK code or Swift into common Kotlin. Native UI can remain. Compose Multiplatform is an optional UI strategy.</a:t>
            </a:r>
          </a:p>
          <a:p xmlns:a="http://schemas.openxmlformats.org/drawingml/2006/main">
            <a:r>
              <a:t>Sources: https://developer.android.com/kotlin/multiplatform</a:t>
            </a:r>
          </a:p>
          <a:p xmlns:a="http://schemas.openxmlformats.org/drawingml/2006/main">
            <a:r>
              <a:t>https://kotlinlang.org/docs/multiplatform/multiplatform-share-on-platforms.html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device-server architecture and team Kotlin expertise come from the user’s supplied context, not an independent audit of the legacy app. Validate the exact legacy JNI/Apollo scope with the native team. Google support is externally documented.</a:t>
            </a:r>
          </a:p>
          <a:p xmlns:a="http://schemas.openxmlformats.org/drawingml/2006/main">
            <a:r>
              <a:t>Source: https://developer.android.com/kotlin/multiplatform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direction: the new device-hosted local server replaces the prior JNI/Apollo integration path for the target workflows. Apollo is optional in either architecture and GraphQL does not require it. The server change benefits both KMP and React Native. KMP’s separate advantage is reuse of Kotlin logic and continuity with the existing apps. Validate API coverage, versioning, server availability and streaming protocol before claiming full legacy parity.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JetBrains State of Kotlin 2026 reports KMP use among surveyed cross-platform developers at 7% in 2024 and 18% in 2025. This is a survey measure, not a share of all apps or companies. Google officially supports sharing business logic between Android and iOS. Company examples are publisher-reported deployments with different scopes, not proof of Shure ROI.</a:t>
            </a:r>
          </a:p>
          <a:p xmlns:a="http://schemas.openxmlformats.org/drawingml/2006/main">
            <a:r>
              <a:t>Sources: https://kotlinlang.org/state-of-kotlin-2026/</a:t>
            </a:r>
          </a:p>
          <a:p xmlns:a="http://schemas.openxmlformats.org/drawingml/2006/main">
            <a:r>
              <a:t>https://android-developers.googleblog.com/2024/05/android-support-for-kotlin-multiplatform-to-share-business-logic-across-mobile-web-server-desktop.html</a:t>
            </a:r>
          </a:p>
          <a:p xmlns:a="http://schemas.openxmlformats.org/drawingml/2006/main">
            <a:r>
              <a:t>https://kotlinlang.org/docs/multiplatform/use-cases-examples.html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Compatible Kotlin logic can move to commonMain. Android-specific code remains in androidMain or changes to multiplatform dependencies and interfaces. Swift and Objective-C functionality remains in the iOS application or platform adapters, rather than automatically becoming shared Kotlin. Platform-specific APIs can be exposed through interfaces or expect/actual.</a:t>
            </a:r>
          </a:p>
          <a:p xmlns:a="http://schemas.openxmlformats.org/drawingml/2006/main">
            <a:r>
              <a:t>Sources: https://kotlinlang.org/docs/multiplatform/multiplatform-integrate-in-existing-app.html</a:t>
            </a:r>
          </a:p>
          <a:p xmlns:a="http://schemas.openxmlformats.org/drawingml/2006/main">
            <a:r>
              <a:t>https://kotlinlang.org/docs/multiplatform/multiplatform-share-on-platforms.html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faster-adoption argument is a hypothesis based on the team’s reported Kotlin expertise. No Shure delivery metric or migration estimate has been measured. The proposed six-week pilot depends on available API contracts, devices and staffing. Sources for incremental reuse: https://kotlinlang.org/docs/multiplatform/multiplatform-integrate-in-existing-app.html</a:t>
            </a:r>
          </a:p>
          <a:p xmlns:a="http://schemas.openxmlformats.org/drawingml/2006/main">
            <a:r>
              <a:t>https://developer.android.com/kotlin/multiplatform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is a project-specific assessment, not a benchmark. React Native supports incremental adoption and native modules. Its New Architecture uses JSI and removes the old asynchronous bridge, so do not frame the comparison using obsolete bridge claims. Both can consume the local API and implement streaming. KMP also has runtime and interoperability considerations.</a:t>
            </a:r>
          </a:p>
          <a:p xmlns:a="http://schemas.openxmlformats.org/drawingml/2006/main">
            <a:r>
              <a:t>Sources: https://reactnative.dev/docs/integration-with-existing-apps</a:t>
            </a:r>
          </a:p>
          <a:p xmlns:a="http://schemas.openxmlformats.org/drawingml/2006/main">
            <a:r>
              <a:t>https://reactnative.dev/blog/2024/10/23/the-new-architecture-is-here</a:t>
            </a:r>
          </a:p>
          <a:p xmlns:a="http://schemas.openxmlformats.org/drawingml/2006/main">
            <a:r>
              <a:t>https://kotlinlang.org/docs/multiplatform/multiplatform-integrate-in-existing-app.html</a:t>
            </a:r>
          </a:p>
          <a:p xmlns:a="http://schemas.openxmlformats.org/drawingml/2006/main">
            <a:r>
              <a:t>https://developer.android.com/kotlin/multiplatform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5 October 2026. Existing modules include core/common, core/network, core/database and core/datastore. Device flow uses DeviceViewModel, use cases and repository interfaces. Koin binds the dependencies. Native UI integration is a proposed next step. The current demo has shared Compose UI. The web device store is in memory, rather than Room.</a:t>
            </a:r>
          </a:p>
          <a:p xmlns:a="http://schemas.openxmlformats.org/drawingml/2006/main">
            <a:r>
              <a:t>Repository evidence: shared/src/commonMain/kotlin/com/shure/wireless/channels/devices/di/StoredDevicesModule.kt; core/network/src/commonMain; core/database/src/commonMain; core/datastore/src/commonMain.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only. No Gradle tasks or live device validation were run for this presentation. Discovery operationName currently differs from the named query, and lastSeenAtEpochMillis is a placeholder. Resolve these before live demo. Device events currently delegate to DemoDeviceOperationsRepository. Generic PUT support exists in NetworkApiClient, but there is no demonstrated real channel-write use case in the inspected device path. WebSocket infrastructure exists, but GraphQL subscriptions require protocol-specific integration.</a:t>
            </a:r>
          </a:p>
          <a:p xmlns:a="http://schemas.openxmlformats.org/drawingml/2006/main">
            <a:r>
              <a:t>Evidence: GraphQlDeviceOperationsRepository.kt; DiscoverDevicesGraphQlModels.kt; NetworkApiClient.kt; WebSocketClient.kt; StoredDevicesModule.kt.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target demonstration sequence, not a statement that every step works today. Use a real test device and server. Capture a short backup recording. Confirm the discovery query/operationName, endpoint, channel write contract and stream protocol. For Android emulator host testing, 10.0.2.2 addresses the host loopback. For a physical device, use the reachable device-server address. Do not expose secrets in leadership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benefits are hypotheses for the Shure pilot. No cost savings, defect reductions or delivery gains have been measured. Compare a bounded workflow against an agreed native baseline using engineering hours and the same acceptance tests. Avoid comparing different feature complexity. Include platform integration and testing effort.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known evaluation areas, not observed production incidents. Device-server changes reduce app dependency coupling but shift responsibilities to the server contract and connectivity. Assign shared-core ownership with Android and iOS engineers. Measure behavior before extending the architecture to additional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planning assumption: six weeks, subject to staffing and API availability. Week 1 establishes contracts and baseline. Weeks 2–3 implement real discovery/read/write/stream behavior. Weeks 4–5 integrate Android and iOS native screens and test recovery. Week 6 compares results against the baseline. Suggested owners: one Kotlin/shared-core engineer, one iOS engineer, QA support and a device/server contact. Leadership should approve scope and staffing, with a review gate rather than a full migration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5 October 2026. Adoption figures are JetBrains survey results and company case studies, not independent Shure measurements. PoC statements reflect source inspection rather than execution. User supplied the local server direction, native integration context and team expertise. Full citations are included in the relevant slide notes.</a:t>
            </a:r>
          </a:p>
          <a:p xmlns:a="http://schemas.openxmlformats.org/drawingml/2006/main">
            <a:r>
              <a:t>https://kotlinlang.org/state-of-kotlin-2026/</a:t>
            </a:r>
          </a:p>
          <a:p xmlns:a="http://schemas.openxmlformats.org/drawingml/2006/main">
            <a:r>
              <a:t>https://kotlinlang.org/docs/multiplatform/use-cases-examples.html</a:t>
            </a:r>
          </a:p>
          <a:p xmlns:a="http://schemas.openxmlformats.org/drawingml/2006/main">
            <a:r>
              <a:t>https://android-developers.googleblog.com/2024/05/android-support-for-kotlin-multiplatform-to-share-business-logic-across-mobile-web-server-desktop.html</a:t>
            </a:r>
          </a:p>
          <a:p xmlns:a="http://schemas.openxmlformats.org/drawingml/2006/main">
            <a:r>
              <a:t>https://developer.android.com/kotlin/multiplatform</a:t>
            </a:r>
          </a:p>
          <a:p xmlns:a="http://schemas.openxmlformats.org/drawingml/2006/main">
            <a:r>
              <a:t>https://kotlinlang.org/docs/multiplatform/multiplatform-integrate-in-existing-app.html</a:t>
            </a:r>
          </a:p>
          <a:p xmlns:a="http://schemas.openxmlformats.org/drawingml/2006/main">
            <a:r>
              <a:t>https://kotlinlang.org/docs/multiplatform/multiplatform-share-on-platforms.html</a:t>
            </a:r>
          </a:p>
          <a:p xmlns:a="http://schemas.openxmlformats.org/drawingml/2006/main">
            <a:r>
              <a:t>https://reactnative.dev/docs/integration-with-existing-apps</a:t>
            </a:r>
          </a:p>
          <a:p xmlns:a="http://schemas.openxmlformats.org/drawingml/2006/main">
            <a:r>
              <a:t>https://reactnative.dev/blog/2024/10/23/the-new-architecture-is-here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214252508348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8a78c633894b9e" /><Relationship Type="http://schemas.openxmlformats.org/officeDocument/2006/relationships/slideLayout" Target="/ppt/slideLayouts/slideLayout1.xml" Id="R41669ea7fcc54e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669ea7fcc54e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08db4e812343e4" /><Relationship Type="http://schemas.openxmlformats.org/officeDocument/2006/relationships/image" Target="/ppt/media/image.png" Id="R4a9a7d3b35a54627" /><Relationship Type="http://schemas.openxmlformats.org/officeDocument/2006/relationships/notesSlide" Target="/ppt/notesSlides/notesSlide1.xml" Id="R1b92f10813af48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4b56a04fbd4489" /><Relationship Type="http://schemas.openxmlformats.org/officeDocument/2006/relationships/notesSlide" Target="/ppt/notesSlides/notesSlide2.xml" Id="Rb0dc922fd4554d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c5d87edaea42ad" /><Relationship Type="http://schemas.openxmlformats.org/officeDocument/2006/relationships/notesSlide" Target="/ppt/notesSlides/notesSlide3.xml" Id="R3ddacbafc86648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aa344c8fa342d7" /><Relationship Type="http://schemas.openxmlformats.org/officeDocument/2006/relationships/notesSlide" Target="/ppt/notesSlides/notesSlide4.xml" Id="Rb8963594c1014a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bcc667297148d7" /><Relationship Type="http://schemas.openxmlformats.org/officeDocument/2006/relationships/notesSlide" Target="/ppt/notesSlides/notesSlide5.xml" Id="R0bdad1c2f5974c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537940c4ab414c" /><Relationship Type="http://schemas.openxmlformats.org/officeDocument/2006/relationships/notesSlide" Target="/ppt/notesSlides/notesSlide6.xml" Id="R377ce25e9ec042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ddc68e2b7004381" /><Relationship Type="http://schemas.openxmlformats.org/officeDocument/2006/relationships/notesSlide" Target="/ppt/notesSlides/notesSlide7.xml" Id="R3e438bb317da4f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3f5e45b9f74d35" /><Relationship Type="http://schemas.openxmlformats.org/officeDocument/2006/relationships/notesSlide" Target="/ppt/notesSlides/notesSlide8.xml" Id="Rbc9b710a1dd745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87143a9f3a4c48" /><Relationship Type="http://schemas.openxmlformats.org/officeDocument/2006/relationships/notesSlide" Target="/ppt/notesSlides/notesSlide9.xml" Id="R4eef2681210f4e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92f26dd73e49db" /><Relationship Type="http://schemas.openxmlformats.org/officeDocument/2006/relationships/notesSlide" Target="/ppt/notesSlides/notesSlide10.xml" Id="R2effc5d102ae44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06c4b9e8e74e60" /><Relationship Type="http://schemas.openxmlformats.org/officeDocument/2006/relationships/notesSlide" Target="/ppt/notesSlides/notesSlide11.xml" Id="R3630f2a0907643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33c89654574f54" /><Relationship Type="http://schemas.openxmlformats.org/officeDocument/2006/relationships/notesSlide" Target="/ppt/notesSlides/notesSlide12.xml" Id="R6837f1fca5024a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caeb7cac44a4eb6" /><Relationship Type="http://schemas.openxmlformats.org/officeDocument/2006/relationships/notesSlide" Target="/ppt/notesSlides/notesSlide13.xml" Id="Rf2cc22ed0dcf4a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b772e826fe49a2" /><Relationship Type="http://schemas.openxmlformats.org/officeDocument/2006/relationships/notesSlide" Target="/ppt/notesSlides/notesSlide14.xml" Id="R04b2da355a274e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a627820832c4675" /><Relationship Type="http://schemas.openxmlformats.org/officeDocument/2006/relationships/notesSlide" Target="/ppt/notesSlides/notesSlide15.xml" Id="Rbc6611e8f45f42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810350f1e614708" /><Relationship Type="http://schemas.openxmlformats.org/officeDocument/2006/relationships/notesSlide" Target="/ppt/notesSlides/notesSlide16.xml" Id="R7797f50e9cd5478a"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9081C7-3523-4A6E-B5E0-6947C71C1378}"/>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2" name="">
            <a:extLst xmlns:a="http://schemas.openxmlformats.org/drawingml/2006/main">
              <a:ext uri="{FF2B5EF4-FFF2-40B4-BE49-F238E27FC236}">
                <a16:creationId xmlns:a16="http://schemas.microsoft.com/office/drawing/2014/main" id="{7520C00D-E7DF-4C60-9F81-C82A934DC262}"/>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BF87EF3D-21D4-4AC4-8FC3-125933A78850}"/>
              </a:ext>
            </a:extLst>
          </p:cNvPr>
          <p:cNvSpPr>
            <a:spLocks xmlns:a="http://schemas.openxmlformats.org/drawingml/2006/main" noGrp="1"/>
          </p:cNvSpPr>
          <p:nvPr/>
        </p:nvSpPr>
        <p:spPr>
          <a:xfrm xmlns:a="http://schemas.openxmlformats.org/drawingml/2006/main">
            <a:off x="609600" y="1571625"/>
            <a:ext cx="7810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6F6F2"/>
                </a:solidFill>
                <a:latin typeface="Helvetica Neue"/>
                <a:ea typeface="Helvetica Neue"/>
                <a:cs typeface="Helvetica Neue"/>
              </a:defRPr>
            </a:pPr>
            <a:r>
              <a:rPr sz="5100" b="1">
                <a:solidFill>
                  <a:srgbClr val="F6F6F2"/>
                </a:solidFill>
                <a:latin typeface="Helvetica Neue"/>
                <a:ea typeface="Helvetica Neue"/>
                <a:cs typeface="Helvetica Neue"/>
              </a:rPr>
              <a:t>Kotlin Multiplatform</a:t>
            </a:r>
          </a:p>
          <a:p xmlns:a="http://schemas.openxmlformats.org/drawingml/2006/main">
            <a:pPr>
              <a:defRPr sz="5100" b="1">
                <a:solidFill>
                  <a:srgbClr val="F6F6F2"/>
                </a:solidFill>
                <a:latin typeface="Helvetica Neue"/>
                <a:ea typeface="Helvetica Neue"/>
                <a:cs typeface="Helvetica Neue"/>
              </a:defRPr>
            </a:pPr>
            <a:r>
              <a:rPr sz="5100" b="1">
                <a:solidFill>
                  <a:srgbClr val="F6F6F2"/>
                </a:solidFill>
                <a:latin typeface="Helvetica Neue"/>
                <a:ea typeface="Helvetica Neue"/>
                <a:cs typeface="Helvetica Neue"/>
              </a:rPr>
              <a:t>for Shure</a:t>
            </a:r>
          </a:p>
        </p:txBody>
      </p:sp>
      <p:sp>
        <p:nvSpPr>
          <p:cNvPr id="4" name="">
            <a:extLst xmlns:a="http://schemas.openxmlformats.org/drawingml/2006/main">
              <a:ext uri="{FF2B5EF4-FFF2-40B4-BE49-F238E27FC236}">
                <a16:creationId xmlns:a16="http://schemas.microsoft.com/office/drawing/2014/main" id="{8994D576-F8DE-4B18-A532-0D6A8CC81F5D}"/>
              </a:ext>
            </a:extLst>
          </p:cNvPr>
          <p:cNvSpPr>
            <a:spLocks xmlns:a="http://schemas.openxmlformats.org/drawingml/2006/main" noGrp="1"/>
          </p:cNvSpPr>
          <p:nvPr/>
        </p:nvSpPr>
        <p:spPr>
          <a:xfrm xmlns:a="http://schemas.openxmlformats.org/drawingml/2006/main">
            <a:off x="609600" y="3524250"/>
            <a:ext cx="723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B2FF00"/>
                </a:solidFill>
                <a:latin typeface="Helvetica Neue"/>
                <a:ea typeface="Helvetica Neue"/>
                <a:cs typeface="Helvetica Neue"/>
              </a:defRPr>
            </a:pPr>
            <a:r>
              <a:rPr sz="2850" b="0">
                <a:solidFill>
                  <a:srgbClr val="B2FF00"/>
                </a:solidFill>
                <a:latin typeface="Helvetica Neue"/>
                <a:ea typeface="Helvetica Neue"/>
                <a:cs typeface="Helvetica Neue"/>
              </a:rPr>
              <a:t>Shared device logic.</a:t>
            </a:r>
          </a:p>
          <a:p xmlns:a="http://schemas.openxmlformats.org/drawingml/2006/main">
            <a:pPr>
              <a:defRPr sz="2850" b="0">
                <a:solidFill>
                  <a:srgbClr val="B2FF00"/>
                </a:solidFill>
                <a:latin typeface="Helvetica Neue"/>
                <a:ea typeface="Helvetica Neue"/>
                <a:cs typeface="Helvetica Neue"/>
              </a:defRPr>
            </a:pPr>
            <a:r>
              <a:rPr sz="2850" b="0">
                <a:solidFill>
                  <a:srgbClr val="B2FF00"/>
                </a:solidFill>
                <a:latin typeface="Helvetica Neue"/>
                <a:ea typeface="Helvetica Neue"/>
                <a:cs typeface="Helvetica Neue"/>
              </a:rPr>
              <a:t>Native flexibility.</a:t>
            </a:r>
          </a:p>
        </p:txBody>
      </p:sp>
      <p:sp>
        <p:nvSpPr>
          <p:cNvPr id="5" name="">
            <a:extLst xmlns:a="http://schemas.openxmlformats.org/drawingml/2006/main">
              <a:ext uri="{FF2B5EF4-FFF2-40B4-BE49-F238E27FC236}">
                <a16:creationId xmlns:a16="http://schemas.microsoft.com/office/drawing/2014/main" id="{22DDDD36-08D1-4AF1-9F07-C539F3722481}"/>
              </a:ext>
            </a:extLst>
          </p:cNvPr>
          <p:cNvSpPr>
            <a:spLocks xmlns:a="http://schemas.openxmlformats.org/drawingml/2006/main" noGrp="1"/>
          </p:cNvSpPr>
          <p:nvPr/>
        </p:nvSpPr>
        <p:spPr>
          <a:xfrm xmlns:a="http://schemas.openxmlformats.org/drawingml/2006/main">
            <a:off x="609600" y="5324475"/>
            <a:ext cx="838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0AC"/>
                </a:solidFill>
                <a:latin typeface="Helvetica Neue"/>
                <a:ea typeface="Helvetica Neue"/>
                <a:cs typeface="Helvetica Neue"/>
              </a:defRPr>
            </a:pPr>
            <a:r>
              <a:rPr sz="1875" b="0">
                <a:solidFill>
                  <a:srgbClr val="ACB0AC"/>
                </a:solidFill>
                <a:latin typeface="Helvetica Neue"/>
                <a:ea typeface="Helvetica Neue"/>
                <a:cs typeface="Helvetica Neue"/>
              </a:rPr>
              <a:t>Wireless Channels initiative</a:t>
            </a:r>
          </a:p>
          <a:p xmlns:a="http://schemas.openxmlformats.org/drawingml/2006/main">
            <a:pPr>
              <a:defRPr sz="1875" b="0">
                <a:solidFill>
                  <a:srgbClr val="ACB0AC"/>
                </a:solidFill>
                <a:latin typeface="Helvetica Neue"/>
                <a:ea typeface="Helvetica Neue"/>
                <a:cs typeface="Helvetica Neue"/>
              </a:defRPr>
            </a:pPr>
            <a:r>
              <a:rPr sz="1875" b="0">
                <a:solidFill>
                  <a:srgbClr val="ACB0AC"/>
                </a:solidFill>
                <a:latin typeface="Helvetica Neue"/>
                <a:ea typeface="Helvetica Neue"/>
                <a:cs typeface="Helvetica Neue"/>
              </a:rPr>
              <a:t>Leadership proposal and PoC demonstration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a9a7d3b35a54627"/>
          <a:stretch xmlns:a="http://schemas.openxmlformats.org/drawingml/2006/main"/>
        </p:blipFill>
        <p:spPr>
          <a:xfrm xmlns:a="http://schemas.openxmlformats.org/drawingml/2006/main">
            <a:off x="8829675" y="2038350"/>
            <a:ext cx="2667000" cy="2667000"/>
          </a:xfrm>
          <a:prstGeom xmlns:a="http://schemas.openxmlformats.org/drawingml/2006/main" prst="rect">
            <a:avLst/>
          </a:prstGeom>
        </p:spPr>
      </p:pic>
    </p:spTree>
    <p:extLst>
      <p:ext uri="{BB962C8B-B14F-4D97-AF65-F5344CB8AC3E}">
        <p14:creationId xmlns:p14="http://schemas.microsoft.com/office/powerpoint/2010/main" val="1367737402"/>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5203B9-1092-4BD3-BCEA-A24B7D6CA3FC}"/>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The proposal</a:t>
            </a:r>
          </a:p>
        </p:txBody>
      </p:sp>
      <p:sp>
        <p:nvSpPr>
          <p:cNvPr id="2" name="">
            <a:extLst xmlns:a="http://schemas.openxmlformats.org/drawingml/2006/main">
              <a:ext uri="{FF2B5EF4-FFF2-40B4-BE49-F238E27FC236}">
                <a16:creationId xmlns:a16="http://schemas.microsoft.com/office/drawing/2014/main" id="{3B6BD7EB-4E15-478F-9E83-5CACDECFA89A}"/>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3CB1E279-468D-40D0-9B1E-9FDC6504A325}"/>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7B902FF-B77F-4AAB-A9BF-AB188796615D}"/>
              </a:ext>
            </a:extLst>
          </p:cNvPr>
          <p:cNvSpPr>
            <a:spLocks xmlns:a="http://schemas.openxmlformats.org/drawingml/2006/main" noGrp="1"/>
          </p:cNvSpPr>
          <p:nvPr/>
        </p:nvSpPr>
        <p:spPr>
          <a:xfrm xmlns:a="http://schemas.openxmlformats.org/drawingml/2006/main">
            <a:off x="609600" y="1952625"/>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2FF00"/>
                </a:solidFill>
                <a:latin typeface="Helvetica Neue"/>
                <a:ea typeface="Helvetica Neue"/>
                <a:cs typeface="Helvetica Neue"/>
              </a:defRPr>
            </a:pPr>
            <a:r>
              <a:rPr sz="3675" b="1">
                <a:solidFill>
                  <a:srgbClr val="B2FF00"/>
                </a:solidFill>
                <a:latin typeface="Helvetica Neue"/>
                <a:ea typeface="Helvetica Neue"/>
                <a:cs typeface="Helvetica Neue"/>
              </a:rPr>
              <a:t>A shared Kotlin core inside</a:t>
            </a:r>
          </a:p>
          <a:p xmlns:a="http://schemas.openxmlformats.org/drawingml/2006/main">
            <a:pPr>
              <a:defRPr sz="3675" b="1">
                <a:solidFill>
                  <a:srgbClr val="B2FF00"/>
                </a:solidFill>
                <a:latin typeface="Helvetica Neue"/>
                <a:ea typeface="Helvetica Neue"/>
                <a:cs typeface="Helvetica Neue"/>
              </a:defRPr>
            </a:pPr>
            <a:r>
              <a:rPr sz="3675" b="1">
                <a:solidFill>
                  <a:srgbClr val="B2FF00"/>
                </a:solidFill>
                <a:latin typeface="Helvetica Neue"/>
                <a:ea typeface="Helvetica Neue"/>
                <a:cs typeface="Helvetica Neue"/>
              </a:rPr>
              <a:t>our existing native applications</a:t>
            </a:r>
          </a:p>
        </p:txBody>
      </p:sp>
      <p:sp>
        <p:nvSpPr>
          <p:cNvPr id="5" name="">
            <a:extLst xmlns:a="http://schemas.openxmlformats.org/drawingml/2006/main">
              <a:ext uri="{FF2B5EF4-FFF2-40B4-BE49-F238E27FC236}">
                <a16:creationId xmlns:a16="http://schemas.microsoft.com/office/drawing/2014/main" id="{04DE874D-E0C0-4B6A-AC33-D0DFBF663247}"/>
              </a:ext>
            </a:extLst>
          </p:cNvPr>
          <p:cNvSpPr>
            <a:spLocks xmlns:a="http://schemas.openxmlformats.org/drawingml/2006/main" noGrp="1"/>
          </p:cNvSpPr>
          <p:nvPr/>
        </p:nvSpPr>
        <p:spPr>
          <a:xfrm xmlns:a="http://schemas.openxmlformats.org/drawingml/2006/main">
            <a:off x="609600" y="3600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2FF00"/>
                </a:solidFill>
                <a:latin typeface="Helvetica Neue"/>
                <a:ea typeface="Helvetica Neue"/>
                <a:cs typeface="Helvetica Neue"/>
              </a:defRPr>
            </a:pPr>
            <a:r>
              <a:rPr sz="2250" b="1">
                <a:solidFill>
                  <a:srgbClr val="B2FF00"/>
                </a:solidFill>
                <a:latin typeface="Helvetica Neue"/>
                <a:ea typeface="Helvetica Neue"/>
                <a:cs typeface="Helvetica Neue"/>
              </a:rPr>
              <a:t>Preserve the investment</a:t>
            </a:r>
          </a:p>
        </p:txBody>
      </p:sp>
      <p:sp>
        <p:nvSpPr>
          <p:cNvPr id="6" name="">
            <a:extLst xmlns:a="http://schemas.openxmlformats.org/drawingml/2006/main">
              <a:ext uri="{FF2B5EF4-FFF2-40B4-BE49-F238E27FC236}">
                <a16:creationId xmlns:a16="http://schemas.microsoft.com/office/drawing/2014/main" id="{D65B09A2-F2DA-4638-8C71-97313D125A3F}"/>
              </a:ext>
            </a:extLst>
          </p:cNvPr>
          <p:cNvSpPr>
            <a:spLocks xmlns:a="http://schemas.openxmlformats.org/drawingml/2006/main" noGrp="1"/>
          </p:cNvSpPr>
          <p:nvPr/>
        </p:nvSpPr>
        <p:spPr>
          <a:xfrm xmlns:a="http://schemas.openxmlformats.org/drawingml/2006/main">
            <a:off x="609600" y="4162425"/>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Retain native screens and platform capabilities.</a:t>
            </a:r>
          </a:p>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Extract one device workflow at a time.</a:t>
            </a:r>
          </a:p>
        </p:txBody>
      </p:sp>
      <p:sp>
        <p:nvSpPr>
          <p:cNvPr id="7" name="">
            <a:extLst xmlns:a="http://schemas.openxmlformats.org/drawingml/2006/main">
              <a:ext uri="{FF2B5EF4-FFF2-40B4-BE49-F238E27FC236}">
                <a16:creationId xmlns:a16="http://schemas.microsoft.com/office/drawing/2014/main" id="{C1A962D0-4074-4F34-BAA7-7C415A90488F}"/>
              </a:ext>
            </a:extLst>
          </p:cNvPr>
          <p:cNvSpPr>
            <a:spLocks xmlns:a="http://schemas.openxmlformats.org/drawingml/2006/main" noGrp="1"/>
          </p:cNvSpPr>
          <p:nvPr/>
        </p:nvSpPr>
        <p:spPr>
          <a:xfrm xmlns:a="http://schemas.openxmlformats.org/drawingml/2006/main">
            <a:off x="6438900" y="360045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2FF00"/>
                </a:solidFill>
                <a:latin typeface="Helvetica Neue"/>
                <a:ea typeface="Helvetica Neue"/>
                <a:cs typeface="Helvetica Neue"/>
              </a:defRPr>
            </a:pPr>
            <a:r>
              <a:rPr sz="2250" b="1">
                <a:solidFill>
                  <a:srgbClr val="B2FF00"/>
                </a:solidFill>
                <a:latin typeface="Helvetica Neue"/>
                <a:ea typeface="Helvetica Neue"/>
                <a:cs typeface="Helvetica Neue"/>
              </a:rPr>
              <a:t>Validate the value</a:t>
            </a:r>
          </a:p>
        </p:txBody>
      </p:sp>
      <p:sp>
        <p:nvSpPr>
          <p:cNvPr id="8" name="">
            <a:extLst xmlns:a="http://schemas.openxmlformats.org/drawingml/2006/main">
              <a:ext uri="{FF2B5EF4-FFF2-40B4-BE49-F238E27FC236}">
                <a16:creationId xmlns:a16="http://schemas.microsoft.com/office/drawing/2014/main" id="{C7F39831-B0E5-4F4A-9EAF-1175763E3306}"/>
              </a:ext>
            </a:extLst>
          </p:cNvPr>
          <p:cNvSpPr>
            <a:spLocks xmlns:a="http://schemas.openxmlformats.org/drawingml/2006/main" noGrp="1"/>
          </p:cNvSpPr>
          <p:nvPr/>
        </p:nvSpPr>
        <p:spPr>
          <a:xfrm xmlns:a="http://schemas.openxmlformats.org/drawingml/2006/main">
            <a:off x="6438900" y="4162425"/>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Use the PoC to test real device behavior.</a:t>
            </a:r>
          </a:p>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Measure delivery effort before scaling.</a:t>
            </a:r>
          </a:p>
        </p:txBody>
      </p:sp>
    </p:spTree>
    <p:extLst>
      <p:ext uri="{BB962C8B-B14F-4D97-AF65-F5344CB8AC3E}">
        <p14:creationId xmlns:p14="http://schemas.microsoft.com/office/powerpoint/2010/main" val="2138300428"/>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3251F5-71B1-4694-A902-9DFBD5E7913F}"/>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What KMP shares</a:t>
            </a:r>
          </a:p>
        </p:txBody>
      </p:sp>
      <p:sp>
        <p:nvSpPr>
          <p:cNvPr id="2" name="">
            <a:extLst xmlns:a="http://schemas.openxmlformats.org/drawingml/2006/main">
              <a:ext uri="{FF2B5EF4-FFF2-40B4-BE49-F238E27FC236}">
                <a16:creationId xmlns:a16="http://schemas.microsoft.com/office/drawing/2014/main" id="{44998E92-969C-4459-A4A9-C241A4CF14B7}"/>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440EE05F-3EB9-4F78-908E-C9218340AA2E}"/>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7601000C-15E9-4FF7-A0A5-0229DE8DFDC3}"/>
              </a:ext>
            </a:extLst>
          </p:cNvPr>
          <p:cNvSpPr>
            <a:spLocks xmlns:a="http://schemas.openxmlformats.org/drawingml/2006/main" noGrp="1"/>
          </p:cNvSpPr>
          <p:nvPr/>
        </p:nvSpPr>
        <p:spPr>
          <a:xfrm xmlns:a="http://schemas.openxmlformats.org/drawingml/2006/main">
            <a:off x="609600" y="1971675"/>
            <a:ext cx="5095875" cy="685800"/>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5" name="">
            <a:extLst xmlns:a="http://schemas.openxmlformats.org/drawingml/2006/main">
              <a:ext uri="{FF2B5EF4-FFF2-40B4-BE49-F238E27FC236}">
                <a16:creationId xmlns:a16="http://schemas.microsoft.com/office/drawing/2014/main" id="{C4ED17B5-11F7-46DB-B8F4-D6B8BC3CE15D}"/>
              </a:ext>
            </a:extLst>
          </p:cNvPr>
          <p:cNvSpPr>
            <a:spLocks xmlns:a="http://schemas.openxmlformats.org/drawingml/2006/main" noGrp="1"/>
          </p:cNvSpPr>
          <p:nvPr/>
        </p:nvSpPr>
        <p:spPr>
          <a:xfrm xmlns:a="http://schemas.openxmlformats.org/drawingml/2006/main">
            <a:off x="781050" y="2143125"/>
            <a:ext cx="4752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Android native UI</a:t>
            </a:r>
          </a:p>
        </p:txBody>
      </p:sp>
      <p:sp>
        <p:nvSpPr>
          <p:cNvPr id="6" name="">
            <a:extLst xmlns:a="http://schemas.openxmlformats.org/drawingml/2006/main">
              <a:ext uri="{FF2B5EF4-FFF2-40B4-BE49-F238E27FC236}">
                <a16:creationId xmlns:a16="http://schemas.microsoft.com/office/drawing/2014/main" id="{9517FB93-986E-49A5-BB51-275955640C9B}"/>
              </a:ext>
            </a:extLst>
          </p:cNvPr>
          <p:cNvSpPr>
            <a:spLocks xmlns:a="http://schemas.openxmlformats.org/drawingml/2006/main" noGrp="1"/>
          </p:cNvSpPr>
          <p:nvPr/>
        </p:nvSpPr>
        <p:spPr>
          <a:xfrm xmlns:a="http://schemas.openxmlformats.org/drawingml/2006/main">
            <a:off x="6438900" y="1971675"/>
            <a:ext cx="5143500" cy="685800"/>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7" name="">
            <a:extLst xmlns:a="http://schemas.openxmlformats.org/drawingml/2006/main">
              <a:ext uri="{FF2B5EF4-FFF2-40B4-BE49-F238E27FC236}">
                <a16:creationId xmlns:a16="http://schemas.microsoft.com/office/drawing/2014/main" id="{733D7D4B-9215-4F97-AD13-C801157734F1}"/>
              </a:ext>
            </a:extLst>
          </p:cNvPr>
          <p:cNvSpPr>
            <a:spLocks xmlns:a="http://schemas.openxmlformats.org/drawingml/2006/main" noGrp="1"/>
          </p:cNvSpPr>
          <p:nvPr/>
        </p:nvSpPr>
        <p:spPr>
          <a:xfrm xmlns:a="http://schemas.openxmlformats.org/drawingml/2006/main">
            <a:off x="6610350" y="2143125"/>
            <a:ext cx="4800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iOS native UI</a:t>
            </a:r>
          </a:p>
        </p:txBody>
      </p:sp>
      <p:sp>
        <p:nvSpPr>
          <p:cNvPr id="8" name="">
            <a:extLst xmlns:a="http://schemas.openxmlformats.org/drawingml/2006/main">
              <a:ext uri="{FF2B5EF4-FFF2-40B4-BE49-F238E27FC236}">
                <a16:creationId xmlns:a16="http://schemas.microsoft.com/office/drawing/2014/main" id="{00E41514-AEC1-4BF9-BD01-2D80CD0D20AA}"/>
              </a:ext>
            </a:extLst>
          </p:cNvPr>
          <p:cNvSpPr>
            <a:spLocks xmlns:a="http://schemas.openxmlformats.org/drawingml/2006/main" noGrp="1"/>
          </p:cNvSpPr>
          <p:nvPr/>
        </p:nvSpPr>
        <p:spPr>
          <a:xfrm xmlns:a="http://schemas.openxmlformats.org/drawingml/2006/main">
            <a:off x="609600" y="3228975"/>
            <a:ext cx="10972800" cy="838200"/>
          </a:xfrm>
          <a:prstGeom xmlns:a="http://schemas.openxmlformats.org/drawingml/2006/main" prst="rect">
            <a:avLst/>
          </a:prstGeom>
          <a:solidFill xmlns:a="http://schemas.openxmlformats.org/drawingml/2006/main">
            <a:srgbClr val="B2FF00"/>
          </a:solidFill>
          <a:ln xmlns:a="http://schemas.openxmlformats.org/drawingml/2006/main" w="9525">
            <a:solidFill>
              <a:srgbClr val="363D36"/>
            </a:solidFill>
          </a:ln>
        </p:spPr>
      </p:sp>
      <p:sp>
        <p:nvSpPr>
          <p:cNvPr id="9" name="">
            <a:extLst xmlns:a="http://schemas.openxmlformats.org/drawingml/2006/main">
              <a:ext uri="{FF2B5EF4-FFF2-40B4-BE49-F238E27FC236}">
                <a16:creationId xmlns:a16="http://schemas.microsoft.com/office/drawing/2014/main" id="{D202A732-B242-4A42-8266-E9E18F43941A}"/>
              </a:ext>
            </a:extLst>
          </p:cNvPr>
          <p:cNvSpPr>
            <a:spLocks xmlns:a="http://schemas.openxmlformats.org/drawingml/2006/main" noGrp="1"/>
          </p:cNvSpPr>
          <p:nvPr/>
        </p:nvSpPr>
        <p:spPr>
          <a:xfrm xmlns:a="http://schemas.openxmlformats.org/drawingml/2006/main">
            <a:off x="781050" y="3400425"/>
            <a:ext cx="10629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50505"/>
                </a:solidFill>
                <a:latin typeface="Helvetica Neue"/>
                <a:ea typeface="Helvetica Neue"/>
                <a:cs typeface="Helvetica Neue"/>
              </a:defRPr>
            </a:pPr>
            <a:r>
              <a:rPr sz="1875" b="1">
                <a:solidFill>
                  <a:srgbClr val="050505"/>
                </a:solidFill>
                <a:latin typeface="Helvetica Neue"/>
                <a:ea typeface="Helvetica Neue"/>
                <a:cs typeface="Helvetica Neue"/>
              </a:rPr>
              <a:t>Shared Kotlin logic</a:t>
            </a:r>
          </a:p>
        </p:txBody>
      </p:sp>
      <p:sp>
        <p:nvSpPr>
          <p:cNvPr id="10" name="">
            <a:extLst xmlns:a="http://schemas.openxmlformats.org/drawingml/2006/main">
              <a:ext uri="{FF2B5EF4-FFF2-40B4-BE49-F238E27FC236}">
                <a16:creationId xmlns:a16="http://schemas.microsoft.com/office/drawing/2014/main" id="{A2FAB0E0-852F-406B-B337-B25785656311}"/>
              </a:ext>
            </a:extLst>
          </p:cNvPr>
          <p:cNvSpPr>
            <a:spLocks xmlns:a="http://schemas.openxmlformats.org/drawingml/2006/main" noGrp="1"/>
          </p:cNvSpPr>
          <p:nvPr/>
        </p:nvSpPr>
        <p:spPr>
          <a:xfrm xmlns:a="http://schemas.openxmlformats.org/drawingml/2006/main">
            <a:off x="800100" y="4305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Device models     Use cases     Requests     Streams     Persistence</a:t>
            </a:r>
          </a:p>
        </p:txBody>
      </p:sp>
      <p:sp>
        <p:nvSpPr>
          <p:cNvPr id="11" name="">
            <a:extLst xmlns:a="http://schemas.openxmlformats.org/drawingml/2006/main">
              <a:ext uri="{FF2B5EF4-FFF2-40B4-BE49-F238E27FC236}">
                <a16:creationId xmlns:a16="http://schemas.microsoft.com/office/drawing/2014/main" id="{361B5D5F-0713-4029-85BE-C7FF421ADBF6}"/>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KMP shares the core. Compose Multiplatform is a separate UI choice.</a:t>
            </a:r>
          </a:p>
        </p:txBody>
      </p:sp>
    </p:spTree>
    <p:extLst>
      <p:ext uri="{BB962C8B-B14F-4D97-AF65-F5344CB8AC3E}">
        <p14:creationId xmlns:p14="http://schemas.microsoft.com/office/powerpoint/2010/main" val="2044233389"/>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C2053B-76D6-4949-975A-7D60835025C8}"/>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Why Shure, why now</a:t>
            </a:r>
          </a:p>
        </p:txBody>
      </p:sp>
      <p:sp>
        <p:nvSpPr>
          <p:cNvPr id="2" name="">
            <a:extLst xmlns:a="http://schemas.openxmlformats.org/drawingml/2006/main">
              <a:ext uri="{FF2B5EF4-FFF2-40B4-BE49-F238E27FC236}">
                <a16:creationId xmlns:a16="http://schemas.microsoft.com/office/drawing/2014/main" id="{D30A5B7C-2003-4FA7-BE75-49C6817D0445}"/>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309F8E30-3972-4290-8A6D-8C679789354A}"/>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CAB3155-431B-44C7-B043-50F82D767ACA}"/>
              </a:ext>
            </a:extLst>
          </p:cNvPr>
          <p:cNvSpPr>
            <a:spLocks xmlns:a="http://schemas.openxmlformats.org/drawingml/2006/main" noGrp="1"/>
          </p:cNvSpPr>
          <p:nvPr/>
        </p:nvSpPr>
        <p:spPr>
          <a:xfrm xmlns:a="http://schemas.openxmlformats.org/drawingml/2006/main">
            <a:off x="609600" y="195262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2FF00"/>
                </a:solidFill>
                <a:latin typeface="Helvetica Neue"/>
                <a:ea typeface="Helvetica Neue"/>
                <a:cs typeface="Helvetica Neue"/>
              </a:defRPr>
            </a:pPr>
            <a:r>
              <a:rPr sz="2250" b="1">
                <a:solidFill>
                  <a:srgbClr val="B2FF00"/>
                </a:solidFill>
                <a:latin typeface="Helvetica Neue"/>
                <a:ea typeface="Helvetica Neue"/>
                <a:cs typeface="Helvetica Neue"/>
              </a:rPr>
              <a:t>The device exposes an API</a:t>
            </a:r>
          </a:p>
        </p:txBody>
      </p:sp>
      <p:sp>
        <p:nvSpPr>
          <p:cNvPr id="5" name="">
            <a:extLst xmlns:a="http://schemas.openxmlformats.org/drawingml/2006/main">
              <a:ext uri="{FF2B5EF4-FFF2-40B4-BE49-F238E27FC236}">
                <a16:creationId xmlns:a16="http://schemas.microsoft.com/office/drawing/2014/main" id="{DBED8CA3-20CE-4D75-94C3-2397CDC6D4AF}"/>
              </a:ext>
            </a:extLst>
          </p:cNvPr>
          <p:cNvSpPr>
            <a:spLocks xmlns:a="http://schemas.openxmlformats.org/drawingml/2006/main" noGrp="1"/>
          </p:cNvSpPr>
          <p:nvPr/>
        </p:nvSpPr>
        <p:spPr>
          <a:xfrm xmlns:a="http://schemas.openxmlformats.org/drawingml/2006/main">
            <a:off x="609600" y="2514600"/>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A local server provides requests and live messages through a protocol contract.</a:t>
            </a:r>
          </a:p>
        </p:txBody>
      </p:sp>
      <p:sp>
        <p:nvSpPr>
          <p:cNvPr id="6" name="">
            <a:extLst xmlns:a="http://schemas.openxmlformats.org/drawingml/2006/main">
              <a:ext uri="{FF2B5EF4-FFF2-40B4-BE49-F238E27FC236}">
                <a16:creationId xmlns:a16="http://schemas.microsoft.com/office/drawing/2014/main" id="{DD96C7F6-704E-40F4-ADE5-66A74C5E3E3E}"/>
              </a:ext>
            </a:extLst>
          </p:cNvPr>
          <p:cNvSpPr>
            <a:spLocks xmlns:a="http://schemas.openxmlformats.org/drawingml/2006/main" noGrp="1"/>
          </p:cNvSpPr>
          <p:nvPr/>
        </p:nvSpPr>
        <p:spPr>
          <a:xfrm xmlns:a="http://schemas.openxmlformats.org/drawingml/2006/main">
            <a:off x="6438900" y="19526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2FF00"/>
                </a:solidFill>
                <a:latin typeface="Helvetica Neue"/>
                <a:ea typeface="Helvetica Neue"/>
                <a:cs typeface="Helvetica Neue"/>
              </a:defRPr>
            </a:pPr>
            <a:r>
              <a:rPr sz="2250" b="1">
                <a:solidFill>
                  <a:srgbClr val="B2FF00"/>
                </a:solidFill>
                <a:latin typeface="Helvetica Neue"/>
                <a:ea typeface="Helvetica Neue"/>
                <a:cs typeface="Helvetica Neue"/>
              </a:rPr>
              <a:t>We already know Kotlin</a:t>
            </a:r>
          </a:p>
        </p:txBody>
      </p:sp>
      <p:sp>
        <p:nvSpPr>
          <p:cNvPr id="7" name="">
            <a:extLst xmlns:a="http://schemas.openxmlformats.org/drawingml/2006/main">
              <a:ext uri="{FF2B5EF4-FFF2-40B4-BE49-F238E27FC236}">
                <a16:creationId xmlns:a16="http://schemas.microsoft.com/office/drawing/2014/main" id="{3AFC8E11-4848-4724-A458-EBCF267731E3}"/>
              </a:ext>
            </a:extLst>
          </p:cNvPr>
          <p:cNvSpPr>
            <a:spLocks xmlns:a="http://schemas.openxmlformats.org/drawingml/2006/main" noGrp="1"/>
          </p:cNvSpPr>
          <p:nvPr/>
        </p:nvSpPr>
        <p:spPr>
          <a:xfrm xmlns:a="http://schemas.openxmlformats.org/drawingml/2006/main">
            <a:off x="6438900" y="2514600"/>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Existing Android expertise supports migration of compatible logic into shared code.</a:t>
            </a:r>
          </a:p>
        </p:txBody>
      </p:sp>
      <p:sp>
        <p:nvSpPr>
          <p:cNvPr id="8" name="">
            <a:extLst xmlns:a="http://schemas.openxmlformats.org/drawingml/2006/main">
              <a:ext uri="{FF2B5EF4-FFF2-40B4-BE49-F238E27FC236}">
                <a16:creationId xmlns:a16="http://schemas.microsoft.com/office/drawing/2014/main" id="{098AC6C6-07BB-49AD-B852-A31022E2C1DB}"/>
              </a:ext>
            </a:extLst>
          </p:cNvPr>
          <p:cNvSpPr>
            <a:spLocks xmlns:a="http://schemas.openxmlformats.org/drawingml/2006/main" noGrp="1"/>
          </p:cNvSpPr>
          <p:nvPr/>
        </p:nvSpPr>
        <p:spPr>
          <a:xfrm xmlns:a="http://schemas.openxmlformats.org/drawingml/2006/main">
            <a:off x="609600" y="40957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2FF00"/>
                </a:solidFill>
                <a:latin typeface="Helvetica Neue"/>
                <a:ea typeface="Helvetica Neue"/>
                <a:cs typeface="Helvetica Neue"/>
              </a:defRPr>
            </a:pPr>
            <a:r>
              <a:rPr sz="2250" b="1">
                <a:solidFill>
                  <a:srgbClr val="B2FF00"/>
                </a:solidFill>
                <a:latin typeface="Helvetica Neue"/>
                <a:ea typeface="Helvetica Neue"/>
                <a:cs typeface="Helvetica Neue"/>
              </a:rPr>
              <a:t>Native flexibility still matters</a:t>
            </a:r>
          </a:p>
        </p:txBody>
      </p:sp>
      <p:sp>
        <p:nvSpPr>
          <p:cNvPr id="9" name="">
            <a:extLst xmlns:a="http://schemas.openxmlformats.org/drawingml/2006/main">
              <a:ext uri="{FF2B5EF4-FFF2-40B4-BE49-F238E27FC236}">
                <a16:creationId xmlns:a16="http://schemas.microsoft.com/office/drawing/2014/main" id="{332578CA-508E-401F-A7F5-AE39C9FD3EED}"/>
              </a:ext>
            </a:extLst>
          </p:cNvPr>
          <p:cNvSpPr>
            <a:spLocks xmlns:a="http://schemas.openxmlformats.org/drawingml/2006/main" noGrp="1"/>
          </p:cNvSpPr>
          <p:nvPr/>
        </p:nvSpPr>
        <p:spPr>
          <a:xfrm xmlns:a="http://schemas.openxmlformats.org/drawingml/2006/main">
            <a:off x="609600" y="4657725"/>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Future discovery, Bluetooth and OS integration can use platform implementations.</a:t>
            </a:r>
          </a:p>
        </p:txBody>
      </p:sp>
      <p:sp>
        <p:nvSpPr>
          <p:cNvPr id="10" name="">
            <a:extLst xmlns:a="http://schemas.openxmlformats.org/drawingml/2006/main">
              <a:ext uri="{FF2B5EF4-FFF2-40B4-BE49-F238E27FC236}">
                <a16:creationId xmlns:a16="http://schemas.microsoft.com/office/drawing/2014/main" id="{6D7A9D8D-7500-4DBE-A4C4-CECB0FC761C1}"/>
              </a:ext>
            </a:extLst>
          </p:cNvPr>
          <p:cNvSpPr>
            <a:spLocks xmlns:a="http://schemas.openxmlformats.org/drawingml/2006/main" noGrp="1"/>
          </p:cNvSpPr>
          <p:nvPr/>
        </p:nvSpPr>
        <p:spPr>
          <a:xfrm xmlns:a="http://schemas.openxmlformats.org/drawingml/2006/main">
            <a:off x="6438900" y="409575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2FF00"/>
                </a:solidFill>
                <a:latin typeface="Helvetica Neue"/>
                <a:ea typeface="Helvetica Neue"/>
                <a:cs typeface="Helvetica Neue"/>
              </a:defRPr>
            </a:pPr>
            <a:r>
              <a:rPr sz="2250" b="1">
                <a:solidFill>
                  <a:srgbClr val="B2FF00"/>
                </a:solidFill>
                <a:latin typeface="Helvetica Neue"/>
                <a:ea typeface="Helvetica Neue"/>
                <a:cs typeface="Helvetica Neue"/>
              </a:rPr>
              <a:t>The foundation already exists</a:t>
            </a:r>
          </a:p>
        </p:txBody>
      </p:sp>
      <p:sp>
        <p:nvSpPr>
          <p:cNvPr id="11" name="">
            <a:extLst xmlns:a="http://schemas.openxmlformats.org/drawingml/2006/main">
              <a:ext uri="{FF2B5EF4-FFF2-40B4-BE49-F238E27FC236}">
                <a16:creationId xmlns:a16="http://schemas.microsoft.com/office/drawing/2014/main" id="{1FC45E6B-5CF4-495E-B63A-0B77E39C0CC9}"/>
              </a:ext>
            </a:extLst>
          </p:cNvPr>
          <p:cNvSpPr>
            <a:spLocks xmlns:a="http://schemas.openxmlformats.org/drawingml/2006/main" noGrp="1"/>
          </p:cNvSpPr>
          <p:nvPr/>
        </p:nvSpPr>
        <p:spPr>
          <a:xfrm xmlns:a="http://schemas.openxmlformats.org/drawingml/2006/main">
            <a:off x="6438900" y="4657725"/>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The PoC has modules for networking, use cases, logging and local persistence.</a:t>
            </a:r>
          </a:p>
        </p:txBody>
      </p:sp>
    </p:spTree>
    <p:extLst>
      <p:ext uri="{BB962C8B-B14F-4D97-AF65-F5344CB8AC3E}">
        <p14:creationId xmlns:p14="http://schemas.microsoft.com/office/powerpoint/2010/main" val="1624151500"/>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AD55294-7105-4A16-A52E-30C29FDE48F1}"/>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A simpler device communication boundary</a:t>
            </a:r>
          </a:p>
        </p:txBody>
      </p:sp>
      <p:sp>
        <p:nvSpPr>
          <p:cNvPr id="2" name="">
            <a:extLst xmlns:a="http://schemas.openxmlformats.org/drawingml/2006/main">
              <a:ext uri="{FF2B5EF4-FFF2-40B4-BE49-F238E27FC236}">
                <a16:creationId xmlns:a16="http://schemas.microsoft.com/office/drawing/2014/main" id="{6ADF4CD9-E62E-4EC5-878E-F8EC49BEEF05}"/>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09F7D781-22BE-4607-A174-B53E8C77D983}"/>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FA3D225-77CC-4B66-8EB0-FE62DF4F6B3C}"/>
              </a:ext>
            </a:extLst>
          </p:cNvPr>
          <p:cNvSpPr>
            <a:spLocks xmlns:a="http://schemas.openxmlformats.org/drawingml/2006/main" noGrp="1"/>
          </p:cNvSpPr>
          <p:nvPr/>
        </p:nvSpPr>
        <p:spPr>
          <a:xfrm xmlns:a="http://schemas.openxmlformats.org/drawingml/2006/main">
            <a:off x="609600" y="18764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CB0AC"/>
                </a:solidFill>
                <a:latin typeface="Helvetica Neue"/>
                <a:ea typeface="Helvetica Neue"/>
                <a:cs typeface="Helvetica Neue"/>
              </a:defRPr>
            </a:pPr>
            <a:r>
              <a:rPr sz="2175" b="1">
                <a:solidFill>
                  <a:srgbClr val="ACB0AC"/>
                </a:solidFill>
                <a:latin typeface="Helvetica Neue"/>
                <a:ea typeface="Helvetica Neue"/>
                <a:cs typeface="Helvetica Neue"/>
              </a:rPr>
              <a:t>Existing integration</a:t>
            </a:r>
          </a:p>
        </p:txBody>
      </p:sp>
      <p:sp>
        <p:nvSpPr>
          <p:cNvPr id="5" name="">
            <a:extLst xmlns:a="http://schemas.openxmlformats.org/drawingml/2006/main">
              <a:ext uri="{FF2B5EF4-FFF2-40B4-BE49-F238E27FC236}">
                <a16:creationId xmlns:a16="http://schemas.microsoft.com/office/drawing/2014/main" id="{C12DF29C-D80D-4211-82F4-872DEC20158A}"/>
              </a:ext>
            </a:extLst>
          </p:cNvPr>
          <p:cNvSpPr>
            <a:spLocks xmlns:a="http://schemas.openxmlformats.org/drawingml/2006/main" noGrp="1"/>
          </p:cNvSpPr>
          <p:nvPr/>
        </p:nvSpPr>
        <p:spPr>
          <a:xfrm xmlns:a="http://schemas.openxmlformats.org/drawingml/2006/main">
            <a:off x="609600" y="2476500"/>
            <a:ext cx="5095875" cy="685800"/>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6" name="">
            <a:extLst xmlns:a="http://schemas.openxmlformats.org/drawingml/2006/main">
              <a:ext uri="{FF2B5EF4-FFF2-40B4-BE49-F238E27FC236}">
                <a16:creationId xmlns:a16="http://schemas.microsoft.com/office/drawing/2014/main" id="{7031056B-F597-4A50-9236-D9623D644EA2}"/>
              </a:ext>
            </a:extLst>
          </p:cNvPr>
          <p:cNvSpPr>
            <a:spLocks xmlns:a="http://schemas.openxmlformats.org/drawingml/2006/main" noGrp="1"/>
          </p:cNvSpPr>
          <p:nvPr/>
        </p:nvSpPr>
        <p:spPr>
          <a:xfrm xmlns:a="http://schemas.openxmlformats.org/drawingml/2006/main">
            <a:off x="781050" y="2647950"/>
            <a:ext cx="4752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Native app</a:t>
            </a:r>
          </a:p>
        </p:txBody>
      </p:sp>
      <p:sp>
        <p:nvSpPr>
          <p:cNvPr id="7" name="">
            <a:extLst xmlns:a="http://schemas.openxmlformats.org/drawingml/2006/main">
              <a:ext uri="{FF2B5EF4-FFF2-40B4-BE49-F238E27FC236}">
                <a16:creationId xmlns:a16="http://schemas.microsoft.com/office/drawing/2014/main" id="{A01BEF74-1DDB-4B73-A475-8E22DA7A918F}"/>
              </a:ext>
            </a:extLst>
          </p:cNvPr>
          <p:cNvSpPr>
            <a:spLocks xmlns:a="http://schemas.openxmlformats.org/drawingml/2006/main" noGrp="1"/>
          </p:cNvSpPr>
          <p:nvPr/>
        </p:nvSpPr>
        <p:spPr>
          <a:xfrm xmlns:a="http://schemas.openxmlformats.org/drawingml/2006/main">
            <a:off x="609600" y="3476625"/>
            <a:ext cx="5095875" cy="685800"/>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8" name="">
            <a:extLst xmlns:a="http://schemas.openxmlformats.org/drawingml/2006/main">
              <a:ext uri="{FF2B5EF4-FFF2-40B4-BE49-F238E27FC236}">
                <a16:creationId xmlns:a16="http://schemas.microsoft.com/office/drawing/2014/main" id="{18152E54-CCB2-4637-A315-7D377D4BB715}"/>
              </a:ext>
            </a:extLst>
          </p:cNvPr>
          <p:cNvSpPr>
            <a:spLocks xmlns:a="http://schemas.openxmlformats.org/drawingml/2006/main" noGrp="1"/>
          </p:cNvSpPr>
          <p:nvPr/>
        </p:nvSpPr>
        <p:spPr>
          <a:xfrm xmlns:a="http://schemas.openxmlformats.org/drawingml/2006/main">
            <a:off x="781050" y="3648075"/>
            <a:ext cx="4752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JNI / Apollo integration path</a:t>
            </a:r>
          </a:p>
        </p:txBody>
      </p:sp>
      <p:sp>
        <p:nvSpPr>
          <p:cNvPr id="9" name="">
            <a:extLst xmlns:a="http://schemas.openxmlformats.org/drawingml/2006/main">
              <a:ext uri="{FF2B5EF4-FFF2-40B4-BE49-F238E27FC236}">
                <a16:creationId xmlns:a16="http://schemas.microsoft.com/office/drawing/2014/main" id="{4408C944-64C0-46C5-B9F2-DE5EB2397C5F}"/>
              </a:ext>
            </a:extLst>
          </p:cNvPr>
          <p:cNvSpPr>
            <a:spLocks xmlns:a="http://schemas.openxmlformats.org/drawingml/2006/main" noGrp="1"/>
          </p:cNvSpPr>
          <p:nvPr/>
        </p:nvSpPr>
        <p:spPr>
          <a:xfrm xmlns:a="http://schemas.openxmlformats.org/drawingml/2006/main">
            <a:off x="609600" y="4476750"/>
            <a:ext cx="5095875" cy="685800"/>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10" name="">
            <a:extLst xmlns:a="http://schemas.openxmlformats.org/drawingml/2006/main">
              <a:ext uri="{FF2B5EF4-FFF2-40B4-BE49-F238E27FC236}">
                <a16:creationId xmlns:a16="http://schemas.microsoft.com/office/drawing/2014/main" id="{15840274-DDF0-436A-B568-BD6A9294B88E}"/>
              </a:ext>
            </a:extLst>
          </p:cNvPr>
          <p:cNvSpPr>
            <a:spLocks xmlns:a="http://schemas.openxmlformats.org/drawingml/2006/main" noGrp="1"/>
          </p:cNvSpPr>
          <p:nvPr/>
        </p:nvSpPr>
        <p:spPr>
          <a:xfrm xmlns:a="http://schemas.openxmlformats.org/drawingml/2006/main">
            <a:off x="781050" y="4648200"/>
            <a:ext cx="4752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Device capabilities</a:t>
            </a:r>
          </a:p>
        </p:txBody>
      </p:sp>
      <p:sp>
        <p:nvSpPr>
          <p:cNvPr id="11" name="">
            <a:extLst xmlns:a="http://schemas.openxmlformats.org/drawingml/2006/main">
              <a:ext uri="{FF2B5EF4-FFF2-40B4-BE49-F238E27FC236}">
                <a16:creationId xmlns:a16="http://schemas.microsoft.com/office/drawing/2014/main" id="{2795B2E1-9355-4CFF-8D09-7ED8EB3C987E}"/>
              </a:ext>
            </a:extLst>
          </p:cNvPr>
          <p:cNvSpPr>
            <a:spLocks xmlns:a="http://schemas.openxmlformats.org/drawingml/2006/main" noGrp="1"/>
          </p:cNvSpPr>
          <p:nvPr/>
        </p:nvSpPr>
        <p:spPr>
          <a:xfrm xmlns:a="http://schemas.openxmlformats.org/drawingml/2006/main">
            <a:off x="6438900" y="187642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B2FF00"/>
                </a:solidFill>
                <a:latin typeface="Helvetica Neue"/>
                <a:ea typeface="Helvetica Neue"/>
                <a:cs typeface="Helvetica Neue"/>
              </a:defRPr>
            </a:pPr>
            <a:r>
              <a:rPr sz="2175" b="1">
                <a:solidFill>
                  <a:srgbClr val="B2FF00"/>
                </a:solidFill>
                <a:latin typeface="Helvetica Neue"/>
                <a:ea typeface="Helvetica Neue"/>
                <a:cs typeface="Helvetica Neue"/>
              </a:rPr>
              <a:t>Proposed API boundary</a:t>
            </a:r>
          </a:p>
        </p:txBody>
      </p:sp>
      <p:sp>
        <p:nvSpPr>
          <p:cNvPr id="12" name="">
            <a:extLst xmlns:a="http://schemas.openxmlformats.org/drawingml/2006/main">
              <a:ext uri="{FF2B5EF4-FFF2-40B4-BE49-F238E27FC236}">
                <a16:creationId xmlns:a16="http://schemas.microsoft.com/office/drawing/2014/main" id="{363F58E9-D196-47EB-A716-4BA3467C85CB}"/>
              </a:ext>
            </a:extLst>
          </p:cNvPr>
          <p:cNvSpPr>
            <a:spLocks xmlns:a="http://schemas.openxmlformats.org/drawingml/2006/main" noGrp="1"/>
          </p:cNvSpPr>
          <p:nvPr/>
        </p:nvSpPr>
        <p:spPr>
          <a:xfrm xmlns:a="http://schemas.openxmlformats.org/drawingml/2006/main">
            <a:off x="6438900" y="2476500"/>
            <a:ext cx="5143500" cy="685800"/>
          </a:xfrm>
          <a:prstGeom xmlns:a="http://schemas.openxmlformats.org/drawingml/2006/main" prst="rect">
            <a:avLst/>
          </a:prstGeom>
          <a:solidFill xmlns:a="http://schemas.openxmlformats.org/drawingml/2006/main">
            <a:srgbClr val="B2FF00"/>
          </a:solidFill>
          <a:ln xmlns:a="http://schemas.openxmlformats.org/drawingml/2006/main" w="9525">
            <a:solidFill>
              <a:srgbClr val="363D36"/>
            </a:solidFill>
          </a:ln>
        </p:spPr>
      </p:sp>
      <p:sp>
        <p:nvSpPr>
          <p:cNvPr id="13" name="">
            <a:extLst xmlns:a="http://schemas.openxmlformats.org/drawingml/2006/main">
              <a:ext uri="{FF2B5EF4-FFF2-40B4-BE49-F238E27FC236}">
                <a16:creationId xmlns:a16="http://schemas.microsoft.com/office/drawing/2014/main" id="{22AFC531-D6F4-4626-8C1C-1F35542ABCA4}"/>
              </a:ext>
            </a:extLst>
          </p:cNvPr>
          <p:cNvSpPr>
            <a:spLocks xmlns:a="http://schemas.openxmlformats.org/drawingml/2006/main" noGrp="1"/>
          </p:cNvSpPr>
          <p:nvPr/>
        </p:nvSpPr>
        <p:spPr>
          <a:xfrm xmlns:a="http://schemas.openxmlformats.org/drawingml/2006/main">
            <a:off x="6610350" y="2647950"/>
            <a:ext cx="4800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50505"/>
                </a:solidFill>
                <a:latin typeface="Helvetica Neue"/>
                <a:ea typeface="Helvetica Neue"/>
                <a:cs typeface="Helvetica Neue"/>
              </a:defRPr>
            </a:pPr>
            <a:r>
              <a:rPr sz="1875" b="1">
                <a:solidFill>
                  <a:srgbClr val="050505"/>
                </a:solidFill>
                <a:latin typeface="Helvetica Neue"/>
                <a:ea typeface="Helvetica Neue"/>
                <a:cs typeface="Helvetica Neue"/>
              </a:rPr>
              <a:t>KMP client core</a:t>
            </a:r>
          </a:p>
        </p:txBody>
      </p:sp>
      <p:sp>
        <p:nvSpPr>
          <p:cNvPr id="14" name="">
            <a:extLst xmlns:a="http://schemas.openxmlformats.org/drawingml/2006/main">
              <a:ext uri="{FF2B5EF4-FFF2-40B4-BE49-F238E27FC236}">
                <a16:creationId xmlns:a16="http://schemas.microsoft.com/office/drawing/2014/main" id="{D736EC43-A17F-46F0-BAE5-7342DBCC3B87}"/>
              </a:ext>
            </a:extLst>
          </p:cNvPr>
          <p:cNvSpPr>
            <a:spLocks xmlns:a="http://schemas.openxmlformats.org/drawingml/2006/main" noGrp="1"/>
          </p:cNvSpPr>
          <p:nvPr/>
        </p:nvSpPr>
        <p:spPr>
          <a:xfrm xmlns:a="http://schemas.openxmlformats.org/drawingml/2006/main">
            <a:off x="6438900" y="3476625"/>
            <a:ext cx="5143500" cy="685800"/>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15" name="">
            <a:extLst xmlns:a="http://schemas.openxmlformats.org/drawingml/2006/main">
              <a:ext uri="{FF2B5EF4-FFF2-40B4-BE49-F238E27FC236}">
                <a16:creationId xmlns:a16="http://schemas.microsoft.com/office/drawing/2014/main" id="{5A7C602A-EBF4-4D2E-B7BF-F64BCC3002FD}"/>
              </a:ext>
            </a:extLst>
          </p:cNvPr>
          <p:cNvSpPr>
            <a:spLocks xmlns:a="http://schemas.openxmlformats.org/drawingml/2006/main" noGrp="1"/>
          </p:cNvSpPr>
          <p:nvPr/>
        </p:nvSpPr>
        <p:spPr>
          <a:xfrm xmlns:a="http://schemas.openxmlformats.org/drawingml/2006/main">
            <a:off x="6610350" y="3648075"/>
            <a:ext cx="4800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REST / GraphQL / event stream</a:t>
            </a:r>
          </a:p>
        </p:txBody>
      </p:sp>
      <p:sp>
        <p:nvSpPr>
          <p:cNvPr id="16" name="">
            <a:extLst xmlns:a="http://schemas.openxmlformats.org/drawingml/2006/main">
              <a:ext uri="{FF2B5EF4-FFF2-40B4-BE49-F238E27FC236}">
                <a16:creationId xmlns:a16="http://schemas.microsoft.com/office/drawing/2014/main" id="{97727EE8-DDD0-4BAC-89F8-17635A5DEC1C}"/>
              </a:ext>
            </a:extLst>
          </p:cNvPr>
          <p:cNvSpPr>
            <a:spLocks xmlns:a="http://schemas.openxmlformats.org/drawingml/2006/main" noGrp="1"/>
          </p:cNvSpPr>
          <p:nvPr/>
        </p:nvSpPr>
        <p:spPr>
          <a:xfrm xmlns:a="http://schemas.openxmlformats.org/drawingml/2006/main">
            <a:off x="6438900" y="4476750"/>
            <a:ext cx="5143500" cy="685800"/>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17" name="">
            <a:extLst xmlns:a="http://schemas.openxmlformats.org/drawingml/2006/main">
              <a:ext uri="{FF2B5EF4-FFF2-40B4-BE49-F238E27FC236}">
                <a16:creationId xmlns:a16="http://schemas.microsoft.com/office/drawing/2014/main" id="{CF323E4B-D8FC-4A8C-94E6-B3FD1C508EAF}"/>
              </a:ext>
            </a:extLst>
          </p:cNvPr>
          <p:cNvSpPr>
            <a:spLocks xmlns:a="http://schemas.openxmlformats.org/drawingml/2006/main" noGrp="1"/>
          </p:cNvSpPr>
          <p:nvPr/>
        </p:nvSpPr>
        <p:spPr>
          <a:xfrm xmlns:a="http://schemas.openxmlformats.org/drawingml/2006/main">
            <a:off x="6610350" y="4648200"/>
            <a:ext cx="4800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Local server on device</a:t>
            </a:r>
          </a:p>
        </p:txBody>
      </p:sp>
      <p:sp>
        <p:nvSpPr>
          <p:cNvPr id="18" name="">
            <a:extLst xmlns:a="http://schemas.openxmlformats.org/drawingml/2006/main">
              <a:ext uri="{FF2B5EF4-FFF2-40B4-BE49-F238E27FC236}">
                <a16:creationId xmlns:a16="http://schemas.microsoft.com/office/drawing/2014/main" id="{0466DD72-B081-40CB-8D58-EF27928A8963}"/>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The server simplifies either client stack. KMP adds continuity with our native investment.</a:t>
            </a:r>
          </a:p>
        </p:txBody>
      </p:sp>
    </p:spTree>
    <p:extLst>
      <p:ext uri="{BB962C8B-B14F-4D97-AF65-F5344CB8AC3E}">
        <p14:creationId xmlns:p14="http://schemas.microsoft.com/office/powerpoint/2010/main" val="1677866233"/>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ADB777F-81AB-4480-981B-FE5622ADE074}"/>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KMP adoption is growing</a:t>
            </a:r>
          </a:p>
        </p:txBody>
      </p:sp>
      <p:sp>
        <p:nvSpPr>
          <p:cNvPr id="2" name="">
            <a:extLst xmlns:a="http://schemas.openxmlformats.org/drawingml/2006/main">
              <a:ext uri="{FF2B5EF4-FFF2-40B4-BE49-F238E27FC236}">
                <a16:creationId xmlns:a16="http://schemas.microsoft.com/office/drawing/2014/main" id="{DD3B5881-4E87-455D-B338-C9CC99D0AED9}"/>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8591E79F-691D-4837-ADCA-F43EEE47E216}"/>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EC6F87C8-6B43-4C3D-AD3B-15DD4351CD52}"/>
              </a:ext>
            </a:extLst>
          </p:cNvPr>
          <p:cNvSpPr>
            <a:spLocks xmlns:a="http://schemas.openxmlformats.org/drawingml/2006/main" noGrp="1"/>
          </p:cNvSpPr>
          <p:nvPr/>
        </p:nvSpPr>
        <p:spPr>
          <a:xfrm xmlns:a="http://schemas.openxmlformats.org/drawingml/2006/main">
            <a:off x="609600" y="1771650"/>
            <a:ext cx="257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100" b="1">
                <a:solidFill>
                  <a:srgbClr val="ACB0AC"/>
                </a:solidFill>
                <a:latin typeface="Helvetica Neue"/>
                <a:ea typeface="Helvetica Neue"/>
                <a:cs typeface="Helvetica Neue"/>
              </a:defRPr>
            </a:pPr>
            <a:r>
              <a:rPr sz="8100" b="1">
                <a:solidFill>
                  <a:srgbClr val="ACB0AC"/>
                </a:solidFill>
                <a:latin typeface="Helvetica Neue"/>
                <a:ea typeface="Helvetica Neue"/>
                <a:cs typeface="Helvetica Neue"/>
              </a:rPr>
              <a:t>7%</a:t>
            </a:r>
          </a:p>
        </p:txBody>
      </p:sp>
      <p:sp>
        <p:nvSpPr>
          <p:cNvPr id="5" name="">
            <a:extLst xmlns:a="http://schemas.openxmlformats.org/drawingml/2006/main">
              <a:ext uri="{FF2B5EF4-FFF2-40B4-BE49-F238E27FC236}">
                <a16:creationId xmlns:a16="http://schemas.microsoft.com/office/drawing/2014/main" id="{B8BBB680-B92D-4E69-8F1D-91E9F8064B6D}"/>
              </a:ext>
            </a:extLst>
          </p:cNvPr>
          <p:cNvSpPr>
            <a:spLocks xmlns:a="http://schemas.openxmlformats.org/drawingml/2006/main" noGrp="1"/>
          </p:cNvSpPr>
          <p:nvPr/>
        </p:nvSpPr>
        <p:spPr>
          <a:xfrm xmlns:a="http://schemas.openxmlformats.org/drawingml/2006/main">
            <a:off x="657225" y="317182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2024</a:t>
            </a:r>
          </a:p>
        </p:txBody>
      </p:sp>
      <p:sp>
        <p:nvSpPr>
          <p:cNvPr id="6" name="">
            <a:extLst xmlns:a="http://schemas.openxmlformats.org/drawingml/2006/main">
              <a:ext uri="{FF2B5EF4-FFF2-40B4-BE49-F238E27FC236}">
                <a16:creationId xmlns:a16="http://schemas.microsoft.com/office/drawing/2014/main" id="{CBC547CA-45B2-47AE-8477-1F294EE23BB2}"/>
              </a:ext>
            </a:extLst>
          </p:cNvPr>
          <p:cNvSpPr>
            <a:spLocks xmlns:a="http://schemas.openxmlformats.org/drawingml/2006/main" noGrp="1"/>
          </p:cNvSpPr>
          <p:nvPr/>
        </p:nvSpPr>
        <p:spPr>
          <a:xfrm xmlns:a="http://schemas.openxmlformats.org/drawingml/2006/main">
            <a:off x="3495675" y="1771650"/>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100" b="1">
                <a:solidFill>
                  <a:srgbClr val="B2FF00"/>
                </a:solidFill>
                <a:latin typeface="Helvetica Neue"/>
                <a:ea typeface="Helvetica Neue"/>
                <a:cs typeface="Helvetica Neue"/>
              </a:defRPr>
            </a:pPr>
            <a:r>
              <a:rPr sz="8100" b="1">
                <a:solidFill>
                  <a:srgbClr val="B2FF00"/>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F9AFFFE1-8714-4A5D-B644-8BD368142976}"/>
              </a:ext>
            </a:extLst>
          </p:cNvPr>
          <p:cNvSpPr>
            <a:spLocks xmlns:a="http://schemas.openxmlformats.org/drawingml/2006/main" noGrp="1"/>
          </p:cNvSpPr>
          <p:nvPr/>
        </p:nvSpPr>
        <p:spPr>
          <a:xfrm xmlns:a="http://schemas.openxmlformats.org/drawingml/2006/main">
            <a:off x="3562350" y="317182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6F2"/>
                </a:solidFill>
                <a:latin typeface="Helvetica Neue"/>
                <a:ea typeface="Helvetica Neue"/>
                <a:cs typeface="Helvetica Neue"/>
              </a:defRPr>
            </a:pPr>
            <a:r>
              <a:rPr sz="2175" b="0">
                <a:solidFill>
                  <a:srgbClr val="F6F6F2"/>
                </a:solidFill>
                <a:latin typeface="Helvetica Neue"/>
                <a:ea typeface="Helvetica Neue"/>
                <a:cs typeface="Helvetica Neue"/>
              </a:rPr>
              <a:t>2025</a:t>
            </a:r>
          </a:p>
        </p:txBody>
      </p:sp>
      <p:sp>
        <p:nvSpPr>
          <p:cNvPr id="8" name="">
            <a:extLst xmlns:a="http://schemas.openxmlformats.org/drawingml/2006/main">
              <a:ext uri="{FF2B5EF4-FFF2-40B4-BE49-F238E27FC236}">
                <a16:creationId xmlns:a16="http://schemas.microsoft.com/office/drawing/2014/main" id="{1ECB3E25-9129-43AC-9972-29E03664CAD0}"/>
              </a:ext>
            </a:extLst>
          </p:cNvPr>
          <p:cNvSpPr>
            <a:spLocks xmlns:a="http://schemas.openxmlformats.org/drawingml/2006/main" noGrp="1"/>
          </p:cNvSpPr>
          <p:nvPr/>
        </p:nvSpPr>
        <p:spPr>
          <a:xfrm xmlns:a="http://schemas.openxmlformats.org/drawingml/2006/main">
            <a:off x="7239000" y="2047875"/>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6F6F2"/>
                </a:solidFill>
                <a:latin typeface="Helvetica Neue"/>
                <a:ea typeface="Helvetica Neue"/>
                <a:cs typeface="Helvetica Neue"/>
              </a:defRPr>
            </a:pPr>
            <a:r>
              <a:rPr sz="2250" b="0">
                <a:solidFill>
                  <a:srgbClr val="F6F6F2"/>
                </a:solidFill>
                <a:latin typeface="Helvetica Neue"/>
                <a:ea typeface="Helvetica Neue"/>
                <a:cs typeface="Helvetica Neue"/>
              </a:rPr>
              <a:t>Share among surveyed</a:t>
            </a:r>
          </a:p>
          <a:p xmlns:a="http://schemas.openxmlformats.org/drawingml/2006/main">
            <a:pPr>
              <a:defRPr sz="2250" b="0">
                <a:solidFill>
                  <a:srgbClr val="F6F6F2"/>
                </a:solidFill>
                <a:latin typeface="Helvetica Neue"/>
                <a:ea typeface="Helvetica Neue"/>
                <a:cs typeface="Helvetica Neue"/>
              </a:defRPr>
            </a:pPr>
            <a:r>
              <a:rPr sz="2250" b="0">
                <a:solidFill>
                  <a:srgbClr val="F6F6F2"/>
                </a:solidFill>
                <a:latin typeface="Helvetica Neue"/>
                <a:ea typeface="Helvetica Neue"/>
                <a:cs typeface="Helvetica Neue"/>
              </a:rPr>
              <a:t>cross-platform developers</a:t>
            </a:r>
          </a:p>
        </p:txBody>
      </p:sp>
      <p:sp>
        <p:nvSpPr>
          <p:cNvPr id="9" name="">
            <a:extLst xmlns:a="http://schemas.openxmlformats.org/drawingml/2006/main">
              <a:ext uri="{FF2B5EF4-FFF2-40B4-BE49-F238E27FC236}">
                <a16:creationId xmlns:a16="http://schemas.microsoft.com/office/drawing/2014/main" id="{3111E404-84E2-4199-8DB6-BCA4B9DC2995}"/>
              </a:ext>
            </a:extLst>
          </p:cNvPr>
          <p:cNvSpPr>
            <a:spLocks xmlns:a="http://schemas.openxmlformats.org/drawingml/2006/main" noGrp="1"/>
          </p:cNvSpPr>
          <p:nvPr/>
        </p:nvSpPr>
        <p:spPr>
          <a:xfrm xmlns:a="http://schemas.openxmlformats.org/drawingml/2006/main">
            <a:off x="609600" y="3962400"/>
            <a:ext cx="10972800" cy="9525"/>
          </a:xfrm>
          <a:prstGeom xmlns:a="http://schemas.openxmlformats.org/drawingml/2006/main" prst="rect">
            <a:avLst/>
          </a:prstGeom>
          <a:solidFill xmlns:a="http://schemas.openxmlformats.org/drawingml/2006/main">
            <a:srgbClr val="363D3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97FA880-1C4C-40B0-80BE-DBA27D9D780D}"/>
              </a:ext>
            </a:extLst>
          </p:cNvPr>
          <p:cNvSpPr>
            <a:spLocks xmlns:a="http://schemas.openxmlformats.org/drawingml/2006/main" noGrp="1"/>
          </p:cNvSpPr>
          <p:nvPr/>
        </p:nvSpPr>
        <p:spPr>
          <a:xfrm xmlns:a="http://schemas.openxmlformats.org/drawingml/2006/main">
            <a:off x="609600" y="4257675"/>
            <a:ext cx="338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2FF00"/>
                </a:solidFill>
                <a:latin typeface="Helvetica Neue"/>
                <a:ea typeface="Helvetica Neue"/>
                <a:cs typeface="Helvetica Neue"/>
              </a:defRPr>
            </a:pPr>
            <a:r>
              <a:rPr sz="2325" b="1">
                <a:solidFill>
                  <a:srgbClr val="B2FF00"/>
                </a:solidFill>
                <a:latin typeface="Helvetica Neue"/>
                <a:ea typeface="Helvetica Neue"/>
                <a:cs typeface="Helvetica Neue"/>
              </a:rPr>
              <a:t>Google Docs</a:t>
            </a:r>
          </a:p>
        </p:txBody>
      </p:sp>
      <p:sp>
        <p:nvSpPr>
          <p:cNvPr id="11" name="">
            <a:extLst xmlns:a="http://schemas.openxmlformats.org/drawingml/2006/main">
              <a:ext uri="{FF2B5EF4-FFF2-40B4-BE49-F238E27FC236}">
                <a16:creationId xmlns:a16="http://schemas.microsoft.com/office/drawing/2014/main" id="{095637E2-23AB-4FDE-B990-7303608E6A48}"/>
              </a:ext>
            </a:extLst>
          </p:cNvPr>
          <p:cNvSpPr>
            <a:spLocks xmlns:a="http://schemas.openxmlformats.org/drawingml/2006/main" noGrp="1"/>
          </p:cNvSpPr>
          <p:nvPr/>
        </p:nvSpPr>
        <p:spPr>
          <a:xfrm xmlns:a="http://schemas.openxmlformats.org/drawingml/2006/main">
            <a:off x="609600" y="4829175"/>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Shared business logic</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on Android, iOS and web</a:t>
            </a:r>
          </a:p>
        </p:txBody>
      </p:sp>
      <p:sp>
        <p:nvSpPr>
          <p:cNvPr id="12" name="">
            <a:extLst xmlns:a="http://schemas.openxmlformats.org/drawingml/2006/main">
              <a:ext uri="{FF2B5EF4-FFF2-40B4-BE49-F238E27FC236}">
                <a16:creationId xmlns:a16="http://schemas.microsoft.com/office/drawing/2014/main" id="{5021E1DE-B7AB-417D-9ADB-03D1ED33A017}"/>
              </a:ext>
            </a:extLst>
          </p:cNvPr>
          <p:cNvSpPr>
            <a:spLocks xmlns:a="http://schemas.openxmlformats.org/drawingml/2006/main" noGrp="1"/>
          </p:cNvSpPr>
          <p:nvPr/>
        </p:nvSpPr>
        <p:spPr>
          <a:xfrm xmlns:a="http://schemas.openxmlformats.org/drawingml/2006/main">
            <a:off x="4410075" y="4257675"/>
            <a:ext cx="338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2FF00"/>
                </a:solidFill>
                <a:latin typeface="Helvetica Neue"/>
                <a:ea typeface="Helvetica Neue"/>
                <a:cs typeface="Helvetica Neue"/>
              </a:defRPr>
            </a:pPr>
            <a:r>
              <a:rPr sz="2325" b="1">
                <a:solidFill>
                  <a:srgbClr val="B2FF00"/>
                </a:solidFill>
                <a:latin typeface="Helvetica Neue"/>
                <a:ea typeface="Helvetica Neue"/>
                <a:cs typeface="Helvetica Neue"/>
              </a:rPr>
              <a:t>McDonald’s</a:t>
            </a:r>
          </a:p>
        </p:txBody>
      </p:sp>
      <p:sp>
        <p:nvSpPr>
          <p:cNvPr id="13" name="">
            <a:extLst xmlns:a="http://schemas.openxmlformats.org/drawingml/2006/main">
              <a:ext uri="{FF2B5EF4-FFF2-40B4-BE49-F238E27FC236}">
                <a16:creationId xmlns:a16="http://schemas.microsoft.com/office/drawing/2014/main" id="{F1ADE6A5-DBFA-4F05-9851-8B8D1830E221}"/>
              </a:ext>
            </a:extLst>
          </p:cNvPr>
          <p:cNvSpPr>
            <a:spLocks xmlns:a="http://schemas.openxmlformats.org/drawingml/2006/main" noGrp="1"/>
          </p:cNvSpPr>
          <p:nvPr/>
        </p:nvSpPr>
        <p:spPr>
          <a:xfrm xmlns:a="http://schemas.openxmlformats.org/drawingml/2006/main">
            <a:off x="4410075" y="4829175"/>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Expanded KMP after an</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initial payments feature</a:t>
            </a:r>
          </a:p>
        </p:txBody>
      </p:sp>
      <p:sp>
        <p:nvSpPr>
          <p:cNvPr id="14" name="">
            <a:extLst xmlns:a="http://schemas.openxmlformats.org/drawingml/2006/main">
              <a:ext uri="{FF2B5EF4-FFF2-40B4-BE49-F238E27FC236}">
                <a16:creationId xmlns:a16="http://schemas.microsoft.com/office/drawing/2014/main" id="{AFD2CF49-23D8-4933-8E5E-D0030836FA1A}"/>
              </a:ext>
            </a:extLst>
          </p:cNvPr>
          <p:cNvSpPr>
            <a:spLocks xmlns:a="http://schemas.openxmlformats.org/drawingml/2006/main" noGrp="1"/>
          </p:cNvSpPr>
          <p:nvPr/>
        </p:nvSpPr>
        <p:spPr>
          <a:xfrm xmlns:a="http://schemas.openxmlformats.org/drawingml/2006/main">
            <a:off x="8229600" y="4257675"/>
            <a:ext cx="338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2FF00"/>
                </a:solidFill>
                <a:latin typeface="Helvetica Neue"/>
                <a:ea typeface="Helvetica Neue"/>
                <a:cs typeface="Helvetica Neue"/>
              </a:defRPr>
            </a:pPr>
            <a:r>
              <a:rPr sz="2325" b="1">
                <a:solidFill>
                  <a:srgbClr val="B2FF00"/>
                </a:solidFill>
                <a:latin typeface="Helvetica Neue"/>
                <a:ea typeface="Helvetica Neue"/>
                <a:cs typeface="Helvetica Neue"/>
              </a:rPr>
              <a:t>Forbes</a:t>
            </a:r>
          </a:p>
        </p:txBody>
      </p:sp>
      <p:sp>
        <p:nvSpPr>
          <p:cNvPr id="15" name="">
            <a:extLst xmlns:a="http://schemas.openxmlformats.org/drawingml/2006/main">
              <a:ext uri="{FF2B5EF4-FFF2-40B4-BE49-F238E27FC236}">
                <a16:creationId xmlns:a16="http://schemas.microsoft.com/office/drawing/2014/main" id="{0CEF9763-8FD0-4D5E-AE39-0354D590E4C0}"/>
              </a:ext>
            </a:extLst>
          </p:cNvPr>
          <p:cNvSpPr>
            <a:spLocks xmlns:a="http://schemas.openxmlformats.org/drawingml/2006/main" noGrp="1"/>
          </p:cNvSpPr>
          <p:nvPr/>
        </p:nvSpPr>
        <p:spPr>
          <a:xfrm xmlns:a="http://schemas.openxmlformats.org/drawingml/2006/main">
            <a:off x="8229600" y="4829175"/>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Reports sharing over</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80% of Android / iOS logic</a:t>
            </a:r>
          </a:p>
        </p:txBody>
      </p:sp>
      <p:sp>
        <p:nvSpPr>
          <p:cNvPr id="16" name="">
            <a:extLst xmlns:a="http://schemas.openxmlformats.org/drawingml/2006/main">
              <a:ext uri="{FF2B5EF4-FFF2-40B4-BE49-F238E27FC236}">
                <a16:creationId xmlns:a16="http://schemas.microsoft.com/office/drawing/2014/main" id="{ED7C0CA9-279A-45A4-95A8-440230152472}"/>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JetBrains surveys, 2024–2025. Company examples describe different adoption scopes.</a:t>
            </a:r>
          </a:p>
        </p:txBody>
      </p:sp>
    </p:spTree>
    <p:extLst>
      <p:ext uri="{BB962C8B-B14F-4D97-AF65-F5344CB8AC3E}">
        <p14:creationId xmlns:p14="http://schemas.microsoft.com/office/powerpoint/2010/main" val="1310641301"/>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C08CED-C015-4B32-9A4E-2B8CF0C0E854}"/>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Existing code reuse</a:t>
            </a:r>
          </a:p>
        </p:txBody>
      </p:sp>
      <p:sp>
        <p:nvSpPr>
          <p:cNvPr id="2" name="">
            <a:extLst xmlns:a="http://schemas.openxmlformats.org/drawingml/2006/main">
              <a:ext uri="{FF2B5EF4-FFF2-40B4-BE49-F238E27FC236}">
                <a16:creationId xmlns:a16="http://schemas.microsoft.com/office/drawing/2014/main" id="{60BAC9BD-49F1-45A9-9C08-69F3510E28E4}"/>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9E1361C0-695E-41C4-8E3D-780731F5023F}"/>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07</a:t>
            </a:r>
          </a:p>
        </p:txBody>
      </p:sp>
      <p:graphicFrame>
        <p:nvGraphicFramePr>
          <p:cNvPr id="9" name=""/>
          <p:cNvGraphicFramePr/>
          <p:nvPr/>
        </p:nvGraphicFramePr>
        <p:xfrm>
          <a:off xmlns:a="http://schemas.openxmlformats.org/drawingml/2006/main" x="609600" y="1952625"/>
          <a:ext xmlns:a="http://schemas.openxmlformats.org/drawingml/2006/main" cx="10972800" cy="3190875"/>
        </p:xfrm>
        <a:graphic xmlns:a="http://schemas.openxmlformats.org/drawingml/2006/main">
          <a:graphicData uri="http://schemas.openxmlformats.org/drawingml/2006/table">
            <a:tbl>
              <a:tblPr/>
              <a:tblGrid>
                <a:gridCol w="3657600"/>
                <a:gridCol w="3657600"/>
                <a:gridCol w="3657600"/>
              </a:tblGrid>
              <a:tr h="797719">
                <a:tc>
                  <a:txBody>
                    <a:bodyPr>
                      <a:noAutofit/>
                    </a:bodyPr>
                    <a:lstStyle/>
                    <a:p>
                      <a:r>
                        <a:rPr sz="1875" b="1">
                          <a:solidFill>
                            <a:srgbClr val="050505"/>
                          </a:solidFill>
                          <a:latin typeface="Helvetica Neue"/>
                          <a:ea typeface="Helvetica Neue"/>
                          <a:cs typeface="Helvetica Neue"/>
                        </a:rPr>
                        <a:t>Move into shared Kotlin</a:t>
                      </a:r>
                    </a:p>
                  </a:txBody>
                  <a:tcPr marL="91440" marR="91440" marT="45720" marB="45720">
                    <a:solidFill>
                      <a:srgbClr val="B2FF00"/>
                    </a:solidFill>
                  </a:tcPr>
                </a:tc>
                <a:tc>
                  <a:txBody>
                    <a:bodyPr>
                      <a:noAutofit/>
                    </a:bodyPr>
                    <a:lstStyle/>
                    <a:p>
                      <a:r>
                        <a:rPr sz="1875" b="1">
                          <a:solidFill>
                            <a:srgbClr val="050505"/>
                          </a:solidFill>
                          <a:latin typeface="Helvetica Neue"/>
                          <a:ea typeface="Helvetica Neue"/>
                          <a:cs typeface="Helvetica Neue"/>
                        </a:rPr>
                        <a:t>Adapt at the boundary</a:t>
                      </a:r>
                    </a:p>
                  </a:txBody>
                  <a:tcPr marL="91440" marR="91440" marT="45720" marB="45720">
                    <a:solidFill>
                      <a:srgbClr val="B2FF00"/>
                    </a:solidFill>
                  </a:tcPr>
                </a:tc>
                <a:tc>
                  <a:txBody>
                    <a:bodyPr>
                      <a:noAutofit/>
                    </a:bodyPr>
                    <a:lstStyle/>
                    <a:p>
                      <a:r>
                        <a:rPr sz="1875" b="1">
                          <a:solidFill>
                            <a:srgbClr val="050505"/>
                          </a:solidFill>
                          <a:latin typeface="Helvetica Neue"/>
                          <a:ea typeface="Helvetica Neue"/>
                          <a:cs typeface="Helvetica Neue"/>
                        </a:rPr>
                        <a:t>Retain on the platform</a:t>
                      </a:r>
                    </a:p>
                  </a:txBody>
                  <a:tcPr marL="91440" marR="91440" marT="45720" marB="45720">
                    <a:solidFill>
                      <a:srgbClr val="B2FF00"/>
                    </a:solidFill>
                  </a:tcPr>
                </a:tc>
              </a:tr>
              <a:tr h="797719">
                <a:tc>
                  <a:txBody>
                    <a:bodyPr>
                      <a:noAutofit/>
                    </a:bodyPr>
                    <a:lstStyle/>
                    <a:p>
                      <a:r>
                        <a:rPr sz="1875" b="0">
                          <a:solidFill>
                            <a:srgbClr val="F6F6F2"/>
                          </a:solidFill>
                          <a:latin typeface="Helvetica Neue"/>
                          <a:ea typeface="Helvetica Neue"/>
                          <a:cs typeface="Helvetica Neue"/>
                        </a:rPr>
                        <a:t>Models and validation</a:t>
                      </a:r>
                    </a:p>
                  </a:txBody>
                  <a:tcPr marL="91440" marR="91440" marT="45720" marB="45720">
                    <a:solidFill>
                      <a:srgbClr val="050505"/>
                    </a:solidFill>
                  </a:tcPr>
                </a:tc>
                <a:tc>
                  <a:txBody>
                    <a:bodyPr>
                      <a:noAutofit/>
                    </a:bodyPr>
                    <a:lstStyle/>
                    <a:p>
                      <a:r>
                        <a:rPr sz="1875" b="0">
                          <a:solidFill>
                            <a:srgbClr val="F6F6F2"/>
                          </a:solidFill>
                          <a:latin typeface="Helvetica Neue"/>
                          <a:ea typeface="Helvetica Neue"/>
                          <a:cs typeface="Helvetica Neue"/>
                        </a:rPr>
                        <a:t>Android-specific dependencies</a:t>
                      </a:r>
                    </a:p>
                  </a:txBody>
                  <a:tcPr marL="91440" marR="91440" marT="45720" marB="45720">
                    <a:solidFill>
                      <a:srgbClr val="050505"/>
                    </a:solidFill>
                  </a:tcPr>
                </a:tc>
                <a:tc>
                  <a:txBody>
                    <a:bodyPr>
                      <a:noAutofit/>
                    </a:bodyPr>
                    <a:lstStyle/>
                    <a:p>
                      <a:r>
                        <a:rPr sz="1875" b="0">
                          <a:solidFill>
                            <a:srgbClr val="F6F6F2"/>
                          </a:solidFill>
                          <a:latin typeface="Helvetica Neue"/>
                          <a:ea typeface="Helvetica Neue"/>
                          <a:cs typeface="Helvetica Neue"/>
                        </a:rPr>
                        <a:t>SwiftUI / UIKit screens</a:t>
                      </a:r>
                    </a:p>
                  </a:txBody>
                  <a:tcPr marL="91440" marR="91440" marT="45720" marB="45720">
                    <a:solidFill>
                      <a:srgbClr val="050505"/>
                    </a:solidFill>
                  </a:tcPr>
                </a:tc>
              </a:tr>
              <a:tr h="797719">
                <a:tc>
                  <a:txBody>
                    <a:bodyPr>
                      <a:noAutofit/>
                    </a:bodyPr>
                    <a:lstStyle/>
                    <a:p>
                      <a:r>
                        <a:rPr sz="1875" b="0">
                          <a:solidFill>
                            <a:srgbClr val="F6F6F2"/>
                          </a:solidFill>
                          <a:latin typeface="Helvetica Neue"/>
                          <a:ea typeface="Helvetica Neue"/>
                          <a:cs typeface="Helvetica Neue"/>
                        </a:rPr>
                        <a:t>Business rules and use cases</a:t>
                      </a:r>
                    </a:p>
                  </a:txBody>
                  <a:tcPr marL="91440" marR="91440" marT="45720" marB="45720">
                    <a:solidFill>
                      <a:srgbClr val="050505"/>
                    </a:solidFill>
                  </a:tcPr>
                </a:tc>
                <a:tc>
                  <a:txBody>
                    <a:bodyPr>
                      <a:noAutofit/>
                    </a:bodyPr>
                    <a:lstStyle/>
                    <a:p>
                      <a:r>
                        <a:rPr sz="1875" b="0">
                          <a:solidFill>
                            <a:srgbClr val="F6F6F2"/>
                          </a:solidFill>
                          <a:latin typeface="Helvetica Neue"/>
                          <a:ea typeface="Helvetica Neue"/>
                          <a:cs typeface="Helvetica Neue"/>
                        </a:rPr>
                        <a:t>Network and storage adapters</a:t>
                      </a:r>
                    </a:p>
                  </a:txBody>
                  <a:tcPr marL="91440" marR="91440" marT="45720" marB="45720">
                    <a:solidFill>
                      <a:srgbClr val="050505"/>
                    </a:solidFill>
                  </a:tcPr>
                </a:tc>
                <a:tc>
                  <a:txBody>
                    <a:bodyPr>
                      <a:noAutofit/>
                    </a:bodyPr>
                    <a:lstStyle/>
                    <a:p>
                      <a:r>
                        <a:rPr sz="1875" b="0">
                          <a:solidFill>
                            <a:srgbClr val="F6F6F2"/>
                          </a:solidFill>
                          <a:latin typeface="Helvetica Neue"/>
                          <a:ea typeface="Helvetica Neue"/>
                          <a:cs typeface="Helvetica Neue"/>
                        </a:rPr>
                        <a:t>Android native screens</a:t>
                      </a:r>
                    </a:p>
                  </a:txBody>
                  <a:tcPr marL="91440" marR="91440" marT="45720" marB="45720">
                    <a:solidFill>
                      <a:srgbClr val="050505"/>
                    </a:solidFill>
                  </a:tcPr>
                </a:tc>
              </a:tr>
              <a:tr h="797719">
                <a:tc>
                  <a:txBody>
                    <a:bodyPr>
                      <a:noAutofit/>
                    </a:bodyPr>
                    <a:lstStyle/>
                    <a:p>
                      <a:r>
                        <a:rPr sz="1875" b="0">
                          <a:solidFill>
                            <a:srgbClr val="F6F6F2"/>
                          </a:solidFill>
                          <a:latin typeface="Helvetica Neue"/>
                          <a:ea typeface="Helvetica Neue"/>
                          <a:cs typeface="Helvetica Neue"/>
                        </a:rPr>
                        <a:t>Compatible mapping and tests</a:t>
                      </a:r>
                    </a:p>
                  </a:txBody>
                  <a:tcPr marL="91440" marR="91440" marT="45720" marB="45720">
                    <a:solidFill>
                      <a:srgbClr val="050505"/>
                    </a:solidFill>
                  </a:tcPr>
                </a:tc>
                <a:tc>
                  <a:txBody>
                    <a:bodyPr>
                      <a:noAutofit/>
                    </a:bodyPr>
                    <a:lstStyle/>
                    <a:p>
                      <a:r>
                        <a:rPr sz="1875" b="0">
                          <a:solidFill>
                            <a:srgbClr val="F6F6F2"/>
                          </a:solidFill>
                          <a:latin typeface="Helvetica Neue"/>
                          <a:ea typeface="Helvetica Neue"/>
                          <a:cs typeface="Helvetica Neue"/>
                        </a:rPr>
                        <a:t>Lifecycle and async APIs</a:t>
                      </a:r>
                    </a:p>
                  </a:txBody>
                  <a:tcPr marL="91440" marR="91440" marT="45720" marB="45720">
                    <a:solidFill>
                      <a:srgbClr val="050505"/>
                    </a:solidFill>
                  </a:tcPr>
                </a:tc>
                <a:tc>
                  <a:txBody>
                    <a:bodyPr>
                      <a:noAutofit/>
                    </a:bodyPr>
                    <a:lstStyle/>
                    <a:p>
                      <a:r>
                        <a:rPr sz="1875" b="0">
                          <a:solidFill>
                            <a:srgbClr val="F6F6F2"/>
                          </a:solidFill>
                          <a:latin typeface="Helvetica Neue"/>
                          <a:ea typeface="Helvetica Neue"/>
                          <a:cs typeface="Helvetica Neue"/>
                        </a:rPr>
                        <a:t>Bluetooth / OS integrations</a:t>
                      </a:r>
                    </a:p>
                  </a:txBody>
                  <a:tcPr marL="91440" marR="91440" marT="45720" marB="45720">
                    <a:solidFill>
                      <a:srgbClr val="050505"/>
                    </a:solidFill>
                  </a:tcPr>
                </a:tc>
              </a:tr>
            </a:tbl>
          </a:graphicData>
        </a:graphic>
      </p:graphicFrame>
      <p:sp>
        <p:nvSpPr>
          <p:cNvPr id="5" name="">
            <a:extLst xmlns:a="http://schemas.openxmlformats.org/drawingml/2006/main">
              <a:ext uri="{FF2B5EF4-FFF2-40B4-BE49-F238E27FC236}">
                <a16:creationId xmlns:a16="http://schemas.microsoft.com/office/drawing/2014/main" id="{BEDD697D-D2CC-4961-A3F5-63EAE1CC78C2}"/>
              </a:ext>
            </a:extLst>
          </p:cNvPr>
          <p:cNvSpPr>
            <a:spLocks xmlns:a="http://schemas.openxmlformats.org/drawingml/2006/main" noGrp="1"/>
          </p:cNvSpPr>
          <p:nvPr/>
        </p:nvSpPr>
        <p:spPr>
          <a:xfrm xmlns:a="http://schemas.openxmlformats.org/drawingml/2006/main">
            <a:off x="609600" y="54673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2FF00"/>
                </a:solidFill>
                <a:latin typeface="Helvetica Neue"/>
                <a:ea typeface="Helvetica Neue"/>
                <a:cs typeface="Helvetica Neue"/>
              </a:defRPr>
            </a:pPr>
            <a:r>
              <a:rPr sz="2400" b="1">
                <a:solidFill>
                  <a:srgbClr val="B2FF00"/>
                </a:solidFill>
                <a:latin typeface="Helvetica Neue"/>
                <a:ea typeface="Helvetica Neue"/>
                <a:cs typeface="Helvetica Neue"/>
              </a:rPr>
              <a:t>Reuse is selective, not automatic</a:t>
            </a:r>
          </a:p>
        </p:txBody>
      </p:sp>
    </p:spTree>
    <p:extLst>
      <p:ext uri="{BB962C8B-B14F-4D97-AF65-F5344CB8AC3E}">
        <p14:creationId xmlns:p14="http://schemas.microsoft.com/office/powerpoint/2010/main" val="2114038951"/>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75A05A-85C4-4555-9573-F46EB20715B7}"/>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Kotlin expertise accelerates adoption</a:t>
            </a:r>
          </a:p>
        </p:txBody>
      </p:sp>
      <p:sp>
        <p:nvSpPr>
          <p:cNvPr id="2" name="">
            <a:extLst xmlns:a="http://schemas.openxmlformats.org/drawingml/2006/main">
              <a:ext uri="{FF2B5EF4-FFF2-40B4-BE49-F238E27FC236}">
                <a16:creationId xmlns:a16="http://schemas.microsoft.com/office/drawing/2014/main" id="{C2248E85-05DE-4228-A569-10F3DCFE9A54}"/>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4F65ACDB-5472-4472-A03D-637036C5A068}"/>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6ED4E2C-E094-4EFF-885C-444B6A22932A}"/>
              </a:ext>
            </a:extLst>
          </p:cNvPr>
          <p:cNvSpPr>
            <a:spLocks xmlns:a="http://schemas.openxmlformats.org/drawingml/2006/main" noGrp="1"/>
          </p:cNvSpPr>
          <p:nvPr/>
        </p:nvSpPr>
        <p:spPr>
          <a:xfrm xmlns:a="http://schemas.openxmlformats.org/drawingml/2006/main">
            <a:off x="609600" y="1885950"/>
            <a:ext cx="10477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B2FF00"/>
                </a:solidFill>
                <a:latin typeface="Helvetica Neue"/>
                <a:ea typeface="Helvetica Neue"/>
                <a:cs typeface="Helvetica Neue"/>
              </a:defRPr>
            </a:pPr>
            <a:r>
              <a:rPr sz="3300" b="1">
                <a:solidFill>
                  <a:srgbClr val="B2FF00"/>
                </a:solidFill>
                <a:latin typeface="Helvetica Neue"/>
                <a:ea typeface="Helvetica Neue"/>
                <a:cs typeface="Helvetica Neue"/>
              </a:rPr>
              <a:t>The team learns new platform boundaries</a:t>
            </a:r>
          </a:p>
          <a:p xmlns:a="http://schemas.openxmlformats.org/drawingml/2006/main">
            <a:pPr>
              <a:defRPr sz="3300" b="1">
                <a:solidFill>
                  <a:srgbClr val="B2FF00"/>
                </a:solidFill>
                <a:latin typeface="Helvetica Neue"/>
                <a:ea typeface="Helvetica Neue"/>
                <a:cs typeface="Helvetica Neue"/>
              </a:defRPr>
            </a:pPr>
            <a:r>
              <a:rPr sz="3300" b="1">
                <a:solidFill>
                  <a:srgbClr val="B2FF00"/>
                </a:solidFill>
                <a:latin typeface="Helvetica Neue"/>
                <a:ea typeface="Helvetica Neue"/>
                <a:cs typeface="Helvetica Neue"/>
              </a:rPr>
              <a:t>while keeping a familiar language</a:t>
            </a:r>
          </a:p>
        </p:txBody>
      </p:sp>
      <p:sp>
        <p:nvSpPr>
          <p:cNvPr id="5" name="">
            <a:extLst xmlns:a="http://schemas.openxmlformats.org/drawingml/2006/main">
              <a:ext uri="{FF2B5EF4-FFF2-40B4-BE49-F238E27FC236}">
                <a16:creationId xmlns:a16="http://schemas.microsoft.com/office/drawing/2014/main" id="{7293396B-7CD6-4433-9F0A-099DF255D101}"/>
              </a:ext>
            </a:extLst>
          </p:cNvPr>
          <p:cNvSpPr>
            <a:spLocks xmlns:a="http://schemas.openxmlformats.org/drawingml/2006/main" noGrp="1"/>
          </p:cNvSpPr>
          <p:nvPr/>
        </p:nvSpPr>
        <p:spPr>
          <a:xfrm xmlns:a="http://schemas.openxmlformats.org/drawingml/2006/main">
            <a:off x="609600" y="35242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2FF00"/>
                </a:solidFill>
                <a:latin typeface="Helvetica Neue"/>
                <a:ea typeface="Helvetica Neue"/>
                <a:cs typeface="Helvetica Neue"/>
              </a:defRPr>
            </a:pPr>
            <a:r>
              <a:rPr sz="2250" b="1">
                <a:solidFill>
                  <a:srgbClr val="B2FF00"/>
                </a:solidFill>
                <a:latin typeface="Helvetica Neue"/>
                <a:ea typeface="Helvetica Neue"/>
                <a:cs typeface="Helvetica Neue"/>
              </a:rPr>
              <a:t>Existing strengths</a:t>
            </a:r>
          </a:p>
        </p:txBody>
      </p:sp>
      <p:sp>
        <p:nvSpPr>
          <p:cNvPr id="6" name="">
            <a:extLst xmlns:a="http://schemas.openxmlformats.org/drawingml/2006/main">
              <a:ext uri="{FF2B5EF4-FFF2-40B4-BE49-F238E27FC236}">
                <a16:creationId xmlns:a16="http://schemas.microsoft.com/office/drawing/2014/main" id="{7FB62AA1-C9AC-430F-9EF3-8F48DE3B324E}"/>
              </a:ext>
            </a:extLst>
          </p:cNvPr>
          <p:cNvSpPr>
            <a:spLocks xmlns:a="http://schemas.openxmlformats.org/drawingml/2006/main" noGrp="1"/>
          </p:cNvSpPr>
          <p:nvPr/>
        </p:nvSpPr>
        <p:spPr>
          <a:xfrm xmlns:a="http://schemas.openxmlformats.org/drawingml/2006/main">
            <a:off x="609600" y="4086225"/>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Kotlin models, coroutines, use cases and repository patterns carry into the shared core.</a:t>
            </a:r>
          </a:p>
        </p:txBody>
      </p:sp>
      <p:sp>
        <p:nvSpPr>
          <p:cNvPr id="7" name="">
            <a:extLst xmlns:a="http://schemas.openxmlformats.org/drawingml/2006/main">
              <a:ext uri="{FF2B5EF4-FFF2-40B4-BE49-F238E27FC236}">
                <a16:creationId xmlns:a16="http://schemas.microsoft.com/office/drawing/2014/main" id="{8153683B-93A2-4114-90C0-5E0FF71FD2C7}"/>
              </a:ext>
            </a:extLst>
          </p:cNvPr>
          <p:cNvSpPr>
            <a:spLocks xmlns:a="http://schemas.openxmlformats.org/drawingml/2006/main" noGrp="1"/>
          </p:cNvSpPr>
          <p:nvPr/>
        </p:nvSpPr>
        <p:spPr>
          <a:xfrm xmlns:a="http://schemas.openxmlformats.org/drawingml/2006/main">
            <a:off x="6438900" y="352425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2FF00"/>
                </a:solidFill>
                <a:latin typeface="Helvetica Neue"/>
                <a:ea typeface="Helvetica Neue"/>
                <a:cs typeface="Helvetica Neue"/>
              </a:defRPr>
            </a:pPr>
            <a:r>
              <a:rPr sz="2250" b="1">
                <a:solidFill>
                  <a:srgbClr val="B2FF00"/>
                </a:solidFill>
                <a:latin typeface="Helvetica Neue"/>
                <a:ea typeface="Helvetica Neue"/>
                <a:cs typeface="Helvetica Neue"/>
              </a:rPr>
              <a:t>Focused learning</a:t>
            </a:r>
          </a:p>
        </p:txBody>
      </p:sp>
      <p:sp>
        <p:nvSpPr>
          <p:cNvPr id="8" name="">
            <a:extLst xmlns:a="http://schemas.openxmlformats.org/drawingml/2006/main">
              <a:ext uri="{FF2B5EF4-FFF2-40B4-BE49-F238E27FC236}">
                <a16:creationId xmlns:a16="http://schemas.microsoft.com/office/drawing/2014/main" id="{88150F3E-84E3-4355-98B6-0436178DE16D}"/>
              </a:ext>
            </a:extLst>
          </p:cNvPr>
          <p:cNvSpPr>
            <a:spLocks xmlns:a="http://schemas.openxmlformats.org/drawingml/2006/main" noGrp="1"/>
          </p:cNvSpPr>
          <p:nvPr/>
        </p:nvSpPr>
        <p:spPr>
          <a:xfrm xmlns:a="http://schemas.openxmlformats.org/drawingml/2006/main">
            <a:off x="6438900" y="4086225"/>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iOS framework integration, Swift async boundaries and multiplatform dependency selection.</a:t>
            </a:r>
          </a:p>
        </p:txBody>
      </p:sp>
      <p:sp>
        <p:nvSpPr>
          <p:cNvPr id="9" name="">
            <a:extLst xmlns:a="http://schemas.openxmlformats.org/drawingml/2006/main">
              <a:ext uri="{FF2B5EF4-FFF2-40B4-BE49-F238E27FC236}">
                <a16:creationId xmlns:a16="http://schemas.microsoft.com/office/drawing/2014/main" id="{761F522F-9436-4674-84A4-8FE41136C0EA}"/>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Pilot evidence will establish the timeline. Kotlin familiarity alone is not an estimate.</a:t>
            </a:r>
          </a:p>
        </p:txBody>
      </p:sp>
    </p:spTree>
    <p:extLst>
      <p:ext uri="{BB962C8B-B14F-4D97-AF65-F5344CB8AC3E}">
        <p14:creationId xmlns:p14="http://schemas.microsoft.com/office/powerpoint/2010/main" val="1528907989"/>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C3FBD3-A3F2-410B-8B46-03D746A0C4CF}"/>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KMP and React Native for this initiative</a:t>
            </a:r>
          </a:p>
        </p:txBody>
      </p:sp>
      <p:sp>
        <p:nvSpPr>
          <p:cNvPr id="2" name="">
            <a:extLst xmlns:a="http://schemas.openxmlformats.org/drawingml/2006/main">
              <a:ext uri="{FF2B5EF4-FFF2-40B4-BE49-F238E27FC236}">
                <a16:creationId xmlns:a16="http://schemas.microsoft.com/office/drawing/2014/main" id="{0D8C9BFC-151A-4E89-B17D-B0F346BCDC4D}"/>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D83C93E0-B932-4DE4-AA2B-308B2AD9FE45}"/>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09</a:t>
            </a:r>
          </a:p>
        </p:txBody>
      </p:sp>
      <p:graphicFrame>
        <p:nvGraphicFramePr>
          <p:cNvPr id="9" name=""/>
          <p:cNvGraphicFramePr/>
          <p:nvPr/>
        </p:nvGraphicFramePr>
        <p:xfrm>
          <a:off xmlns:a="http://schemas.openxmlformats.org/drawingml/2006/main" x="609600" y="1790700"/>
          <a:ext xmlns:a="http://schemas.openxmlformats.org/drawingml/2006/main" cx="10972800" cy="3619500"/>
        </p:xfrm>
        <a:graphic xmlns:a="http://schemas.openxmlformats.org/drawingml/2006/main">
          <a:graphicData uri="http://schemas.openxmlformats.org/drawingml/2006/table">
            <a:tbl>
              <a:tblPr/>
              <a:tblGrid>
                <a:gridCol w="2476500"/>
                <a:gridCol w="4248150"/>
                <a:gridCol w="4248150"/>
              </a:tblGrid>
              <a:tr h="603250">
                <a:tc>
                  <a:txBody>
                    <a:bodyPr>
                      <a:noAutofit/>
                    </a:bodyPr>
                    <a:lstStyle/>
                    <a:p>
                      <a:r>
                        <a:rPr sz="1575" b="1">
                          <a:solidFill>
                            <a:srgbClr val="050505"/>
                          </a:solidFill>
                          <a:latin typeface="Helvetica Neue"/>
                          <a:ea typeface="Helvetica Neue"/>
                          <a:cs typeface="Helvetica Neue"/>
                        </a:rPr>
                        <a:t>Decision factor</a:t>
                      </a:r>
                    </a:p>
                  </a:txBody>
                  <a:tcPr marL="91440" marR="91440" marT="45720" marB="45720">
                    <a:solidFill>
                      <a:srgbClr val="B2FF00"/>
                    </a:solidFill>
                  </a:tcPr>
                </a:tc>
                <a:tc>
                  <a:txBody>
                    <a:bodyPr>
                      <a:noAutofit/>
                    </a:bodyPr>
                    <a:lstStyle/>
                    <a:p>
                      <a:r>
                        <a:rPr sz="1575" b="1">
                          <a:solidFill>
                            <a:srgbClr val="050505"/>
                          </a:solidFill>
                          <a:latin typeface="Helvetica Neue"/>
                          <a:ea typeface="Helvetica Neue"/>
                          <a:cs typeface="Helvetica Neue"/>
                        </a:rPr>
                        <a:t>KMP</a:t>
                      </a:r>
                    </a:p>
                  </a:txBody>
                  <a:tcPr marL="91440" marR="91440" marT="45720" marB="45720">
                    <a:solidFill>
                      <a:srgbClr val="B2FF00"/>
                    </a:solidFill>
                  </a:tcPr>
                </a:tc>
                <a:tc>
                  <a:txBody>
                    <a:bodyPr>
                      <a:noAutofit/>
                    </a:bodyPr>
                    <a:lstStyle/>
                    <a:p>
                      <a:r>
                        <a:rPr sz="1575" b="1">
                          <a:solidFill>
                            <a:srgbClr val="050505"/>
                          </a:solidFill>
                          <a:latin typeface="Helvetica Neue"/>
                          <a:ea typeface="Helvetica Neue"/>
                          <a:cs typeface="Helvetica Neue"/>
                        </a:rPr>
                        <a:t>React Native</a:t>
                      </a:r>
                    </a:p>
                  </a:txBody>
                  <a:tcPr marL="91440" marR="91440" marT="45720" marB="45720">
                    <a:solidFill>
                      <a:srgbClr val="B2FF00"/>
                    </a:solidFill>
                  </a:tcPr>
                </a:tc>
              </a:tr>
              <a:tr h="603250">
                <a:tc>
                  <a:txBody>
                    <a:bodyPr>
                      <a:noAutofit/>
                    </a:bodyPr>
                    <a:lstStyle/>
                    <a:p>
                      <a:r>
                        <a:rPr sz="1575" b="0">
                          <a:solidFill>
                            <a:srgbClr val="F6F6F2"/>
                          </a:solidFill>
                          <a:latin typeface="Helvetica Neue"/>
                          <a:ea typeface="Helvetica Neue"/>
                          <a:cs typeface="Helvetica Neue"/>
                        </a:rPr>
                        <a:t>Existing Kotlin logic</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Move compatible logic to shared core</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Expose native logic or port it to JS / TS</a:t>
                      </a:r>
                    </a:p>
                  </a:txBody>
                  <a:tcPr marL="91440" marR="91440" marT="45720" marB="45720">
                    <a:solidFill>
                      <a:srgbClr val="050505"/>
                    </a:solidFill>
                  </a:tcPr>
                </a:tc>
              </a:tr>
              <a:tr h="603250">
                <a:tc>
                  <a:txBody>
                    <a:bodyPr>
                      <a:noAutofit/>
                    </a:bodyPr>
                    <a:lstStyle/>
                    <a:p>
                      <a:r>
                        <a:rPr sz="1575" b="0">
                          <a:solidFill>
                            <a:srgbClr val="F6F6F2"/>
                          </a:solidFill>
                          <a:latin typeface="Helvetica Neue"/>
                          <a:ea typeface="Helvetica Neue"/>
                          <a:cs typeface="Helvetica Neue"/>
                        </a:rPr>
                        <a:t>Existing native UI</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Keep screens and share logic first</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Add React Native screens incrementally</a:t>
                      </a:r>
                    </a:p>
                  </a:txBody>
                  <a:tcPr marL="91440" marR="91440" marT="45720" marB="45720">
                    <a:solidFill>
                      <a:srgbClr val="050505"/>
                    </a:solidFill>
                  </a:tcPr>
                </a:tc>
              </a:tr>
              <a:tr h="603250">
                <a:tc>
                  <a:txBody>
                    <a:bodyPr>
                      <a:noAutofit/>
                    </a:bodyPr>
                    <a:lstStyle/>
                    <a:p>
                      <a:r>
                        <a:rPr sz="1575" b="0">
                          <a:solidFill>
                            <a:srgbClr val="F6F6F2"/>
                          </a:solidFill>
                          <a:latin typeface="Helvetica Neue"/>
                          <a:ea typeface="Helvetica Neue"/>
                          <a:cs typeface="Helvetica Neue"/>
                        </a:rPr>
                        <a:t>Native functionality</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Platform code and Kotlin / Swift interop</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Native modules and components through JSI</a:t>
                      </a:r>
                    </a:p>
                  </a:txBody>
                  <a:tcPr marL="91440" marR="91440" marT="45720" marB="45720">
                    <a:solidFill>
                      <a:srgbClr val="050505"/>
                    </a:solidFill>
                  </a:tcPr>
                </a:tc>
              </a:tr>
              <a:tr h="603250">
                <a:tc>
                  <a:txBody>
                    <a:bodyPr>
                      <a:noAutofit/>
                    </a:bodyPr>
                    <a:lstStyle/>
                    <a:p>
                      <a:r>
                        <a:rPr sz="1575" b="0">
                          <a:solidFill>
                            <a:srgbClr val="F6F6F2"/>
                          </a:solidFill>
                          <a:latin typeface="Helvetica Neue"/>
                          <a:ea typeface="Helvetica Neue"/>
                          <a:cs typeface="Helvetica Neue"/>
                        </a:rPr>
                        <a:t>Team adoption</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Build on reported Kotlin expertise</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Requires React / JS / TS expertise</a:t>
                      </a:r>
                    </a:p>
                  </a:txBody>
                  <a:tcPr marL="91440" marR="91440" marT="45720" marB="45720">
                    <a:solidFill>
                      <a:srgbClr val="050505"/>
                    </a:solidFill>
                  </a:tcPr>
                </a:tc>
              </a:tr>
              <a:tr h="603250">
                <a:tc>
                  <a:txBody>
                    <a:bodyPr>
                      <a:noAutofit/>
                    </a:bodyPr>
                    <a:lstStyle/>
                    <a:p>
                      <a:r>
                        <a:rPr sz="1575" b="0">
                          <a:solidFill>
                            <a:srgbClr val="F6F6F2"/>
                          </a:solidFill>
                          <a:latin typeface="Helvetica Neue"/>
                          <a:ea typeface="Helvetica Neue"/>
                          <a:cs typeface="Helvetica Neue"/>
                        </a:rPr>
                        <a:t>Device API and streams</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Supported through client libraries</a:t>
                      </a:r>
                    </a:p>
                  </a:txBody>
                  <a:tcPr marL="91440" marR="91440" marT="45720" marB="45720">
                    <a:solidFill>
                      <a:srgbClr val="050505"/>
                    </a:solidFill>
                  </a:tcPr>
                </a:tc>
                <a:tc>
                  <a:txBody>
                    <a:bodyPr>
                      <a:noAutofit/>
                    </a:bodyPr>
                    <a:lstStyle/>
                    <a:p>
                      <a:r>
                        <a:rPr sz="1575" b="0">
                          <a:solidFill>
                            <a:srgbClr val="F6F6F2"/>
                          </a:solidFill>
                          <a:latin typeface="Helvetica Neue"/>
                          <a:ea typeface="Helvetica Neue"/>
                          <a:cs typeface="Helvetica Neue"/>
                        </a:rPr>
                        <a:t>Supported through client libraries</a:t>
                      </a:r>
                    </a:p>
                  </a:txBody>
                  <a:tcPr marL="91440" marR="91440" marT="45720" marB="45720">
                    <a:solidFill>
                      <a:srgbClr val="050505"/>
                    </a:solidFill>
                  </a:tcPr>
                </a:tc>
              </a:tr>
            </a:tbl>
          </a:graphicData>
        </a:graphic>
      </p:graphicFrame>
      <p:sp>
        <p:nvSpPr>
          <p:cNvPr id="5" name="">
            <a:extLst xmlns:a="http://schemas.openxmlformats.org/drawingml/2006/main">
              <a:ext uri="{FF2B5EF4-FFF2-40B4-BE49-F238E27FC236}">
                <a16:creationId xmlns:a16="http://schemas.microsoft.com/office/drawing/2014/main" id="{C11B6886-1FBC-4405-9477-4DC9277CC0BA}"/>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KMP fits our proposed shared-core migration. React Native remains credible for a React-led UI strategy.</a:t>
            </a:r>
          </a:p>
        </p:txBody>
      </p:sp>
    </p:spTree>
    <p:extLst>
      <p:ext uri="{BB962C8B-B14F-4D97-AF65-F5344CB8AC3E}">
        <p14:creationId xmlns:p14="http://schemas.microsoft.com/office/powerpoint/2010/main" val="1514729726"/>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C15A708-460C-4AD9-B780-FBC63D0C3F21}"/>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Shared architecture and foundation</a:t>
            </a:r>
          </a:p>
        </p:txBody>
      </p:sp>
      <p:sp>
        <p:nvSpPr>
          <p:cNvPr id="2" name="">
            <a:extLst xmlns:a="http://schemas.openxmlformats.org/drawingml/2006/main">
              <a:ext uri="{FF2B5EF4-FFF2-40B4-BE49-F238E27FC236}">
                <a16:creationId xmlns:a16="http://schemas.microsoft.com/office/drawing/2014/main" id="{EBDABEC1-588D-4EFF-9EBD-DC1523B56472}"/>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AFED041B-D34A-4541-A745-91EBE8E787E7}"/>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E0A60FAB-0B60-4223-9B54-8943EE074919}"/>
              </a:ext>
            </a:extLst>
          </p:cNvPr>
          <p:cNvSpPr>
            <a:spLocks xmlns:a="http://schemas.openxmlformats.org/drawingml/2006/main" noGrp="1"/>
          </p:cNvSpPr>
          <p:nvPr/>
        </p:nvSpPr>
        <p:spPr>
          <a:xfrm xmlns:a="http://schemas.openxmlformats.org/drawingml/2006/main">
            <a:off x="609600" y="1819275"/>
            <a:ext cx="7334250" cy="590550"/>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5" name="">
            <a:extLst xmlns:a="http://schemas.openxmlformats.org/drawingml/2006/main">
              <a:ext uri="{FF2B5EF4-FFF2-40B4-BE49-F238E27FC236}">
                <a16:creationId xmlns:a16="http://schemas.microsoft.com/office/drawing/2014/main" id="{4F63AE55-2D65-4714-AFA7-A4BC847EE68A}"/>
              </a:ext>
            </a:extLst>
          </p:cNvPr>
          <p:cNvSpPr>
            <a:spLocks xmlns:a="http://schemas.openxmlformats.org/drawingml/2006/main" noGrp="1"/>
          </p:cNvSpPr>
          <p:nvPr/>
        </p:nvSpPr>
        <p:spPr>
          <a:xfrm xmlns:a="http://schemas.openxmlformats.org/drawingml/2006/main">
            <a:off x="781050" y="1990725"/>
            <a:ext cx="6991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UI / presentation</a:t>
            </a:r>
          </a:p>
        </p:txBody>
      </p:sp>
      <p:sp>
        <p:nvSpPr>
          <p:cNvPr id="6" name="">
            <a:extLst xmlns:a="http://schemas.openxmlformats.org/drawingml/2006/main">
              <a:ext uri="{FF2B5EF4-FFF2-40B4-BE49-F238E27FC236}">
                <a16:creationId xmlns:a16="http://schemas.microsoft.com/office/drawing/2014/main" id="{813382B5-8F68-4F79-9CD1-56D3AD9FA78E}"/>
              </a:ext>
            </a:extLst>
          </p:cNvPr>
          <p:cNvSpPr>
            <a:spLocks xmlns:a="http://schemas.openxmlformats.org/drawingml/2006/main" noGrp="1"/>
          </p:cNvSpPr>
          <p:nvPr/>
        </p:nvSpPr>
        <p:spPr>
          <a:xfrm xmlns:a="http://schemas.openxmlformats.org/drawingml/2006/main">
            <a:off x="609600" y="2619375"/>
            <a:ext cx="7334250" cy="590550"/>
          </a:xfrm>
          <a:prstGeom xmlns:a="http://schemas.openxmlformats.org/drawingml/2006/main" prst="rect">
            <a:avLst/>
          </a:prstGeom>
          <a:solidFill xmlns:a="http://schemas.openxmlformats.org/drawingml/2006/main">
            <a:srgbClr val="B2FF00"/>
          </a:solidFill>
          <a:ln xmlns:a="http://schemas.openxmlformats.org/drawingml/2006/main" w="9525">
            <a:solidFill>
              <a:srgbClr val="363D36"/>
            </a:solidFill>
          </a:ln>
        </p:spPr>
      </p:sp>
      <p:sp>
        <p:nvSpPr>
          <p:cNvPr id="7" name="">
            <a:extLst xmlns:a="http://schemas.openxmlformats.org/drawingml/2006/main">
              <a:ext uri="{FF2B5EF4-FFF2-40B4-BE49-F238E27FC236}">
                <a16:creationId xmlns:a16="http://schemas.microsoft.com/office/drawing/2014/main" id="{A0B57342-A720-42D4-B708-5977F80AEF57}"/>
              </a:ext>
            </a:extLst>
          </p:cNvPr>
          <p:cNvSpPr>
            <a:spLocks xmlns:a="http://schemas.openxmlformats.org/drawingml/2006/main" noGrp="1"/>
          </p:cNvSpPr>
          <p:nvPr/>
        </p:nvSpPr>
        <p:spPr>
          <a:xfrm xmlns:a="http://schemas.openxmlformats.org/drawingml/2006/main">
            <a:off x="781050" y="2790825"/>
            <a:ext cx="6991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50505"/>
                </a:solidFill>
                <a:latin typeface="Helvetica Neue"/>
                <a:ea typeface="Helvetica Neue"/>
                <a:cs typeface="Helvetica Neue"/>
              </a:defRPr>
            </a:pPr>
            <a:r>
              <a:rPr sz="1875" b="1">
                <a:solidFill>
                  <a:srgbClr val="050505"/>
                </a:solidFill>
                <a:latin typeface="Helvetica Neue"/>
                <a:ea typeface="Helvetica Neue"/>
                <a:cs typeface="Helvetica Neue"/>
              </a:rPr>
              <a:t>Use cases</a:t>
            </a:r>
          </a:p>
        </p:txBody>
      </p:sp>
      <p:sp>
        <p:nvSpPr>
          <p:cNvPr id="8" name="">
            <a:extLst xmlns:a="http://schemas.openxmlformats.org/drawingml/2006/main">
              <a:ext uri="{FF2B5EF4-FFF2-40B4-BE49-F238E27FC236}">
                <a16:creationId xmlns:a16="http://schemas.microsoft.com/office/drawing/2014/main" id="{38718AC6-4075-4F45-8BA7-DFDB1528F422}"/>
              </a:ext>
            </a:extLst>
          </p:cNvPr>
          <p:cNvSpPr>
            <a:spLocks xmlns:a="http://schemas.openxmlformats.org/drawingml/2006/main" noGrp="1"/>
          </p:cNvSpPr>
          <p:nvPr/>
        </p:nvSpPr>
        <p:spPr>
          <a:xfrm xmlns:a="http://schemas.openxmlformats.org/drawingml/2006/main">
            <a:off x="609600" y="3419475"/>
            <a:ext cx="7334250" cy="590550"/>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9" name="">
            <a:extLst xmlns:a="http://schemas.openxmlformats.org/drawingml/2006/main">
              <a:ext uri="{FF2B5EF4-FFF2-40B4-BE49-F238E27FC236}">
                <a16:creationId xmlns:a16="http://schemas.microsoft.com/office/drawing/2014/main" id="{7B17374B-0CCC-44E6-9C99-4216230A8A6D}"/>
              </a:ext>
            </a:extLst>
          </p:cNvPr>
          <p:cNvSpPr>
            <a:spLocks xmlns:a="http://schemas.openxmlformats.org/drawingml/2006/main" noGrp="1"/>
          </p:cNvSpPr>
          <p:nvPr/>
        </p:nvSpPr>
        <p:spPr>
          <a:xfrm xmlns:a="http://schemas.openxmlformats.org/drawingml/2006/main">
            <a:off x="781050" y="3590925"/>
            <a:ext cx="6991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Repository interfaces</a:t>
            </a:r>
          </a:p>
        </p:txBody>
      </p:sp>
      <p:sp>
        <p:nvSpPr>
          <p:cNvPr id="10" name="">
            <a:extLst xmlns:a="http://schemas.openxmlformats.org/drawingml/2006/main">
              <a:ext uri="{FF2B5EF4-FFF2-40B4-BE49-F238E27FC236}">
                <a16:creationId xmlns:a16="http://schemas.microsoft.com/office/drawing/2014/main" id="{9E7C5D0E-D3A3-469A-88CA-F04C653F6193}"/>
              </a:ext>
            </a:extLst>
          </p:cNvPr>
          <p:cNvSpPr>
            <a:spLocks xmlns:a="http://schemas.openxmlformats.org/drawingml/2006/main" noGrp="1"/>
          </p:cNvSpPr>
          <p:nvPr/>
        </p:nvSpPr>
        <p:spPr>
          <a:xfrm xmlns:a="http://schemas.openxmlformats.org/drawingml/2006/main">
            <a:off x="609600" y="4219575"/>
            <a:ext cx="3524250" cy="714375"/>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11" name="">
            <a:extLst xmlns:a="http://schemas.openxmlformats.org/drawingml/2006/main">
              <a:ext uri="{FF2B5EF4-FFF2-40B4-BE49-F238E27FC236}">
                <a16:creationId xmlns:a16="http://schemas.microsoft.com/office/drawing/2014/main" id="{A2B42B13-F074-4A0E-8163-1EDA61B67D55}"/>
              </a:ext>
            </a:extLst>
          </p:cNvPr>
          <p:cNvSpPr>
            <a:spLocks xmlns:a="http://schemas.openxmlformats.org/drawingml/2006/main" noGrp="1"/>
          </p:cNvSpPr>
          <p:nvPr/>
        </p:nvSpPr>
        <p:spPr>
          <a:xfrm xmlns:a="http://schemas.openxmlformats.org/drawingml/2006/main">
            <a:off x="781050" y="4391025"/>
            <a:ext cx="3181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Ktor API / streams</a:t>
            </a:r>
          </a:p>
        </p:txBody>
      </p:sp>
      <p:sp>
        <p:nvSpPr>
          <p:cNvPr id="12" name="">
            <a:extLst xmlns:a="http://schemas.openxmlformats.org/drawingml/2006/main">
              <a:ext uri="{FF2B5EF4-FFF2-40B4-BE49-F238E27FC236}">
                <a16:creationId xmlns:a16="http://schemas.microsoft.com/office/drawing/2014/main" id="{510231E7-A761-434F-808F-DD567E3812C7}"/>
              </a:ext>
            </a:extLst>
          </p:cNvPr>
          <p:cNvSpPr>
            <a:spLocks xmlns:a="http://schemas.openxmlformats.org/drawingml/2006/main" noGrp="1"/>
          </p:cNvSpPr>
          <p:nvPr/>
        </p:nvSpPr>
        <p:spPr>
          <a:xfrm xmlns:a="http://schemas.openxmlformats.org/drawingml/2006/main">
            <a:off x="4419600" y="4219575"/>
            <a:ext cx="3524250" cy="714375"/>
          </a:xfrm>
          <a:prstGeom xmlns:a="http://schemas.openxmlformats.org/drawingml/2006/main" prst="rect">
            <a:avLst/>
          </a:prstGeom>
          <a:solidFill xmlns:a="http://schemas.openxmlformats.org/drawingml/2006/main">
            <a:srgbClr val="161A17"/>
          </a:solidFill>
          <a:ln xmlns:a="http://schemas.openxmlformats.org/drawingml/2006/main" w="9525">
            <a:solidFill>
              <a:srgbClr val="363D36"/>
            </a:solidFill>
          </a:ln>
        </p:spPr>
      </p:sp>
      <p:sp>
        <p:nvSpPr>
          <p:cNvPr id="13" name="">
            <a:extLst xmlns:a="http://schemas.openxmlformats.org/drawingml/2006/main">
              <a:ext uri="{FF2B5EF4-FFF2-40B4-BE49-F238E27FC236}">
                <a16:creationId xmlns:a16="http://schemas.microsoft.com/office/drawing/2014/main" id="{50E8E57D-83DC-4070-B84D-D4302DAED0E0}"/>
              </a:ext>
            </a:extLst>
          </p:cNvPr>
          <p:cNvSpPr>
            <a:spLocks xmlns:a="http://schemas.openxmlformats.org/drawingml/2006/main" noGrp="1"/>
          </p:cNvSpPr>
          <p:nvPr/>
        </p:nvSpPr>
        <p:spPr>
          <a:xfrm xmlns:a="http://schemas.openxmlformats.org/drawingml/2006/main">
            <a:off x="4591050" y="4391025"/>
            <a:ext cx="3181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6F6F2"/>
                </a:solidFill>
                <a:latin typeface="Helvetica Neue"/>
                <a:ea typeface="Helvetica Neue"/>
                <a:cs typeface="Helvetica Neue"/>
              </a:defRPr>
            </a:pPr>
            <a:r>
              <a:rPr sz="1875" b="1">
                <a:solidFill>
                  <a:srgbClr val="F6F6F2"/>
                </a:solidFill>
                <a:latin typeface="Helvetica Neue"/>
                <a:ea typeface="Helvetica Neue"/>
                <a:cs typeface="Helvetica Neue"/>
              </a:rPr>
              <a:t>Room / DataStore</a:t>
            </a:r>
          </a:p>
        </p:txBody>
      </p:sp>
      <p:sp>
        <p:nvSpPr>
          <p:cNvPr id="14" name="">
            <a:extLst xmlns:a="http://schemas.openxmlformats.org/drawingml/2006/main">
              <a:ext uri="{FF2B5EF4-FFF2-40B4-BE49-F238E27FC236}">
                <a16:creationId xmlns:a16="http://schemas.microsoft.com/office/drawing/2014/main" id="{CFD241E2-D612-4D12-B0D1-FD1FC1E1F932}"/>
              </a:ext>
            </a:extLst>
          </p:cNvPr>
          <p:cNvSpPr>
            <a:spLocks xmlns:a="http://schemas.openxmlformats.org/drawingml/2006/main" noGrp="1"/>
          </p:cNvSpPr>
          <p:nvPr/>
        </p:nvSpPr>
        <p:spPr>
          <a:xfrm xmlns:a="http://schemas.openxmlformats.org/drawingml/2006/main">
            <a:off x="8620125" y="19621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2FF00"/>
                </a:solidFill>
                <a:latin typeface="Helvetica Neue"/>
                <a:ea typeface="Helvetica Neue"/>
                <a:cs typeface="Helvetica Neue"/>
              </a:defRPr>
            </a:pPr>
            <a:r>
              <a:rPr sz="2250" b="1">
                <a:solidFill>
                  <a:srgbClr val="B2FF00"/>
                </a:solidFill>
                <a:latin typeface="Helvetica Neue"/>
                <a:ea typeface="Helvetica Neue"/>
                <a:cs typeface="Helvetica Neue"/>
              </a:rPr>
              <a:t>Core modules</a:t>
            </a:r>
          </a:p>
        </p:txBody>
      </p:sp>
      <p:sp>
        <p:nvSpPr>
          <p:cNvPr id="15" name="">
            <a:extLst xmlns:a="http://schemas.openxmlformats.org/drawingml/2006/main">
              <a:ext uri="{FF2B5EF4-FFF2-40B4-BE49-F238E27FC236}">
                <a16:creationId xmlns:a16="http://schemas.microsoft.com/office/drawing/2014/main" id="{735BD463-133E-4AA1-B94A-5A98A6E4DFB2}"/>
              </a:ext>
            </a:extLst>
          </p:cNvPr>
          <p:cNvSpPr>
            <a:spLocks xmlns:a="http://schemas.openxmlformats.org/drawingml/2006/main" noGrp="1"/>
          </p:cNvSpPr>
          <p:nvPr/>
        </p:nvSpPr>
        <p:spPr>
          <a:xfrm xmlns:a="http://schemas.openxmlformats.org/drawingml/2006/main">
            <a:off x="8620125" y="2562225"/>
            <a:ext cx="285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6F2"/>
                </a:solidFill>
                <a:latin typeface="Helvetica Neue"/>
                <a:ea typeface="Helvetica Neue"/>
                <a:cs typeface="Helvetica Neue"/>
              </a:defRPr>
            </a:pPr>
            <a:r>
              <a:rPr sz="2175" b="0">
                <a:solidFill>
                  <a:srgbClr val="F6F6F2"/>
                </a:solidFill>
                <a:latin typeface="Helvetica Neue"/>
                <a:ea typeface="Helvetica Neue"/>
                <a:cs typeface="Helvetica Neue"/>
              </a:rPr>
              <a:t>common</a:t>
            </a:r>
          </a:p>
          <a:p xmlns:a="http://schemas.openxmlformats.org/drawingml/2006/main">
            <a:pPr>
              <a:defRPr sz="2175" b="0">
                <a:solidFill>
                  <a:srgbClr val="F6F6F2"/>
                </a:solidFill>
                <a:latin typeface="Helvetica Neue"/>
                <a:ea typeface="Helvetica Neue"/>
                <a:cs typeface="Helvetica Neue"/>
              </a:defRPr>
            </a:pPr>
            <a:r>
              <a:rPr sz="2175" b="0">
                <a:solidFill>
                  <a:srgbClr val="F6F6F2"/>
                </a:solidFill>
                <a:latin typeface="Helvetica Neue"/>
                <a:ea typeface="Helvetica Neue"/>
                <a:cs typeface="Helvetica Neue"/>
              </a:rPr>
              <a:t>network</a:t>
            </a:r>
          </a:p>
          <a:p xmlns:a="http://schemas.openxmlformats.org/drawingml/2006/main">
            <a:pPr>
              <a:defRPr sz="2175" b="0">
                <a:solidFill>
                  <a:srgbClr val="F6F6F2"/>
                </a:solidFill>
                <a:latin typeface="Helvetica Neue"/>
                <a:ea typeface="Helvetica Neue"/>
                <a:cs typeface="Helvetica Neue"/>
              </a:defRPr>
            </a:pPr>
            <a:r>
              <a:rPr sz="2175" b="0">
                <a:solidFill>
                  <a:srgbClr val="F6F6F2"/>
                </a:solidFill>
                <a:latin typeface="Helvetica Neue"/>
                <a:ea typeface="Helvetica Neue"/>
                <a:cs typeface="Helvetica Neue"/>
              </a:rPr>
              <a:t>database</a:t>
            </a:r>
          </a:p>
          <a:p xmlns:a="http://schemas.openxmlformats.org/drawingml/2006/main">
            <a:pPr>
              <a:defRPr sz="2175" b="0">
                <a:solidFill>
                  <a:srgbClr val="F6F6F2"/>
                </a:solidFill>
                <a:latin typeface="Helvetica Neue"/>
                <a:ea typeface="Helvetica Neue"/>
                <a:cs typeface="Helvetica Neue"/>
              </a:defRPr>
            </a:pPr>
            <a:r>
              <a:rPr sz="2175" b="0">
                <a:solidFill>
                  <a:srgbClr val="F6F6F2"/>
                </a:solidFill>
                <a:latin typeface="Helvetica Neue"/>
                <a:ea typeface="Helvetica Neue"/>
                <a:cs typeface="Helvetica Neue"/>
              </a:rPr>
              <a:t>datastore</a:t>
            </a:r>
          </a:p>
        </p:txBody>
      </p:sp>
      <p:sp>
        <p:nvSpPr>
          <p:cNvPr id="16" name="">
            <a:extLst xmlns:a="http://schemas.openxmlformats.org/drawingml/2006/main">
              <a:ext uri="{FF2B5EF4-FFF2-40B4-BE49-F238E27FC236}">
                <a16:creationId xmlns:a16="http://schemas.microsoft.com/office/drawing/2014/main" id="{C72F66AB-018D-4D8F-96E6-6BDABAA697A5}"/>
              </a:ext>
            </a:extLst>
          </p:cNvPr>
          <p:cNvSpPr>
            <a:spLocks xmlns:a="http://schemas.openxmlformats.org/drawingml/2006/main" noGrp="1"/>
          </p:cNvSpPr>
          <p:nvPr/>
        </p:nvSpPr>
        <p:spPr>
          <a:xfrm xmlns:a="http://schemas.openxmlformats.org/drawingml/2006/main">
            <a:off x="609600" y="5276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2FF00"/>
                </a:solidFill>
                <a:latin typeface="Helvetica Neue"/>
                <a:ea typeface="Helvetica Neue"/>
                <a:cs typeface="Helvetica Neue"/>
              </a:defRPr>
            </a:pPr>
            <a:r>
              <a:rPr sz="2175" b="0">
                <a:solidFill>
                  <a:srgbClr val="B2FF00"/>
                </a:solidFill>
                <a:latin typeface="Helvetica Neue"/>
                <a:ea typeface="Helvetica Neue"/>
                <a:cs typeface="Helvetica Neue"/>
              </a:rPr>
              <a:t>Koin dependency injection</a:t>
            </a:r>
          </a:p>
        </p:txBody>
      </p:sp>
      <p:sp>
        <p:nvSpPr>
          <p:cNvPr id="17" name="">
            <a:extLst xmlns:a="http://schemas.openxmlformats.org/drawingml/2006/main">
              <a:ext uri="{FF2B5EF4-FFF2-40B4-BE49-F238E27FC236}">
                <a16:creationId xmlns:a16="http://schemas.microsoft.com/office/drawing/2014/main" id="{C5381C7D-0866-467F-ADF3-73CAB88D9B32}"/>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Proposed native screens consume the same shared core that powers the Compose demo console.</a:t>
            </a:r>
          </a:p>
        </p:txBody>
      </p:sp>
    </p:spTree>
    <p:extLst>
      <p:ext uri="{BB962C8B-B14F-4D97-AF65-F5344CB8AC3E}">
        <p14:creationId xmlns:p14="http://schemas.microsoft.com/office/powerpoint/2010/main" val="1766519503"/>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2B33D4-5023-457A-9FC5-90A58F1C15F4}"/>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What the PoC contains today</a:t>
            </a:r>
          </a:p>
        </p:txBody>
      </p:sp>
      <p:sp>
        <p:nvSpPr>
          <p:cNvPr id="2" name="">
            <a:extLst xmlns:a="http://schemas.openxmlformats.org/drawingml/2006/main">
              <a:ext uri="{FF2B5EF4-FFF2-40B4-BE49-F238E27FC236}">
                <a16:creationId xmlns:a16="http://schemas.microsoft.com/office/drawing/2014/main" id="{B548D0FA-3AB1-483D-9F42-BA8988B00436}"/>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81FD6884-A14B-41D9-AEC5-45CA0AE315E8}"/>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11</a:t>
            </a:r>
          </a:p>
        </p:txBody>
      </p:sp>
      <p:graphicFrame>
        <p:nvGraphicFramePr>
          <p:cNvPr id="9" name=""/>
          <p:cNvGraphicFramePr/>
          <p:nvPr/>
        </p:nvGraphicFramePr>
        <p:xfrm>
          <a:off xmlns:a="http://schemas.openxmlformats.org/drawingml/2006/main" x="609600" y="1828800"/>
          <a:ext xmlns:a="http://schemas.openxmlformats.org/drawingml/2006/main" cx="10972800" cy="3400425"/>
        </p:xfrm>
        <a:graphic xmlns:a="http://schemas.openxmlformats.org/drawingml/2006/main">
          <a:graphicData uri="http://schemas.openxmlformats.org/drawingml/2006/table">
            <a:tbl>
              <a:tblPr/>
              <a:tblGrid>
                <a:gridCol w="2428875"/>
                <a:gridCol w="4476750"/>
                <a:gridCol w="4067175"/>
              </a:tblGrid>
              <a:tr h="680085">
                <a:tc>
                  <a:txBody>
                    <a:bodyPr>
                      <a:noAutofit/>
                    </a:bodyPr>
                    <a:lstStyle/>
                    <a:p>
                      <a:r>
                        <a:rPr sz="1725" b="1">
                          <a:solidFill>
                            <a:srgbClr val="050505"/>
                          </a:solidFill>
                          <a:latin typeface="Helvetica Neue"/>
                          <a:ea typeface="Helvetica Neue"/>
                          <a:cs typeface="Helvetica Neue"/>
                        </a:rPr>
                        <a:t>Capability</a:t>
                      </a:r>
                    </a:p>
                  </a:txBody>
                  <a:tcPr marL="91440" marR="91440" marT="45720" marB="45720">
                    <a:solidFill>
                      <a:srgbClr val="B2FF00"/>
                    </a:solidFill>
                  </a:tcPr>
                </a:tc>
                <a:tc>
                  <a:txBody>
                    <a:bodyPr>
                      <a:noAutofit/>
                    </a:bodyPr>
                    <a:lstStyle/>
                    <a:p>
                      <a:r>
                        <a:rPr sz="1725" b="1">
                          <a:solidFill>
                            <a:srgbClr val="050505"/>
                          </a:solidFill>
                          <a:latin typeface="Helvetica Neue"/>
                          <a:ea typeface="Helvetica Neue"/>
                          <a:cs typeface="Helvetica Neue"/>
                        </a:rPr>
                        <a:t>Current source evidence</a:t>
                      </a:r>
                    </a:p>
                  </a:txBody>
                  <a:tcPr marL="91440" marR="91440" marT="45720" marB="45720">
                    <a:solidFill>
                      <a:srgbClr val="B2FF00"/>
                    </a:solidFill>
                  </a:tcPr>
                </a:tc>
                <a:tc>
                  <a:txBody>
                    <a:bodyPr>
                      <a:noAutofit/>
                    </a:bodyPr>
                    <a:lstStyle/>
                    <a:p>
                      <a:r>
                        <a:rPr sz="1725" b="1">
                          <a:solidFill>
                            <a:srgbClr val="050505"/>
                          </a:solidFill>
                          <a:latin typeface="Helvetica Neue"/>
                          <a:ea typeface="Helvetica Neue"/>
                          <a:cs typeface="Helvetica Neue"/>
                        </a:rPr>
                        <a:t>Demo readiness</a:t>
                      </a:r>
                    </a:p>
                  </a:txBody>
                  <a:tcPr marL="91440" marR="91440" marT="45720" marB="45720">
                    <a:solidFill>
                      <a:srgbClr val="B2FF00"/>
                    </a:solidFill>
                  </a:tcPr>
                </a:tc>
              </a:tr>
              <a:tr h="680085">
                <a:tc>
                  <a:txBody>
                    <a:bodyPr>
                      <a:noAutofit/>
                    </a:bodyPr>
                    <a:lstStyle/>
                    <a:p>
                      <a:r>
                        <a:rPr sz="1725" b="0">
                          <a:solidFill>
                            <a:srgbClr val="F6F6F2"/>
                          </a:solidFill>
                          <a:latin typeface="Helvetica Neue"/>
                          <a:ea typeface="Helvetica Neue"/>
                          <a:cs typeface="Helvetica Neue"/>
                        </a:rPr>
                        <a:t>GraphQL discovery</a:t>
                      </a:r>
                    </a:p>
                  </a:txBody>
                  <a:tcPr marL="91440" marR="91440" marT="45720" marB="45720">
                    <a:solidFill>
                      <a:srgbClr val="050505"/>
                    </a:solidFill>
                  </a:tcPr>
                </a:tc>
                <a:tc>
                  <a:txBody>
                    <a:bodyPr>
                      <a:noAutofit/>
                    </a:bodyPr>
                    <a:lstStyle/>
                    <a:p>
                      <a:r>
                        <a:rPr sz="1725" b="0">
                          <a:solidFill>
                            <a:srgbClr val="F6F6F2"/>
                          </a:solidFill>
                          <a:latin typeface="Helvetica Neue"/>
                          <a:ea typeface="Helvetica Neue"/>
                          <a:cs typeface="Helvetica Neue"/>
                        </a:rPr>
                        <a:t>API, repository and use-case path</a:t>
                      </a:r>
                    </a:p>
                  </a:txBody>
                  <a:tcPr marL="91440" marR="91440" marT="45720" marB="45720">
                    <a:solidFill>
                      <a:srgbClr val="050505"/>
                    </a:solidFill>
                  </a:tcPr>
                </a:tc>
                <a:tc>
                  <a:txBody>
                    <a:bodyPr>
                      <a:noAutofit/>
                    </a:bodyPr>
                    <a:lstStyle/>
                    <a:p>
                      <a:r>
                        <a:rPr sz="1725" b="0">
                          <a:solidFill>
                            <a:srgbClr val="F6F6F2"/>
                          </a:solidFill>
                          <a:latin typeface="Helvetica Neue"/>
                          <a:ea typeface="Helvetica Neue"/>
                          <a:cs typeface="Helvetica Neue"/>
                        </a:rPr>
                        <a:t>Verify against the live server</a:t>
                      </a:r>
                    </a:p>
                  </a:txBody>
                  <a:tcPr marL="91440" marR="91440" marT="45720" marB="45720">
                    <a:solidFill>
                      <a:srgbClr val="050505"/>
                    </a:solidFill>
                  </a:tcPr>
                </a:tc>
              </a:tr>
              <a:tr h="680085">
                <a:tc>
                  <a:txBody>
                    <a:bodyPr>
                      <a:noAutofit/>
                    </a:bodyPr>
                    <a:lstStyle/>
                    <a:p>
                      <a:r>
                        <a:rPr sz="1725" b="0">
                          <a:solidFill>
                            <a:srgbClr val="F6F6F2"/>
                          </a:solidFill>
                          <a:latin typeface="Helvetica Neue"/>
                          <a:ea typeface="Helvetica Neue"/>
                          <a:cs typeface="Helvetica Neue"/>
                        </a:rPr>
                        <a:t>REST reads / writes</a:t>
                      </a:r>
                    </a:p>
                  </a:txBody>
                  <a:tcPr marL="91440" marR="91440" marT="45720" marB="45720">
                    <a:solidFill>
                      <a:srgbClr val="050505"/>
                    </a:solidFill>
                  </a:tcPr>
                </a:tc>
                <a:tc>
                  <a:txBody>
                    <a:bodyPr>
                      <a:noAutofit/>
                    </a:bodyPr>
                    <a:lstStyle/>
                    <a:p>
                      <a:r>
                        <a:rPr sz="1725" b="0">
                          <a:solidFill>
                            <a:srgbClr val="F6F6F2"/>
                          </a:solidFill>
                          <a:latin typeface="Helvetica Neue"/>
                          <a:ea typeface="Helvetica Neue"/>
                          <a:cs typeface="Helvetica Neue"/>
                        </a:rPr>
                        <a:t>Generic GET / PUT clients</a:t>
                      </a:r>
                    </a:p>
                  </a:txBody>
                  <a:tcPr marL="91440" marR="91440" marT="45720" marB="45720">
                    <a:solidFill>
                      <a:srgbClr val="050505"/>
                    </a:solidFill>
                  </a:tcPr>
                </a:tc>
                <a:tc>
                  <a:txBody>
                    <a:bodyPr>
                      <a:noAutofit/>
                    </a:bodyPr>
                    <a:lstStyle/>
                    <a:p>
                      <a:r>
                        <a:rPr sz="1725" b="0">
                          <a:solidFill>
                            <a:srgbClr val="F6F6F2"/>
                          </a:solidFill>
                          <a:latin typeface="Helvetica Neue"/>
                          <a:ea typeface="Helvetica Neue"/>
                          <a:cs typeface="Helvetica Neue"/>
                        </a:rPr>
                        <a:t>Add channel-specific operations</a:t>
                      </a:r>
                    </a:p>
                  </a:txBody>
                  <a:tcPr marL="91440" marR="91440" marT="45720" marB="45720">
                    <a:solidFill>
                      <a:srgbClr val="050505"/>
                    </a:solidFill>
                  </a:tcPr>
                </a:tc>
              </a:tr>
              <a:tr h="680085">
                <a:tc>
                  <a:txBody>
                    <a:bodyPr>
                      <a:noAutofit/>
                    </a:bodyPr>
                    <a:lstStyle/>
                    <a:p>
                      <a:r>
                        <a:rPr sz="1725" b="0">
                          <a:solidFill>
                            <a:srgbClr val="F6F6F2"/>
                          </a:solidFill>
                          <a:latin typeface="Helvetica Neue"/>
                          <a:ea typeface="Helvetica Neue"/>
                          <a:cs typeface="Helvetica Neue"/>
                        </a:rPr>
                        <a:t>Streaming</a:t>
                      </a:r>
                    </a:p>
                  </a:txBody>
                  <a:tcPr marL="91440" marR="91440" marT="45720" marB="45720">
                    <a:solidFill>
                      <a:srgbClr val="050505"/>
                    </a:solidFill>
                  </a:tcPr>
                </a:tc>
                <a:tc>
                  <a:txBody>
                    <a:bodyPr>
                      <a:noAutofit/>
                    </a:bodyPr>
                    <a:lstStyle/>
                    <a:p>
                      <a:r>
                        <a:rPr sz="1725" b="0">
                          <a:solidFill>
                            <a:srgbClr val="F6F6F2"/>
                          </a:solidFill>
                          <a:latin typeface="Helvetica Neue"/>
                          <a:ea typeface="Helvetica Neue"/>
                          <a:cs typeface="Helvetica Neue"/>
                        </a:rPr>
                        <a:t>WebSocket client and callback wrapper</a:t>
                      </a:r>
                    </a:p>
                  </a:txBody>
                  <a:tcPr marL="91440" marR="91440" marT="45720" marB="45720">
                    <a:solidFill>
                      <a:srgbClr val="050505"/>
                    </a:solidFill>
                  </a:tcPr>
                </a:tc>
                <a:tc>
                  <a:txBody>
                    <a:bodyPr>
                      <a:noAutofit/>
                    </a:bodyPr>
                    <a:lstStyle/>
                    <a:p>
                      <a:r>
                        <a:rPr sz="1725" b="0">
                          <a:solidFill>
                            <a:srgbClr val="F6F6F2"/>
                          </a:solidFill>
                          <a:latin typeface="Helvetica Neue"/>
                          <a:ea typeface="Helvetica Neue"/>
                          <a:cs typeface="Helvetica Neue"/>
                        </a:rPr>
                        <a:t>Device events use a demo source</a:t>
                      </a:r>
                    </a:p>
                  </a:txBody>
                  <a:tcPr marL="91440" marR="91440" marT="45720" marB="45720">
                    <a:solidFill>
                      <a:srgbClr val="050505"/>
                    </a:solidFill>
                  </a:tcPr>
                </a:tc>
              </a:tr>
              <a:tr h="680085">
                <a:tc>
                  <a:txBody>
                    <a:bodyPr>
                      <a:noAutofit/>
                    </a:bodyPr>
                    <a:lstStyle/>
                    <a:p>
                      <a:r>
                        <a:rPr sz="1725" b="0">
                          <a:solidFill>
                            <a:srgbClr val="F6F6F2"/>
                          </a:solidFill>
                          <a:latin typeface="Helvetica Neue"/>
                          <a:ea typeface="Helvetica Neue"/>
                          <a:cs typeface="Helvetica Neue"/>
                        </a:rPr>
                        <a:t>Persistence and logs</a:t>
                      </a:r>
                    </a:p>
                  </a:txBody>
                  <a:tcPr marL="91440" marR="91440" marT="45720" marB="45720">
                    <a:solidFill>
                      <a:srgbClr val="050505"/>
                    </a:solidFill>
                  </a:tcPr>
                </a:tc>
                <a:tc>
                  <a:txBody>
                    <a:bodyPr>
                      <a:noAutofit/>
                    </a:bodyPr>
                    <a:lstStyle/>
                    <a:p>
                      <a:r>
                        <a:rPr sz="1725" b="0">
                          <a:solidFill>
                            <a:srgbClr val="F6F6F2"/>
                          </a:solidFill>
                          <a:latin typeface="Helvetica Neue"/>
                          <a:ea typeface="Helvetica Neue"/>
                          <a:cs typeface="Helvetica Neue"/>
                        </a:rPr>
                        <a:t>Room / DataStore and console logging</a:t>
                      </a:r>
                    </a:p>
                  </a:txBody>
                  <a:tcPr marL="91440" marR="91440" marT="45720" marB="45720">
                    <a:solidFill>
                      <a:srgbClr val="050505"/>
                    </a:solidFill>
                  </a:tcPr>
                </a:tc>
                <a:tc>
                  <a:txBody>
                    <a:bodyPr>
                      <a:noAutofit/>
                    </a:bodyPr>
                    <a:lstStyle/>
                    <a:p>
                      <a:r>
                        <a:rPr sz="1725" b="0">
                          <a:solidFill>
                            <a:srgbClr val="F6F6F2"/>
                          </a:solidFill>
                          <a:latin typeface="Helvetica Neue"/>
                          <a:ea typeface="Helvetica Neue"/>
                          <a:cs typeface="Helvetica Neue"/>
                        </a:rPr>
                        <a:t>Verify mobile save / read behavior</a:t>
                      </a:r>
                    </a:p>
                  </a:txBody>
                  <a:tcPr marL="91440" marR="91440" marT="45720" marB="45720">
                    <a:solidFill>
                      <a:srgbClr val="050505"/>
                    </a:solidFill>
                  </a:tcPr>
                </a:tc>
              </a:tr>
            </a:tbl>
          </a:graphicData>
        </a:graphic>
      </p:graphicFrame>
      <p:sp>
        <p:nvSpPr>
          <p:cNvPr id="5" name="">
            <a:extLst xmlns:a="http://schemas.openxmlformats.org/drawingml/2006/main">
              <a:ext uri="{FF2B5EF4-FFF2-40B4-BE49-F238E27FC236}">
                <a16:creationId xmlns:a16="http://schemas.microsoft.com/office/drawing/2014/main" id="{8CC26780-ABC2-46E4-A324-ABA27C3FB164}"/>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Foundation exists in source. Complete real writes and streams before claiming device parity.</a:t>
            </a:r>
          </a:p>
        </p:txBody>
      </p:sp>
    </p:spTree>
    <p:extLst>
      <p:ext uri="{BB962C8B-B14F-4D97-AF65-F5344CB8AC3E}">
        <p14:creationId xmlns:p14="http://schemas.microsoft.com/office/powerpoint/2010/main" val="1402856640"/>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5C71C50-B96F-4324-BE63-FC1C1AB632A8}"/>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The live demonstration</a:t>
            </a:r>
          </a:p>
        </p:txBody>
      </p:sp>
      <p:sp>
        <p:nvSpPr>
          <p:cNvPr id="2" name="">
            <a:extLst xmlns:a="http://schemas.openxmlformats.org/drawingml/2006/main">
              <a:ext uri="{FF2B5EF4-FFF2-40B4-BE49-F238E27FC236}">
                <a16:creationId xmlns:a16="http://schemas.microsoft.com/office/drawing/2014/main" id="{CE8B5ACC-CED7-48C3-A6AC-C2ACBB30E772}"/>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64AC3F72-7153-4075-8C69-9F79B9AC9D88}"/>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A1F4B50B-3186-4224-BCB0-14D8C1F2FDE6}"/>
              </a:ext>
            </a:extLst>
          </p:cNvPr>
          <p:cNvSpPr>
            <a:spLocks xmlns:a="http://schemas.openxmlformats.org/drawingml/2006/main" noGrp="1"/>
          </p:cNvSpPr>
          <p:nvPr/>
        </p:nvSpPr>
        <p:spPr>
          <a:xfrm xmlns:a="http://schemas.openxmlformats.org/drawingml/2006/main">
            <a:off x="609600" y="1828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2FF00"/>
                </a:solidFill>
                <a:latin typeface="Helvetica Neue"/>
                <a:ea typeface="Helvetica Neue"/>
                <a:cs typeface="Helvetica Neue"/>
              </a:defRPr>
            </a:pPr>
            <a:r>
              <a:rPr sz="2850" b="1">
                <a:solidFill>
                  <a:srgbClr val="B2FF00"/>
                </a:solidFill>
                <a:latin typeface="Helvetica Neue"/>
                <a:ea typeface="Helvetica Neue"/>
                <a:cs typeface="Helvetica Neue"/>
              </a:rPr>
              <a:t>One device workflow on Android and iOS</a:t>
            </a:r>
          </a:p>
        </p:txBody>
      </p:sp>
      <p:sp>
        <p:nvSpPr>
          <p:cNvPr id="5" name="">
            <a:extLst xmlns:a="http://schemas.openxmlformats.org/drawingml/2006/main">
              <a:ext uri="{FF2B5EF4-FFF2-40B4-BE49-F238E27FC236}">
                <a16:creationId xmlns:a16="http://schemas.microsoft.com/office/drawing/2014/main" id="{CA93E9DA-FBA8-4AB4-BA3F-B4A42013A0EB}"/>
              </a:ext>
            </a:extLst>
          </p:cNvPr>
          <p:cNvSpPr>
            <a:spLocks xmlns:a="http://schemas.openxmlformats.org/drawingml/2006/main" noGrp="1"/>
          </p:cNvSpPr>
          <p:nvPr/>
        </p:nvSpPr>
        <p:spPr>
          <a:xfrm xmlns:a="http://schemas.openxmlformats.org/drawingml/2006/main">
            <a:off x="609600" y="26670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2FF00"/>
                </a:solidFill>
                <a:latin typeface="Helvetica Neue"/>
                <a:ea typeface="Helvetica Neue"/>
                <a:cs typeface="Helvetica Neue"/>
              </a:defRPr>
            </a:pPr>
            <a:r>
              <a:rPr sz="1950" b="1">
                <a:solidFill>
                  <a:srgbClr val="B2FF00"/>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8C6BE6C7-E1C5-49FE-B869-C55A10CFBF7B}"/>
              </a:ext>
            </a:extLst>
          </p:cNvPr>
          <p:cNvSpPr>
            <a:spLocks xmlns:a="http://schemas.openxmlformats.org/drawingml/2006/main" noGrp="1"/>
          </p:cNvSpPr>
          <p:nvPr/>
        </p:nvSpPr>
        <p:spPr>
          <a:xfrm xmlns:a="http://schemas.openxmlformats.org/drawingml/2006/main">
            <a:off x="1457325" y="266700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6F6F2"/>
                </a:solidFill>
                <a:latin typeface="Helvetica Neue"/>
                <a:ea typeface="Helvetica Neue"/>
                <a:cs typeface="Helvetica Neue"/>
              </a:defRPr>
            </a:pPr>
            <a:r>
              <a:rPr sz="2100" b="1">
                <a:solidFill>
                  <a:srgbClr val="F6F6F2"/>
                </a:solidFill>
                <a:latin typeface="Helvetica Neue"/>
                <a:ea typeface="Helvetica Neue"/>
                <a:cs typeface="Helvetica Neue"/>
              </a:rPr>
              <a:t>Discover</a:t>
            </a:r>
          </a:p>
        </p:txBody>
      </p:sp>
      <p:sp>
        <p:nvSpPr>
          <p:cNvPr id="7" name="">
            <a:extLst xmlns:a="http://schemas.openxmlformats.org/drawingml/2006/main">
              <a:ext uri="{FF2B5EF4-FFF2-40B4-BE49-F238E27FC236}">
                <a16:creationId xmlns:a16="http://schemas.microsoft.com/office/drawing/2014/main" id="{272C4699-8AB1-48E9-B763-F16CADC56084}"/>
              </a:ext>
            </a:extLst>
          </p:cNvPr>
          <p:cNvSpPr>
            <a:spLocks xmlns:a="http://schemas.openxmlformats.org/drawingml/2006/main" noGrp="1"/>
          </p:cNvSpPr>
          <p:nvPr/>
        </p:nvSpPr>
        <p:spPr>
          <a:xfrm xmlns:a="http://schemas.openxmlformats.org/drawingml/2006/main">
            <a:off x="3648075" y="2667000"/>
            <a:ext cx="785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Query the local server and select a device</a:t>
            </a:r>
          </a:p>
        </p:txBody>
      </p:sp>
      <p:sp>
        <p:nvSpPr>
          <p:cNvPr id="8" name="">
            <a:extLst xmlns:a="http://schemas.openxmlformats.org/drawingml/2006/main">
              <a:ext uri="{FF2B5EF4-FFF2-40B4-BE49-F238E27FC236}">
                <a16:creationId xmlns:a16="http://schemas.microsoft.com/office/drawing/2014/main" id="{1E3CD90F-1DFB-495A-ACE2-C30879A15582}"/>
              </a:ext>
            </a:extLst>
          </p:cNvPr>
          <p:cNvSpPr>
            <a:spLocks xmlns:a="http://schemas.openxmlformats.org/drawingml/2006/main" noGrp="1"/>
          </p:cNvSpPr>
          <p:nvPr/>
        </p:nvSpPr>
        <p:spPr>
          <a:xfrm xmlns:a="http://schemas.openxmlformats.org/drawingml/2006/main">
            <a:off x="609600" y="32385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2FF00"/>
                </a:solidFill>
                <a:latin typeface="Helvetica Neue"/>
                <a:ea typeface="Helvetica Neue"/>
                <a:cs typeface="Helvetica Neue"/>
              </a:defRPr>
            </a:pPr>
            <a:r>
              <a:rPr sz="1950" b="1">
                <a:solidFill>
                  <a:srgbClr val="B2FF00"/>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DBAE1914-7C57-43F9-9515-01DA728946B4}"/>
              </a:ext>
            </a:extLst>
          </p:cNvPr>
          <p:cNvSpPr>
            <a:spLocks xmlns:a="http://schemas.openxmlformats.org/drawingml/2006/main" noGrp="1"/>
          </p:cNvSpPr>
          <p:nvPr/>
        </p:nvSpPr>
        <p:spPr>
          <a:xfrm xmlns:a="http://schemas.openxmlformats.org/drawingml/2006/main">
            <a:off x="1457325" y="323850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6F6F2"/>
                </a:solidFill>
                <a:latin typeface="Helvetica Neue"/>
                <a:ea typeface="Helvetica Neue"/>
                <a:cs typeface="Helvetica Neue"/>
              </a:defRPr>
            </a:pPr>
            <a:r>
              <a:rPr sz="2100" b="1">
                <a:solidFill>
                  <a:srgbClr val="F6F6F2"/>
                </a:solidFill>
                <a:latin typeface="Helvetica Neue"/>
                <a:ea typeface="Helvetica Neue"/>
                <a:cs typeface="Helvetica Neue"/>
              </a:rPr>
              <a:t>Read</a:t>
            </a:r>
          </a:p>
        </p:txBody>
      </p:sp>
      <p:sp>
        <p:nvSpPr>
          <p:cNvPr id="10" name="">
            <a:extLst xmlns:a="http://schemas.openxmlformats.org/drawingml/2006/main">
              <a:ext uri="{FF2B5EF4-FFF2-40B4-BE49-F238E27FC236}">
                <a16:creationId xmlns:a16="http://schemas.microsoft.com/office/drawing/2014/main" id="{8C150CD5-223D-401F-AA65-6901B031B2EC}"/>
              </a:ext>
            </a:extLst>
          </p:cNvPr>
          <p:cNvSpPr>
            <a:spLocks xmlns:a="http://schemas.openxmlformats.org/drawingml/2006/main" noGrp="1"/>
          </p:cNvSpPr>
          <p:nvPr/>
        </p:nvSpPr>
        <p:spPr>
          <a:xfrm xmlns:a="http://schemas.openxmlformats.org/drawingml/2006/main">
            <a:off x="3648075" y="3238500"/>
            <a:ext cx="785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Display current channel state</a:t>
            </a:r>
          </a:p>
        </p:txBody>
      </p:sp>
      <p:sp>
        <p:nvSpPr>
          <p:cNvPr id="11" name="">
            <a:extLst xmlns:a="http://schemas.openxmlformats.org/drawingml/2006/main">
              <a:ext uri="{FF2B5EF4-FFF2-40B4-BE49-F238E27FC236}">
                <a16:creationId xmlns:a16="http://schemas.microsoft.com/office/drawing/2014/main" id="{2DBC86B9-4D96-4299-8F02-F3C473A8C7BE}"/>
              </a:ext>
            </a:extLst>
          </p:cNvPr>
          <p:cNvSpPr>
            <a:spLocks xmlns:a="http://schemas.openxmlformats.org/drawingml/2006/main" noGrp="1"/>
          </p:cNvSpPr>
          <p:nvPr/>
        </p:nvSpPr>
        <p:spPr>
          <a:xfrm xmlns:a="http://schemas.openxmlformats.org/drawingml/2006/main">
            <a:off x="609600" y="38100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2FF00"/>
                </a:solidFill>
                <a:latin typeface="Helvetica Neue"/>
                <a:ea typeface="Helvetica Neue"/>
                <a:cs typeface="Helvetica Neue"/>
              </a:defRPr>
            </a:pPr>
            <a:r>
              <a:rPr sz="1950" b="1">
                <a:solidFill>
                  <a:srgbClr val="B2FF00"/>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117A2884-B3B8-473F-8D1A-E04F95A13C5A}"/>
              </a:ext>
            </a:extLst>
          </p:cNvPr>
          <p:cNvSpPr>
            <a:spLocks xmlns:a="http://schemas.openxmlformats.org/drawingml/2006/main" noGrp="1"/>
          </p:cNvSpPr>
          <p:nvPr/>
        </p:nvSpPr>
        <p:spPr>
          <a:xfrm xmlns:a="http://schemas.openxmlformats.org/drawingml/2006/main">
            <a:off x="1457325" y="381000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6F6F2"/>
                </a:solidFill>
                <a:latin typeface="Helvetica Neue"/>
                <a:ea typeface="Helvetica Neue"/>
                <a:cs typeface="Helvetica Neue"/>
              </a:defRPr>
            </a:pPr>
            <a:r>
              <a:rPr sz="2100" b="1">
                <a:solidFill>
                  <a:srgbClr val="F6F6F2"/>
                </a:solidFill>
                <a:latin typeface="Helvetica Neue"/>
                <a:ea typeface="Helvetica Neue"/>
                <a:cs typeface="Helvetica Neue"/>
              </a:rPr>
              <a:t>Write</a:t>
            </a:r>
          </a:p>
        </p:txBody>
      </p:sp>
      <p:sp>
        <p:nvSpPr>
          <p:cNvPr id="13" name="">
            <a:extLst xmlns:a="http://schemas.openxmlformats.org/drawingml/2006/main">
              <a:ext uri="{FF2B5EF4-FFF2-40B4-BE49-F238E27FC236}">
                <a16:creationId xmlns:a16="http://schemas.microsoft.com/office/drawing/2014/main" id="{1E0457C4-B99A-4926-96D8-DDF781696B51}"/>
              </a:ext>
            </a:extLst>
          </p:cNvPr>
          <p:cNvSpPr>
            <a:spLocks xmlns:a="http://schemas.openxmlformats.org/drawingml/2006/main" noGrp="1"/>
          </p:cNvSpPr>
          <p:nvPr/>
        </p:nvSpPr>
        <p:spPr>
          <a:xfrm xmlns:a="http://schemas.openxmlformats.org/drawingml/2006/main">
            <a:off x="3648075" y="3810000"/>
            <a:ext cx="785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Change a supported property and read it back</a:t>
            </a:r>
          </a:p>
        </p:txBody>
      </p:sp>
      <p:sp>
        <p:nvSpPr>
          <p:cNvPr id="14" name="">
            <a:extLst xmlns:a="http://schemas.openxmlformats.org/drawingml/2006/main">
              <a:ext uri="{FF2B5EF4-FFF2-40B4-BE49-F238E27FC236}">
                <a16:creationId xmlns:a16="http://schemas.microsoft.com/office/drawing/2014/main" id="{4D948F76-6ABB-4BF2-86D8-2946BA95DEF9}"/>
              </a:ext>
            </a:extLst>
          </p:cNvPr>
          <p:cNvSpPr>
            <a:spLocks xmlns:a="http://schemas.openxmlformats.org/drawingml/2006/main" noGrp="1"/>
          </p:cNvSpPr>
          <p:nvPr/>
        </p:nvSpPr>
        <p:spPr>
          <a:xfrm xmlns:a="http://schemas.openxmlformats.org/drawingml/2006/main">
            <a:off x="609600" y="43815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2FF00"/>
                </a:solidFill>
                <a:latin typeface="Helvetica Neue"/>
                <a:ea typeface="Helvetica Neue"/>
                <a:cs typeface="Helvetica Neue"/>
              </a:defRPr>
            </a:pPr>
            <a:r>
              <a:rPr sz="1950" b="1">
                <a:solidFill>
                  <a:srgbClr val="B2FF00"/>
                </a:solidFill>
                <a:latin typeface="Helvetica Neue"/>
                <a:ea typeface="Helvetica Neue"/>
                <a:cs typeface="Helvetica Neue"/>
              </a:rPr>
              <a:t>04</a:t>
            </a:r>
          </a:p>
        </p:txBody>
      </p:sp>
      <p:sp>
        <p:nvSpPr>
          <p:cNvPr id="15" name="">
            <a:extLst xmlns:a="http://schemas.openxmlformats.org/drawingml/2006/main">
              <a:ext uri="{FF2B5EF4-FFF2-40B4-BE49-F238E27FC236}">
                <a16:creationId xmlns:a16="http://schemas.microsoft.com/office/drawing/2014/main" id="{671DC90E-4FF1-4043-9860-59D7934B3D54}"/>
              </a:ext>
            </a:extLst>
          </p:cNvPr>
          <p:cNvSpPr>
            <a:spLocks xmlns:a="http://schemas.openxmlformats.org/drawingml/2006/main" noGrp="1"/>
          </p:cNvSpPr>
          <p:nvPr/>
        </p:nvSpPr>
        <p:spPr>
          <a:xfrm xmlns:a="http://schemas.openxmlformats.org/drawingml/2006/main">
            <a:off x="1457325" y="438150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6F6F2"/>
                </a:solidFill>
                <a:latin typeface="Helvetica Neue"/>
                <a:ea typeface="Helvetica Neue"/>
                <a:cs typeface="Helvetica Neue"/>
              </a:defRPr>
            </a:pPr>
            <a:r>
              <a:rPr sz="2100" b="1">
                <a:solidFill>
                  <a:srgbClr val="F6F6F2"/>
                </a:solidFill>
                <a:latin typeface="Helvetica Neue"/>
                <a:ea typeface="Helvetica Neue"/>
                <a:cs typeface="Helvetica Neue"/>
              </a:rPr>
              <a:t>Stream</a:t>
            </a:r>
          </a:p>
        </p:txBody>
      </p:sp>
      <p:sp>
        <p:nvSpPr>
          <p:cNvPr id="16" name="">
            <a:extLst xmlns:a="http://schemas.openxmlformats.org/drawingml/2006/main">
              <a:ext uri="{FF2B5EF4-FFF2-40B4-BE49-F238E27FC236}">
                <a16:creationId xmlns:a16="http://schemas.microsoft.com/office/drawing/2014/main" id="{D9530C2C-D70C-402E-BAD4-11C8F7FB91A0}"/>
              </a:ext>
            </a:extLst>
          </p:cNvPr>
          <p:cNvSpPr>
            <a:spLocks xmlns:a="http://schemas.openxmlformats.org/drawingml/2006/main" noGrp="1"/>
          </p:cNvSpPr>
          <p:nvPr/>
        </p:nvSpPr>
        <p:spPr>
          <a:xfrm xmlns:a="http://schemas.openxmlformats.org/drawingml/2006/main">
            <a:off x="3648075" y="4381500"/>
            <a:ext cx="785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Observe an external change arriving live</a:t>
            </a:r>
          </a:p>
        </p:txBody>
      </p:sp>
      <p:sp>
        <p:nvSpPr>
          <p:cNvPr id="17" name="">
            <a:extLst xmlns:a="http://schemas.openxmlformats.org/drawingml/2006/main">
              <a:ext uri="{FF2B5EF4-FFF2-40B4-BE49-F238E27FC236}">
                <a16:creationId xmlns:a16="http://schemas.microsoft.com/office/drawing/2014/main" id="{67AA4765-E28A-4D84-A658-A319929E0659}"/>
              </a:ext>
            </a:extLst>
          </p:cNvPr>
          <p:cNvSpPr>
            <a:spLocks xmlns:a="http://schemas.openxmlformats.org/drawingml/2006/main" noGrp="1"/>
          </p:cNvSpPr>
          <p:nvPr/>
        </p:nvSpPr>
        <p:spPr>
          <a:xfrm xmlns:a="http://schemas.openxmlformats.org/drawingml/2006/main">
            <a:off x="609600" y="49530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2FF00"/>
                </a:solidFill>
                <a:latin typeface="Helvetica Neue"/>
                <a:ea typeface="Helvetica Neue"/>
                <a:cs typeface="Helvetica Neue"/>
              </a:defRPr>
            </a:pPr>
            <a:r>
              <a:rPr sz="1950" b="1">
                <a:solidFill>
                  <a:srgbClr val="B2FF00"/>
                </a:solidFill>
                <a:latin typeface="Helvetica Neue"/>
                <a:ea typeface="Helvetica Neue"/>
                <a:cs typeface="Helvetica Neue"/>
              </a:rPr>
              <a:t>05</a:t>
            </a:r>
          </a:p>
        </p:txBody>
      </p:sp>
      <p:sp>
        <p:nvSpPr>
          <p:cNvPr id="18" name="">
            <a:extLst xmlns:a="http://schemas.openxmlformats.org/drawingml/2006/main">
              <a:ext uri="{FF2B5EF4-FFF2-40B4-BE49-F238E27FC236}">
                <a16:creationId xmlns:a16="http://schemas.microsoft.com/office/drawing/2014/main" id="{B26B2081-1854-48CD-80C5-6C358037413B}"/>
              </a:ext>
            </a:extLst>
          </p:cNvPr>
          <p:cNvSpPr>
            <a:spLocks xmlns:a="http://schemas.openxmlformats.org/drawingml/2006/main" noGrp="1"/>
          </p:cNvSpPr>
          <p:nvPr/>
        </p:nvSpPr>
        <p:spPr>
          <a:xfrm xmlns:a="http://schemas.openxmlformats.org/drawingml/2006/main">
            <a:off x="1457325" y="495300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6F6F2"/>
                </a:solidFill>
                <a:latin typeface="Helvetica Neue"/>
                <a:ea typeface="Helvetica Neue"/>
                <a:cs typeface="Helvetica Neue"/>
              </a:defRPr>
            </a:pPr>
            <a:r>
              <a:rPr sz="2100" b="1">
                <a:solidFill>
                  <a:srgbClr val="F6F6F2"/>
                </a:solidFill>
                <a:latin typeface="Helvetica Neue"/>
                <a:ea typeface="Helvetica Neue"/>
                <a:cs typeface="Helvetica Neue"/>
              </a:rPr>
              <a:t>Recover</a:t>
            </a:r>
          </a:p>
        </p:txBody>
      </p:sp>
      <p:sp>
        <p:nvSpPr>
          <p:cNvPr id="19" name="">
            <a:extLst xmlns:a="http://schemas.openxmlformats.org/drawingml/2006/main">
              <a:ext uri="{FF2B5EF4-FFF2-40B4-BE49-F238E27FC236}">
                <a16:creationId xmlns:a16="http://schemas.microsoft.com/office/drawing/2014/main" id="{F1B66D6E-08C8-4D73-9713-EC3C57C83C90}"/>
              </a:ext>
            </a:extLst>
          </p:cNvPr>
          <p:cNvSpPr>
            <a:spLocks xmlns:a="http://schemas.openxmlformats.org/drawingml/2006/main" noGrp="1"/>
          </p:cNvSpPr>
          <p:nvPr/>
        </p:nvSpPr>
        <p:spPr>
          <a:xfrm xmlns:a="http://schemas.openxmlformats.org/drawingml/2006/main">
            <a:off x="3648075" y="4953000"/>
            <a:ext cx="785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Reconnect and confirm saved state</a:t>
            </a:r>
          </a:p>
        </p:txBody>
      </p:sp>
    </p:spTree>
    <p:extLst>
      <p:ext uri="{BB962C8B-B14F-4D97-AF65-F5344CB8AC3E}">
        <p14:creationId xmlns:p14="http://schemas.microsoft.com/office/powerpoint/2010/main" val="362084702"/>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018CFB-C88A-4766-BD94-F107ED6F6F69}"/>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Expected impact and how we measure it</a:t>
            </a:r>
          </a:p>
        </p:txBody>
      </p:sp>
      <p:sp>
        <p:nvSpPr>
          <p:cNvPr id="2" name="">
            <a:extLst xmlns:a="http://schemas.openxmlformats.org/drawingml/2006/main">
              <a:ext uri="{FF2B5EF4-FFF2-40B4-BE49-F238E27FC236}">
                <a16:creationId xmlns:a16="http://schemas.microsoft.com/office/drawing/2014/main" id="{68416FD2-5D63-46F2-9563-23603F5CD852}"/>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82F64AF7-0CC4-4354-AB2B-8C839F82638D}"/>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13</a:t>
            </a:r>
          </a:p>
        </p:txBody>
      </p:sp>
      <p:graphicFrame>
        <p:nvGraphicFramePr>
          <p:cNvPr id="9" name=""/>
          <p:cNvGraphicFramePr/>
          <p:nvPr/>
        </p:nvGraphicFramePr>
        <p:xfrm>
          <a:off xmlns:a="http://schemas.openxmlformats.org/drawingml/2006/main" x="609600" y="1885950"/>
          <a:ext xmlns:a="http://schemas.openxmlformats.org/drawingml/2006/main" cx="10972800" cy="3381375"/>
        </p:xfrm>
        <a:graphic xmlns:a="http://schemas.openxmlformats.org/drawingml/2006/main">
          <a:graphicData uri="http://schemas.openxmlformats.org/drawingml/2006/table">
            <a:tbl>
              <a:tblPr/>
              <a:tblGrid>
                <a:gridCol w="4476750"/>
                <a:gridCol w="6496050"/>
              </a:tblGrid>
              <a:tr h="563563">
                <a:tc>
                  <a:txBody>
                    <a:bodyPr>
                      <a:noAutofit/>
                    </a:bodyPr>
                    <a:lstStyle/>
                    <a:p>
                      <a:r>
                        <a:rPr sz="1800" b="1">
                          <a:solidFill>
                            <a:srgbClr val="050505"/>
                          </a:solidFill>
                          <a:latin typeface="Helvetica Neue"/>
                          <a:ea typeface="Helvetica Neue"/>
                          <a:cs typeface="Helvetica Neue"/>
                        </a:rPr>
                        <a:t>Expected benefit</a:t>
                      </a:r>
                    </a:p>
                  </a:txBody>
                  <a:tcPr marL="91440" marR="91440" marT="45720" marB="45720">
                    <a:solidFill>
                      <a:srgbClr val="B2FF00"/>
                    </a:solidFill>
                  </a:tcPr>
                </a:tc>
                <a:tc>
                  <a:txBody>
                    <a:bodyPr>
                      <a:noAutofit/>
                    </a:bodyPr>
                    <a:lstStyle/>
                    <a:p>
                      <a:r>
                        <a:rPr sz="1800" b="1">
                          <a:solidFill>
                            <a:srgbClr val="050505"/>
                          </a:solidFill>
                          <a:latin typeface="Helvetica Neue"/>
                          <a:ea typeface="Helvetica Neue"/>
                          <a:cs typeface="Helvetica Neue"/>
                        </a:rPr>
                        <a:t>Pilot measurement</a:t>
                      </a:r>
                    </a:p>
                  </a:txBody>
                  <a:tcPr marL="91440" marR="91440" marT="45720" marB="45720">
                    <a:solidFill>
                      <a:srgbClr val="B2FF00"/>
                    </a:solidFill>
                  </a:tcPr>
                </a:tc>
              </a:tr>
              <a:tr h="563563">
                <a:tc>
                  <a:txBody>
                    <a:bodyPr>
                      <a:noAutofit/>
                    </a:bodyPr>
                    <a:lstStyle/>
                    <a:p>
                      <a:r>
                        <a:rPr sz="1800" b="0">
                          <a:solidFill>
                            <a:srgbClr val="F6F6F2"/>
                          </a:solidFill>
                          <a:latin typeface="Helvetica Neue"/>
                          <a:ea typeface="Helvetica Neue"/>
                          <a:cs typeface="Helvetica Neue"/>
                        </a:rPr>
                        <a:t>Less duplicated device logic</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Shared vs platform-specific logic in the selected workflow</a:t>
                      </a:r>
                    </a:p>
                  </a:txBody>
                  <a:tcPr marL="91440" marR="91440" marT="45720" marB="45720">
                    <a:solidFill>
                      <a:srgbClr val="050505"/>
                    </a:solidFill>
                  </a:tcPr>
                </a:tc>
              </a:tr>
              <a:tr h="563563">
                <a:tc>
                  <a:txBody>
                    <a:bodyPr>
                      <a:noAutofit/>
                    </a:bodyPr>
                    <a:lstStyle/>
                    <a:p>
                      <a:r>
                        <a:rPr sz="1800" b="0">
                          <a:solidFill>
                            <a:srgbClr val="F6F6F2"/>
                          </a:solidFill>
                          <a:latin typeface="Helvetica Neue"/>
                          <a:ea typeface="Helvetica Neue"/>
                          <a:cs typeface="Helvetica Neue"/>
                        </a:rPr>
                        <a:t>More consistent behavior</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Same acceptance scenarios pass on Android and iOS</a:t>
                      </a:r>
                    </a:p>
                  </a:txBody>
                  <a:tcPr marL="91440" marR="91440" marT="45720" marB="45720">
                    <a:solidFill>
                      <a:srgbClr val="050505"/>
                    </a:solidFill>
                  </a:tcPr>
                </a:tc>
              </a:tr>
              <a:tr h="563563">
                <a:tc>
                  <a:txBody>
                    <a:bodyPr>
                      <a:noAutofit/>
                    </a:bodyPr>
                    <a:lstStyle/>
                    <a:p>
                      <a:r>
                        <a:rPr sz="1800" b="0">
                          <a:solidFill>
                            <a:srgbClr val="F6F6F2"/>
                          </a:solidFill>
                          <a:latin typeface="Helvetica Neue"/>
                          <a:ea typeface="Helvetica Neue"/>
                          <a:cs typeface="Helvetica Neue"/>
                        </a:rPr>
                        <a:t>Faster feature changes</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Engineering effort for one comparable change</a:t>
                      </a:r>
                    </a:p>
                  </a:txBody>
                  <a:tcPr marL="91440" marR="91440" marT="45720" marB="45720">
                    <a:solidFill>
                      <a:srgbClr val="050505"/>
                    </a:solidFill>
                  </a:tcPr>
                </a:tc>
              </a:tr>
              <a:tr h="563563">
                <a:tc>
                  <a:txBody>
                    <a:bodyPr>
                      <a:noAutofit/>
                    </a:bodyPr>
                    <a:lstStyle/>
                    <a:p>
                      <a:r>
                        <a:rPr sz="1800" b="0">
                          <a:solidFill>
                            <a:srgbClr val="F6F6F2"/>
                          </a:solidFill>
                          <a:latin typeface="Helvetica Neue"/>
                          <a:ea typeface="Helvetica Neue"/>
                          <a:cs typeface="Helvetica Neue"/>
                        </a:rPr>
                        <a:t>Reliable live updates</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Event latency, reconnect behavior and missed updates</a:t>
                      </a:r>
                    </a:p>
                  </a:txBody>
                  <a:tcPr marL="91440" marR="91440" marT="45720" marB="45720">
                    <a:solidFill>
                      <a:srgbClr val="050505"/>
                    </a:solidFill>
                  </a:tcPr>
                </a:tc>
              </a:tr>
              <a:tr h="563563">
                <a:tc>
                  <a:txBody>
                    <a:bodyPr>
                      <a:noAutofit/>
                    </a:bodyPr>
                    <a:lstStyle/>
                    <a:p>
                      <a:r>
                        <a:rPr sz="1800" b="0">
                          <a:solidFill>
                            <a:srgbClr val="F6F6F2"/>
                          </a:solidFill>
                          <a:latin typeface="Helvetica Neue"/>
                          <a:ea typeface="Helvetica Neue"/>
                          <a:cs typeface="Helvetica Neue"/>
                        </a:rPr>
                        <a:t>Preserved native flexibility</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One native capability works through a platform adapter</a:t>
                      </a:r>
                    </a:p>
                  </a:txBody>
                  <a:tcPr marL="91440" marR="91440" marT="45720" marB="45720">
                    <a:solidFill>
                      <a:srgbClr val="050505"/>
                    </a:solidFill>
                  </a:tcPr>
                </a:tc>
              </a:tr>
            </a:tbl>
          </a:graphicData>
        </a:graphic>
      </p:graphicFrame>
      <p:sp>
        <p:nvSpPr>
          <p:cNvPr id="5" name="">
            <a:extLst xmlns:a="http://schemas.openxmlformats.org/drawingml/2006/main">
              <a:ext uri="{FF2B5EF4-FFF2-40B4-BE49-F238E27FC236}">
                <a16:creationId xmlns:a16="http://schemas.microsoft.com/office/drawing/2014/main" id="{7620BC22-A0A4-4025-A16B-E5732B788A41}"/>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These are expected benefits to validate, not measured savings or performance claims.</a:t>
            </a:r>
          </a:p>
        </p:txBody>
      </p:sp>
    </p:spTree>
    <p:extLst>
      <p:ext uri="{BB962C8B-B14F-4D97-AF65-F5344CB8AC3E}">
        <p14:creationId xmlns:p14="http://schemas.microsoft.com/office/powerpoint/2010/main" val="1991781216"/>
      </p:ext>
    </p:extLst>
  </p:cSld>
</p:sld>
</file>

<file path=ppt/slides/slide1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03EF74-1EF3-45EC-9DAF-D105DEDBF68D}"/>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Risks and controls</a:t>
            </a:r>
          </a:p>
        </p:txBody>
      </p:sp>
      <p:sp>
        <p:nvSpPr>
          <p:cNvPr id="2" name="">
            <a:extLst xmlns:a="http://schemas.openxmlformats.org/drawingml/2006/main">
              <a:ext uri="{FF2B5EF4-FFF2-40B4-BE49-F238E27FC236}">
                <a16:creationId xmlns:a16="http://schemas.microsoft.com/office/drawing/2014/main" id="{AA90FC1A-8C83-4DAC-9CF8-BBB5FB27362E}"/>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E37CE89B-C24C-4817-A01F-E2B6261F7900}"/>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14</a:t>
            </a:r>
          </a:p>
        </p:txBody>
      </p:sp>
      <p:graphicFrame>
        <p:nvGraphicFramePr>
          <p:cNvPr id="9" name=""/>
          <p:cNvGraphicFramePr/>
          <p:nvPr/>
        </p:nvGraphicFramePr>
        <p:xfrm>
          <a:off xmlns:a="http://schemas.openxmlformats.org/drawingml/2006/main" x="609600" y="1885950"/>
          <a:ext xmlns:a="http://schemas.openxmlformats.org/drawingml/2006/main" cx="10972800" cy="3333750"/>
        </p:xfrm>
        <a:graphic xmlns:a="http://schemas.openxmlformats.org/drawingml/2006/main">
          <a:graphicData uri="http://schemas.openxmlformats.org/drawingml/2006/table">
            <a:tbl>
              <a:tblPr/>
              <a:tblGrid>
                <a:gridCol w="3952875"/>
                <a:gridCol w="7019925"/>
              </a:tblGrid>
              <a:tr h="555625">
                <a:tc>
                  <a:txBody>
                    <a:bodyPr>
                      <a:noAutofit/>
                    </a:bodyPr>
                    <a:lstStyle/>
                    <a:p>
                      <a:r>
                        <a:rPr sz="1800" b="1">
                          <a:solidFill>
                            <a:srgbClr val="050505"/>
                          </a:solidFill>
                          <a:latin typeface="Helvetica Neue"/>
                          <a:ea typeface="Helvetica Neue"/>
                          <a:cs typeface="Helvetica Neue"/>
                        </a:rPr>
                        <a:t>Evaluation area</a:t>
                      </a:r>
                    </a:p>
                  </a:txBody>
                  <a:tcPr marL="91440" marR="91440" marT="45720" marB="45720">
                    <a:solidFill>
                      <a:srgbClr val="B2FF00"/>
                    </a:solidFill>
                  </a:tcPr>
                </a:tc>
                <a:tc>
                  <a:txBody>
                    <a:bodyPr>
                      <a:noAutofit/>
                    </a:bodyPr>
                    <a:lstStyle/>
                    <a:p>
                      <a:r>
                        <a:rPr sz="1800" b="1">
                          <a:solidFill>
                            <a:srgbClr val="050505"/>
                          </a:solidFill>
                          <a:latin typeface="Helvetica Neue"/>
                          <a:ea typeface="Helvetica Neue"/>
                          <a:cs typeface="Helvetica Neue"/>
                        </a:rPr>
                        <a:t>Pilot control</a:t>
                      </a:r>
                    </a:p>
                  </a:txBody>
                  <a:tcPr marL="91440" marR="91440" marT="45720" marB="45720">
                    <a:solidFill>
                      <a:srgbClr val="B2FF00"/>
                    </a:solidFill>
                  </a:tcPr>
                </a:tc>
              </a:tr>
              <a:tr h="555625">
                <a:tc>
                  <a:txBody>
                    <a:bodyPr>
                      <a:noAutofit/>
                    </a:bodyPr>
                    <a:lstStyle/>
                    <a:p>
                      <a:r>
                        <a:rPr sz="1800" b="0">
                          <a:solidFill>
                            <a:srgbClr val="F6F6F2"/>
                          </a:solidFill>
                          <a:latin typeface="Helvetica Neue"/>
                          <a:ea typeface="Helvetica Neue"/>
                          <a:cs typeface="Helvetica Neue"/>
                        </a:rPr>
                        <a:t>Server and API compatibility</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Version contracts and verify supported device workflows</a:t>
                      </a:r>
                    </a:p>
                  </a:txBody>
                  <a:tcPr marL="91440" marR="91440" marT="45720" marB="45720">
                    <a:solidFill>
                      <a:srgbClr val="050505"/>
                    </a:solidFill>
                  </a:tcPr>
                </a:tc>
              </a:tr>
              <a:tr h="555625">
                <a:tc>
                  <a:txBody>
                    <a:bodyPr>
                      <a:noAutofit/>
                    </a:bodyPr>
                    <a:lstStyle/>
                    <a:p>
                      <a:r>
                        <a:rPr sz="1800" b="0">
                          <a:solidFill>
                            <a:srgbClr val="F6F6F2"/>
                          </a:solidFill>
                          <a:latin typeface="Helvetica Neue"/>
                          <a:ea typeface="Helvetica Neue"/>
                          <a:cs typeface="Helvetica Neue"/>
                        </a:rPr>
                        <a:t>Stream interruptions</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Test reconnect, resubscribe and state reconciliation</a:t>
                      </a:r>
                    </a:p>
                  </a:txBody>
                  <a:tcPr marL="91440" marR="91440" marT="45720" marB="45720">
                    <a:solidFill>
                      <a:srgbClr val="050505"/>
                    </a:solidFill>
                  </a:tcPr>
                </a:tc>
              </a:tr>
              <a:tr h="555625">
                <a:tc>
                  <a:txBody>
                    <a:bodyPr>
                      <a:noAutofit/>
                    </a:bodyPr>
                    <a:lstStyle/>
                    <a:p>
                      <a:r>
                        <a:rPr sz="1800" b="0">
                          <a:solidFill>
                            <a:srgbClr val="F6F6F2"/>
                          </a:solidFill>
                          <a:latin typeface="Helvetica Neue"/>
                          <a:ea typeface="Helvetica Neue"/>
                          <a:cs typeface="Helvetica Neue"/>
                        </a:rPr>
                        <a:t>iOS integration</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Review Swift API ergonomics and lifecycle ownership</a:t>
                      </a:r>
                    </a:p>
                  </a:txBody>
                  <a:tcPr marL="91440" marR="91440" marT="45720" marB="45720">
                    <a:solidFill>
                      <a:srgbClr val="050505"/>
                    </a:solidFill>
                  </a:tcPr>
                </a:tc>
              </a:tr>
              <a:tr h="555625">
                <a:tc>
                  <a:txBody>
                    <a:bodyPr>
                      <a:noAutofit/>
                    </a:bodyPr>
                    <a:lstStyle/>
                    <a:p>
                      <a:r>
                        <a:rPr sz="1800" b="0">
                          <a:solidFill>
                            <a:srgbClr val="F6F6F2"/>
                          </a:solidFill>
                          <a:latin typeface="Helvetica Neue"/>
                          <a:ea typeface="Helvetica Neue"/>
                          <a:cs typeface="Helvetica Neue"/>
                        </a:rPr>
                        <a:t>Shared dependencies</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Confirm target support and upgrade strategy</a:t>
                      </a:r>
                    </a:p>
                  </a:txBody>
                  <a:tcPr marL="91440" marR="91440" marT="45720" marB="45720">
                    <a:solidFill>
                      <a:srgbClr val="050505"/>
                    </a:solidFill>
                  </a:tcPr>
                </a:tc>
              </a:tr>
              <a:tr h="555625">
                <a:tc>
                  <a:txBody>
                    <a:bodyPr>
                      <a:noAutofit/>
                    </a:bodyPr>
                    <a:lstStyle/>
                    <a:p>
                      <a:r>
                        <a:rPr sz="1800" b="0">
                          <a:solidFill>
                            <a:srgbClr val="F6F6F2"/>
                          </a:solidFill>
                          <a:latin typeface="Helvetica Neue"/>
                          <a:ea typeface="Helvetica Neue"/>
                          <a:cs typeface="Helvetica Neue"/>
                        </a:rPr>
                        <a:t>Cross-platform ownership</a:t>
                      </a:r>
                    </a:p>
                  </a:txBody>
                  <a:tcPr marL="91440" marR="91440" marT="45720" marB="45720">
                    <a:solidFill>
                      <a:srgbClr val="050505"/>
                    </a:solidFill>
                  </a:tcPr>
                </a:tc>
                <a:tc>
                  <a:txBody>
                    <a:bodyPr>
                      <a:noAutofit/>
                    </a:bodyPr>
                    <a:lstStyle/>
                    <a:p>
                      <a:r>
                        <a:rPr sz="1800" b="0">
                          <a:solidFill>
                            <a:srgbClr val="F6F6F2"/>
                          </a:solidFill>
                          <a:latin typeface="Helvetica Neue"/>
                          <a:ea typeface="Helvetica Neue"/>
                          <a:cs typeface="Helvetica Neue"/>
                        </a:rPr>
                        <a:t>Pair native engineers and agree module ownership</a:t>
                      </a:r>
                    </a:p>
                  </a:txBody>
                  <a:tcPr marL="91440" marR="91440" marT="45720" marB="45720">
                    <a:solidFill>
                      <a:srgbClr val="050505"/>
                    </a:solidFill>
                  </a:tcPr>
                </a:tc>
              </a:tr>
            </a:tbl>
          </a:graphicData>
        </a:graphic>
      </p:graphicFrame>
      <p:sp>
        <p:nvSpPr>
          <p:cNvPr id="5" name="">
            <a:extLst xmlns:a="http://schemas.openxmlformats.org/drawingml/2006/main">
              <a:ext uri="{FF2B5EF4-FFF2-40B4-BE49-F238E27FC236}">
                <a16:creationId xmlns:a16="http://schemas.microsoft.com/office/drawing/2014/main" id="{16BA07C6-2EF0-46EE-AEBD-A46A068E721A}"/>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The server boundary reduces client coupling. Availability and protocol handling still need engineering.</a:t>
            </a:r>
          </a:p>
        </p:txBody>
      </p:sp>
    </p:spTree>
    <p:extLst>
      <p:ext uri="{BB962C8B-B14F-4D97-AF65-F5344CB8AC3E}">
        <p14:creationId xmlns:p14="http://schemas.microsoft.com/office/powerpoint/2010/main" val="1874471960"/>
      </p:ext>
    </p:extLst>
  </p:cSld>
</p:sld>
</file>

<file path=ppt/slides/slide15.xml><?xml version="1.0" encoding="utf-8"?>
<p:sld xmlns:p="http://schemas.openxmlformats.org/presentationml/2006/main">
  <p:cSld>
    <p:bg>
      <p:bgPr>
        <a:solidFill xmlns:a="http://schemas.openxmlformats.org/drawingml/2006/main">
          <a:srgbClr val="B2FF0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4B26C8-A4EA-4A98-9476-6C09AB6B1E59}"/>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50505"/>
                </a:solidFill>
                <a:latin typeface="Helvetica Neue"/>
                <a:ea typeface="Helvetica Neue"/>
                <a:cs typeface="Helvetica Neue"/>
              </a:defRPr>
            </a:pPr>
            <a:r>
              <a:rPr sz="3450" b="1">
                <a:solidFill>
                  <a:srgbClr val="050505"/>
                </a:solidFill>
                <a:latin typeface="Helvetica Neue"/>
                <a:ea typeface="Helvetica Neue"/>
                <a:cs typeface="Helvetica Neue"/>
              </a:rPr>
              <a:t>A bounded pilot</a:t>
            </a:r>
          </a:p>
        </p:txBody>
      </p:sp>
      <p:sp>
        <p:nvSpPr>
          <p:cNvPr id="2" name="">
            <a:extLst xmlns:a="http://schemas.openxmlformats.org/drawingml/2006/main">
              <a:ext uri="{FF2B5EF4-FFF2-40B4-BE49-F238E27FC236}">
                <a16:creationId xmlns:a16="http://schemas.microsoft.com/office/drawing/2014/main" id="{356830F4-F2EA-4112-84FE-9CFCC7300429}"/>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50505"/>
                </a:solidFill>
                <a:latin typeface="Helvetica Neue"/>
                <a:ea typeface="Helvetica Neue"/>
                <a:cs typeface="Helvetica Neue"/>
              </a:defRPr>
            </a:pPr>
            <a:r>
              <a:rPr sz="1650" b="1">
                <a:solidFill>
                  <a:srgbClr val="050505"/>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EA89A834-BCF8-4924-A090-E1918BBA8FCA}"/>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050505"/>
                </a:solidFill>
                <a:latin typeface="Helvetica Neue"/>
                <a:ea typeface="Helvetica Neue"/>
                <a:cs typeface="Helvetica Neue"/>
              </a:defRPr>
            </a:pPr>
            <a:r>
              <a:rPr sz="1200" b="0">
                <a:solidFill>
                  <a:srgbClr val="050505"/>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F77A4A4E-7539-47F7-B376-6BC5FADF4FD9}"/>
              </a:ext>
            </a:extLst>
          </p:cNvPr>
          <p:cNvSpPr>
            <a:spLocks xmlns:a="http://schemas.openxmlformats.org/drawingml/2006/main" noGrp="1"/>
          </p:cNvSpPr>
          <p:nvPr/>
        </p:nvSpPr>
        <p:spPr>
          <a:xfrm xmlns:a="http://schemas.openxmlformats.org/drawingml/2006/main">
            <a:off x="609600" y="18478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050505"/>
                </a:solidFill>
                <a:latin typeface="Helvetica Neue"/>
                <a:ea typeface="Helvetica Neue"/>
                <a:cs typeface="Helvetica Neue"/>
              </a:defRPr>
            </a:pPr>
            <a:r>
              <a:rPr sz="4050" b="1">
                <a:solidFill>
                  <a:srgbClr val="050505"/>
                </a:solidFill>
                <a:latin typeface="Helvetica Neue"/>
                <a:ea typeface="Helvetica Neue"/>
                <a:cs typeface="Helvetica Neue"/>
              </a:rPr>
              <a:t>Approve one device workflow</a:t>
            </a:r>
          </a:p>
          <a:p xmlns:a="http://schemas.openxmlformats.org/drawingml/2006/main">
            <a:pPr>
              <a:defRPr sz="4050" b="1">
                <a:solidFill>
                  <a:srgbClr val="050505"/>
                </a:solidFill>
                <a:latin typeface="Helvetica Neue"/>
                <a:ea typeface="Helvetica Neue"/>
                <a:cs typeface="Helvetica Neue"/>
              </a:defRPr>
            </a:pPr>
            <a:r>
              <a:rPr sz="4050" b="1">
                <a:solidFill>
                  <a:srgbClr val="050505"/>
                </a:solidFill>
                <a:latin typeface="Helvetica Neue"/>
                <a:ea typeface="Helvetica Neue"/>
                <a:cs typeface="Helvetica Neue"/>
              </a:rPr>
              <a:t>on Android and iOS</a:t>
            </a:r>
          </a:p>
        </p:txBody>
      </p:sp>
      <p:sp>
        <p:nvSpPr>
          <p:cNvPr id="5" name="">
            <a:extLst xmlns:a="http://schemas.openxmlformats.org/drawingml/2006/main">
              <a:ext uri="{FF2B5EF4-FFF2-40B4-BE49-F238E27FC236}">
                <a16:creationId xmlns:a16="http://schemas.microsoft.com/office/drawing/2014/main" id="{FD595B1A-31C3-426A-A31A-671BB9A318FA}"/>
              </a:ext>
            </a:extLst>
          </p:cNvPr>
          <p:cNvSpPr>
            <a:spLocks xmlns:a="http://schemas.openxmlformats.org/drawingml/2006/main" noGrp="1"/>
          </p:cNvSpPr>
          <p:nvPr/>
        </p:nvSpPr>
        <p:spPr>
          <a:xfrm xmlns:a="http://schemas.openxmlformats.org/drawingml/2006/main">
            <a:off x="609600" y="364807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50505"/>
                </a:solidFill>
                <a:latin typeface="Helvetica Neue"/>
                <a:ea typeface="Helvetica Neue"/>
                <a:cs typeface="Helvetica Neue"/>
              </a:defRPr>
            </a:pPr>
            <a:r>
              <a:rPr sz="3150" b="1">
                <a:solidFill>
                  <a:srgbClr val="050505"/>
                </a:solidFill>
                <a:latin typeface="Helvetica Neue"/>
                <a:ea typeface="Helvetica Neue"/>
                <a:cs typeface="Helvetica Neue"/>
              </a:rPr>
              <a:t>6 weeks proposed</a:t>
            </a:r>
          </a:p>
        </p:txBody>
      </p:sp>
      <p:sp>
        <p:nvSpPr>
          <p:cNvPr id="6" name="">
            <a:extLst xmlns:a="http://schemas.openxmlformats.org/drawingml/2006/main">
              <a:ext uri="{FF2B5EF4-FFF2-40B4-BE49-F238E27FC236}">
                <a16:creationId xmlns:a16="http://schemas.microsoft.com/office/drawing/2014/main" id="{5991A2B0-2C26-4289-ABCB-8778F7AFC383}"/>
              </a:ext>
            </a:extLst>
          </p:cNvPr>
          <p:cNvSpPr>
            <a:spLocks xmlns:a="http://schemas.openxmlformats.org/drawingml/2006/main" noGrp="1"/>
          </p:cNvSpPr>
          <p:nvPr/>
        </p:nvSpPr>
        <p:spPr>
          <a:xfrm xmlns:a="http://schemas.openxmlformats.org/drawingml/2006/main">
            <a:off x="609600" y="4505325"/>
            <a:ext cx="7810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50505"/>
                </a:solidFill>
                <a:latin typeface="Helvetica Neue"/>
                <a:ea typeface="Helvetica Neue"/>
                <a:cs typeface="Helvetica Neue"/>
              </a:defRPr>
            </a:pPr>
            <a:r>
              <a:rPr sz="2175" b="0">
                <a:solidFill>
                  <a:srgbClr val="050505"/>
                </a:solidFill>
                <a:latin typeface="Helvetica Neue"/>
                <a:ea typeface="Helvetica Neue"/>
                <a:cs typeface="Helvetica Neue"/>
              </a:rPr>
              <a:t>API parity and live streams</a:t>
            </a:r>
          </a:p>
          <a:p xmlns:a="http://schemas.openxmlformats.org/drawingml/2006/main">
            <a:pPr>
              <a:defRPr sz="2175" b="0">
                <a:solidFill>
                  <a:srgbClr val="050505"/>
                </a:solidFill>
                <a:latin typeface="Helvetica Neue"/>
                <a:ea typeface="Helvetica Neue"/>
                <a:cs typeface="Helvetica Neue"/>
              </a:defRPr>
            </a:pPr>
            <a:r>
              <a:rPr sz="2175" b="0">
                <a:solidFill>
                  <a:srgbClr val="050505"/>
                </a:solidFill>
                <a:latin typeface="Helvetica Neue"/>
                <a:ea typeface="Helvetica Neue"/>
                <a:cs typeface="Helvetica Neue"/>
              </a:rPr>
              <a:t>Native app integration</a:t>
            </a:r>
          </a:p>
          <a:p xmlns:a="http://schemas.openxmlformats.org/drawingml/2006/main">
            <a:pPr>
              <a:defRPr sz="2175" b="0">
                <a:solidFill>
                  <a:srgbClr val="050505"/>
                </a:solidFill>
                <a:latin typeface="Helvetica Neue"/>
                <a:ea typeface="Helvetica Neue"/>
                <a:cs typeface="Helvetica Neue"/>
              </a:defRPr>
            </a:pPr>
            <a:r>
              <a:rPr sz="2175" b="0">
                <a:solidFill>
                  <a:srgbClr val="050505"/>
                </a:solidFill>
                <a:latin typeface="Helvetica Neue"/>
                <a:ea typeface="Helvetica Neue"/>
                <a:cs typeface="Helvetica Neue"/>
              </a:rPr>
              <a:t>Measured delivery and reliability</a:t>
            </a:r>
          </a:p>
        </p:txBody>
      </p:sp>
      <p:sp>
        <p:nvSpPr>
          <p:cNvPr id="7" name="">
            <a:extLst xmlns:a="http://schemas.openxmlformats.org/drawingml/2006/main">
              <a:ext uri="{FF2B5EF4-FFF2-40B4-BE49-F238E27FC236}">
                <a16:creationId xmlns:a16="http://schemas.microsoft.com/office/drawing/2014/main" id="{86CFC1EC-73A0-48A3-A119-5BE0FD8486C2}"/>
              </a:ext>
            </a:extLst>
          </p:cNvPr>
          <p:cNvSpPr>
            <a:spLocks xmlns:a="http://schemas.openxmlformats.org/drawingml/2006/main" noGrp="1"/>
          </p:cNvSpPr>
          <p:nvPr/>
        </p:nvSpPr>
        <p:spPr>
          <a:xfrm xmlns:a="http://schemas.openxmlformats.org/drawingml/2006/main">
            <a:off x="8505825" y="3829050"/>
            <a:ext cx="285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50505"/>
                </a:solidFill>
                <a:latin typeface="Helvetica Neue"/>
                <a:ea typeface="Helvetica Neue"/>
                <a:cs typeface="Helvetica Neue"/>
              </a:defRPr>
            </a:pPr>
            <a:r>
              <a:rPr sz="2175" b="0">
                <a:solidFill>
                  <a:srgbClr val="050505"/>
                </a:solidFill>
                <a:latin typeface="Helvetica Neue"/>
                <a:ea typeface="Helvetica Neue"/>
                <a:cs typeface="Helvetica Neue"/>
              </a:rPr>
              <a:t>Decision gate</a:t>
            </a:r>
          </a:p>
          <a:p xmlns:a="http://schemas.openxmlformats.org/drawingml/2006/main">
            <a:pPr>
              <a:defRPr sz="2175" b="0">
                <a:solidFill>
                  <a:srgbClr val="050505"/>
                </a:solidFill>
                <a:latin typeface="Helvetica Neue"/>
                <a:ea typeface="Helvetica Neue"/>
                <a:cs typeface="Helvetica Neue"/>
              </a:defRPr>
            </a:pPr>
            <a:r>
              <a:rPr sz="2175" b="0">
                <a:solidFill>
                  <a:srgbClr val="050505"/>
                </a:solidFill>
                <a:latin typeface="Helvetica Neue"/>
                <a:ea typeface="Helvetica Neue"/>
                <a:cs typeface="Helvetica Neue"/>
              </a:rPr>
              <a:t>Expand, adjust or stop</a:t>
            </a:r>
          </a:p>
          <a:p xmlns:a="http://schemas.openxmlformats.org/drawingml/2006/main">
            <a:pPr>
              <a:defRPr sz="2175" b="0">
                <a:solidFill>
                  <a:srgbClr val="050505"/>
                </a:solidFill>
                <a:latin typeface="Helvetica Neue"/>
                <a:ea typeface="Helvetica Neue"/>
                <a:cs typeface="Helvetica Neue"/>
              </a:defRPr>
            </a:pPr>
            <a:r>
              <a:rPr sz="2175" b="0">
                <a:solidFill>
                  <a:srgbClr val="050505"/>
                </a:solidFill>
                <a:latin typeface="Helvetica Neue"/>
                <a:ea typeface="Helvetica Neue"/>
                <a:cs typeface="Helvetica Neue"/>
              </a:rPr>
              <a:t>based on evidence</a:t>
            </a:r>
          </a:p>
        </p:txBody>
      </p:sp>
    </p:spTree>
    <p:extLst>
      <p:ext uri="{BB962C8B-B14F-4D97-AF65-F5344CB8AC3E}">
        <p14:creationId xmlns:p14="http://schemas.microsoft.com/office/powerpoint/2010/main" val="1413516441"/>
      </p:ext>
    </p:extLst>
  </p:cSld>
</p:sld>
</file>

<file path=ppt/slides/slide1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F4CE72-99BB-4FD0-95DA-C6F294B13B05}"/>
              </a:ext>
            </a:extLst>
          </p:cNvPr>
          <p:cNvSpPr>
            <a:spLocks xmlns:a="http://schemas.openxmlformats.org/drawingml/2006/main" noGrp="1"/>
          </p:cNvSpPr>
          <p:nvPr/>
        </p:nvSpPr>
        <p:spPr>
          <a:xfrm xmlns:a="http://schemas.openxmlformats.org/drawingml/2006/main">
            <a:off x="609600" y="6858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6F2"/>
                </a:solidFill>
                <a:latin typeface="Helvetica Neue"/>
                <a:ea typeface="Helvetica Neue"/>
                <a:cs typeface="Helvetica Neue"/>
              </a:defRPr>
            </a:pPr>
            <a:r>
              <a:rPr sz="3450" b="1">
                <a:solidFill>
                  <a:srgbClr val="F6F6F2"/>
                </a:solidFill>
                <a:latin typeface="Helvetica Neue"/>
                <a:ea typeface="Helvetica Neue"/>
                <a:cs typeface="Helvetica Neue"/>
              </a:rPr>
              <a:t>Evidence and references</a:t>
            </a:r>
          </a:p>
        </p:txBody>
      </p:sp>
      <p:sp>
        <p:nvSpPr>
          <p:cNvPr id="2" name="">
            <a:extLst xmlns:a="http://schemas.openxmlformats.org/drawingml/2006/main">
              <a:ext uri="{FF2B5EF4-FFF2-40B4-BE49-F238E27FC236}">
                <a16:creationId xmlns:a16="http://schemas.microsoft.com/office/drawing/2014/main" id="{C2D508FB-5ADC-406E-A2D8-D4772EEB0EBF}"/>
              </a:ext>
            </a:extLst>
          </p:cNvPr>
          <p:cNvSpPr>
            <a:spLocks xmlns:a="http://schemas.openxmlformats.org/drawingml/2006/main" noGrp="1"/>
          </p:cNvSpPr>
          <p:nvPr/>
        </p:nvSpPr>
        <p:spPr>
          <a:xfrm xmlns:a="http://schemas.openxmlformats.org/drawingml/2006/main">
            <a:off x="609600" y="2667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2FF00"/>
                </a:solidFill>
                <a:latin typeface="Helvetica Neue"/>
                <a:ea typeface="Helvetica Neue"/>
                <a:cs typeface="Helvetica Neue"/>
              </a:defRPr>
            </a:pPr>
            <a:r>
              <a:rPr sz="1650" b="1">
                <a:solidFill>
                  <a:srgbClr val="B2FF00"/>
                </a:solidFill>
                <a:latin typeface="Helvetica Neue"/>
                <a:ea typeface="Helvetica Neue"/>
                <a:cs typeface="Helvetica Neue"/>
              </a:rPr>
              <a:t>SHURE</a:t>
            </a:r>
          </a:p>
        </p:txBody>
      </p:sp>
      <p:sp>
        <p:nvSpPr>
          <p:cNvPr id="3" name="">
            <a:extLst xmlns:a="http://schemas.openxmlformats.org/drawingml/2006/main">
              <a:ext uri="{FF2B5EF4-FFF2-40B4-BE49-F238E27FC236}">
                <a16:creationId xmlns:a16="http://schemas.microsoft.com/office/drawing/2014/main" id="{79E0688A-C4B7-45DB-AE44-5590113A68CE}"/>
              </a:ext>
            </a:extLst>
          </p:cNvPr>
          <p:cNvSpPr>
            <a:spLocks xmlns:a="http://schemas.openxmlformats.org/drawingml/2006/main" noGrp="1"/>
          </p:cNvSpPr>
          <p:nvPr/>
        </p:nvSpPr>
        <p:spPr>
          <a:xfrm xmlns:a="http://schemas.openxmlformats.org/drawingml/2006/main">
            <a:off x="11049000"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0AC"/>
                </a:solidFill>
                <a:latin typeface="Helvetica Neue"/>
                <a:ea typeface="Helvetica Neue"/>
                <a:cs typeface="Helvetica Neue"/>
              </a:defRPr>
            </a:pPr>
            <a:r>
              <a:rPr sz="1200" b="0">
                <a:solidFill>
                  <a:srgbClr val="ACB0AC"/>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6EF1901D-C587-4EF9-AC4E-DC3AAC39970B}"/>
              </a:ext>
            </a:extLst>
          </p:cNvPr>
          <p:cNvSpPr>
            <a:spLocks xmlns:a="http://schemas.openxmlformats.org/drawingml/2006/main" noGrp="1"/>
          </p:cNvSpPr>
          <p:nvPr/>
        </p:nvSpPr>
        <p:spPr>
          <a:xfrm xmlns:a="http://schemas.openxmlformats.org/drawingml/2006/main">
            <a:off x="609600" y="18478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2FF00"/>
                </a:solidFill>
                <a:latin typeface="Helvetica Neue"/>
                <a:ea typeface="Helvetica Neue"/>
                <a:cs typeface="Helvetica Neue"/>
              </a:defRPr>
            </a:pPr>
            <a:r>
              <a:rPr sz="2325" b="1">
                <a:solidFill>
                  <a:srgbClr val="B2FF00"/>
                </a:solidFill>
                <a:latin typeface="Helvetica Neue"/>
                <a:ea typeface="Helvetica Neue"/>
                <a:cs typeface="Helvetica Neue"/>
              </a:rPr>
              <a:t>External evidence</a:t>
            </a:r>
          </a:p>
        </p:txBody>
      </p:sp>
      <p:sp>
        <p:nvSpPr>
          <p:cNvPr id="5" name="">
            <a:extLst xmlns:a="http://schemas.openxmlformats.org/drawingml/2006/main">
              <a:ext uri="{FF2B5EF4-FFF2-40B4-BE49-F238E27FC236}">
                <a16:creationId xmlns:a16="http://schemas.microsoft.com/office/drawing/2014/main" id="{3F9DBE21-8187-4D5F-BBD5-B3E63D48ECF5}"/>
              </a:ext>
            </a:extLst>
          </p:cNvPr>
          <p:cNvSpPr>
            <a:spLocks xmlns:a="http://schemas.openxmlformats.org/drawingml/2006/main" noGrp="1"/>
          </p:cNvSpPr>
          <p:nvPr/>
        </p:nvSpPr>
        <p:spPr>
          <a:xfrm xmlns:a="http://schemas.openxmlformats.org/drawingml/2006/main">
            <a:off x="609600" y="2505075"/>
            <a:ext cx="5715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JetBrains State of Kotlin 2026</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Kotlin production case studies</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Google Android KMP support</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Kotlin code-sharing documentation</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React Native integration and JSI docs</a:t>
            </a:r>
          </a:p>
        </p:txBody>
      </p:sp>
      <p:sp>
        <p:nvSpPr>
          <p:cNvPr id="6" name="">
            <a:extLst xmlns:a="http://schemas.openxmlformats.org/drawingml/2006/main">
              <a:ext uri="{FF2B5EF4-FFF2-40B4-BE49-F238E27FC236}">
                <a16:creationId xmlns:a16="http://schemas.microsoft.com/office/drawing/2014/main" id="{70783836-6556-4AE0-A97A-64AFE595CC54}"/>
              </a:ext>
            </a:extLst>
          </p:cNvPr>
          <p:cNvSpPr>
            <a:spLocks xmlns:a="http://schemas.openxmlformats.org/drawingml/2006/main" noGrp="1"/>
          </p:cNvSpPr>
          <p:nvPr/>
        </p:nvSpPr>
        <p:spPr>
          <a:xfrm xmlns:a="http://schemas.openxmlformats.org/drawingml/2006/main">
            <a:off x="7191375" y="1847850"/>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2FF00"/>
                </a:solidFill>
                <a:latin typeface="Helvetica Neue"/>
                <a:ea typeface="Helvetica Neue"/>
                <a:cs typeface="Helvetica Neue"/>
              </a:defRPr>
            </a:pPr>
            <a:r>
              <a:rPr sz="2325" b="1">
                <a:solidFill>
                  <a:srgbClr val="B2FF00"/>
                </a:solidFill>
                <a:latin typeface="Helvetica Neue"/>
                <a:ea typeface="Helvetica Neue"/>
                <a:cs typeface="Helvetica Neue"/>
              </a:rPr>
              <a:t>Shure evidence</a:t>
            </a:r>
          </a:p>
        </p:txBody>
      </p:sp>
      <p:sp>
        <p:nvSpPr>
          <p:cNvPr id="7" name="">
            <a:extLst xmlns:a="http://schemas.openxmlformats.org/drawingml/2006/main">
              <a:ext uri="{FF2B5EF4-FFF2-40B4-BE49-F238E27FC236}">
                <a16:creationId xmlns:a16="http://schemas.microsoft.com/office/drawing/2014/main" id="{E489CC18-54E6-49D5-BE65-356E387B926C}"/>
              </a:ext>
            </a:extLst>
          </p:cNvPr>
          <p:cNvSpPr>
            <a:spLocks xmlns:a="http://schemas.openxmlformats.org/drawingml/2006/main" noGrp="1"/>
          </p:cNvSpPr>
          <p:nvPr/>
        </p:nvSpPr>
        <p:spPr>
          <a:xfrm xmlns:a="http://schemas.openxmlformats.org/drawingml/2006/main">
            <a:off x="7191375" y="2505075"/>
            <a:ext cx="4381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Existing PoC source</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Device-server direction supplied by team</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Reported Kotlin expertise</a:t>
            </a:r>
          </a:p>
          <a:p xmlns:a="http://schemas.openxmlformats.org/drawingml/2006/main">
            <a:pPr>
              <a:defRPr sz="1875" b="0">
                <a:solidFill>
                  <a:srgbClr val="F6F6F2"/>
                </a:solidFill>
                <a:latin typeface="Helvetica Neue"/>
                <a:ea typeface="Helvetica Neue"/>
                <a:cs typeface="Helvetica Neue"/>
              </a:defRPr>
            </a:pPr>
            <a:r>
              <a:rPr sz="1875" b="0">
                <a:solidFill>
                  <a:srgbClr val="F6F6F2"/>
                </a:solidFill>
                <a:latin typeface="Helvetica Neue"/>
                <a:ea typeface="Helvetica Neue"/>
                <a:cs typeface="Helvetica Neue"/>
              </a:rPr>
              <a:t>Live demo validation still required</a:t>
            </a:r>
          </a:p>
        </p:txBody>
      </p:sp>
      <p:sp>
        <p:nvSpPr>
          <p:cNvPr id="8" name="">
            <a:extLst xmlns:a="http://schemas.openxmlformats.org/drawingml/2006/main">
              <a:ext uri="{FF2B5EF4-FFF2-40B4-BE49-F238E27FC236}">
                <a16:creationId xmlns:a16="http://schemas.microsoft.com/office/drawing/2014/main" id="{20B98D96-002F-450F-9769-26747C360E57}"/>
              </a:ext>
            </a:extLst>
          </p:cNvPr>
          <p:cNvSpPr>
            <a:spLocks xmlns:a="http://schemas.openxmlformats.org/drawingml/2006/main" noGrp="1"/>
          </p:cNvSpPr>
          <p:nvPr/>
        </p:nvSpPr>
        <p:spPr>
          <a:xfrm xmlns:a="http://schemas.openxmlformats.org/drawingml/2006/main">
            <a:off x="609600" y="57721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0AC"/>
                </a:solidFill>
                <a:latin typeface="Helvetica Neue"/>
                <a:ea typeface="Helvetica Neue"/>
                <a:cs typeface="Helvetica Neue"/>
              </a:defRPr>
            </a:pPr>
            <a:r>
              <a:rPr sz="1575" b="0">
                <a:solidFill>
                  <a:srgbClr val="ACB0AC"/>
                </a:solidFill>
                <a:latin typeface="Helvetica Neue"/>
                <a:ea typeface="Helvetica Neue"/>
                <a:cs typeface="Helvetica Neue"/>
              </a:rPr>
              <a:t>Full source links and presentation guidance appear in speaker notes. Research checked 5 Oct 2026.</a:t>
            </a:r>
          </a:p>
        </p:txBody>
      </p:sp>
    </p:spTree>
    <p:extLst>
      <p:ext uri="{BB962C8B-B14F-4D97-AF65-F5344CB8AC3E}">
        <p14:creationId xmlns:p14="http://schemas.microsoft.com/office/powerpoint/2010/main" val="8129664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2026-10-05T10:24:14.2890000Z</dcterms:created>
  <dcterms:modified xsi:type="dcterms:W3CDTF">2026-10-05T10:24:14.2900000Z</dcterms:modified>
</coreProperties>
</file>